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Lst>
  <p:sldSz cy="5143500" cx="9144000"/>
  <p:notesSz cx="6858000" cy="9144000"/>
  <p:embeddedFontLst>
    <p:embeddedFont>
      <p:font typeface="Lato"/>
      <p:regular r:id="rId133"/>
      <p:bold r:id="rId134"/>
      <p:italic r:id="rId135"/>
      <p:boldItalic r:id="rId1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Ethan Hersch"/>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font" Target="fonts/Lato-boldItalic.fntdata"/><Relationship Id="rId135" Type="http://schemas.openxmlformats.org/officeDocument/2006/relationships/font" Target="fonts/Lato-italic.fntdata"/><Relationship Id="rId134" Type="http://schemas.openxmlformats.org/officeDocument/2006/relationships/font" Target="fonts/Lato-bold.fntdata"/><Relationship Id="rId133" Type="http://schemas.openxmlformats.org/officeDocument/2006/relationships/font" Target="fonts/Lato-regular.fntdata"/><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9-28T04:20:12.264">
    <p:pos x="6000" y="0"/>
    <p:text>CURRENTLY HERE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h75ddcce462adc3fe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h75ddcce462adc3fe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h75ddcce462adc3fe_0_1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h75ddcce462adc3fe_0_1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h75ddcce462adc3fe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h75ddcce462adc3fe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h1ef1bbbdac1b0fcf_2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h1ef1bbbdac1b0fcf_2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h1ef1bbbdac1b0fcf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h1ef1bbbdac1b0fcf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h75ddcce462adc3fe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h75ddcce462adc3fe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h1ef1bbbdac1b0fcf_2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h1ef1bbbdac1b0fcf_2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h75ddcce462adc3fe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h75ddcce462adc3fe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h1ef1bbbdac1b0fcf_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h1ef1bbbdac1b0fcf_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h75ddcce462adc3fe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h75ddcce462adc3fe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h1ef1bbbdac1b0fcf_2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h1ef1bbbdac1b0fcf_2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h75ddcce462adc3fe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h75ddcce462adc3fe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h1ef1bbbdac1b0fcf_2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h1ef1bbbdac1b0fcf_2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h75ddcce462adc3fe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h75ddcce462adc3fe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h1ef1bbbdac1b0fcf_2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h1ef1bbbdac1b0fcf_2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h75ddcce462adc3fe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h75ddcce462adc3fe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h1ef1bbbdac1b0fcf_2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h1ef1bbbdac1b0fcf_2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h1ef1bbbdac1b0fcf_2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h1ef1bbbdac1b0fcf_2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h75ddcce462adc3fe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h75ddcce462adc3fe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h5f121e82d2424911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h5f121e82d2424911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h75ddcce462adc3fe_0_1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h75ddcce462adc3fe_0_1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h75ddcce462adc3fe_0_1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h75ddcce462adc3fe_0_1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h75ddcce462adc3fe_0_1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h75ddcce462adc3fe_0_1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h75ddcce462adc3fe_0_1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h75ddcce462adc3fe_0_1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h75ddcce462adc3fe_0_1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h75ddcce462adc3fe_0_1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h75ddcce462adc3fe_0_1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h75ddcce462adc3fe_0_1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h75ddcce462adc3fe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h75ddcce462adc3fe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h75ddcce462adc3fe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h75ddcce462adc3fe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h75ddcce462adc3fe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h75ddcce462adc3fe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h1ef1bbbdac1b0fcf_2_8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h1ef1bbbdac1b0fcf_2_8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h75ddcce462adc3fe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h75ddcce462adc3fe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slide_qg6im9gyikm760el: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slide_qg6im9gyikm760el: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h1ef1bbbdac1b0fcf_2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h1ef1bbbdac1b0fcf_2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slide_0esorcyjg7roy0av: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slide_0esorcyjg7roy0av: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h1ef1bbbdac1b0fcf_2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h1ef1bbbdac1b0fcf_2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h1ef1bbbdac1b0fcf_2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h1ef1bbbdac1b0fcf_2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h75ddcce462adc3fe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h75ddcce462adc3fe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slide_k9haypqrucfia6w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slide_k9haypqrucfia6w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h75ddcce462adc3fe_0_1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h75ddcce462adc3fe_0_1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slide_sc4cyfhxf2y1r55m: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slide_sc4cyfhxf2y1r55m: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slide_2zrl1pr1bo50g6bk: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slide_2zrl1pr1bo50g6bk: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slide_d6g88texglh5g8cf: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slide_d6g88texglh5g8cf: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h1ef1bbbdac1b0fcf_2_8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h1ef1bbbdac1b0fcf_2_8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h75ddcce462adc3fe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h75ddcce462adc3fe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slide_gd64ehjlfuof85nv: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slide_gd64ehjlfuof85nv: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slide_3l8m3juii13qhnea: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slide_3l8m3juii13qhnea: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h75ddcce462adc3fe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h75ddcce462adc3fe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slide_fua5wdidtusclwk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slide_fua5wdidtusclwk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h75ddcce462adc3fe_0_2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h75ddcce462adc3fe_0_2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h75ddcce462adc3fe_0_1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h75ddcce462adc3fe_0_1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h75ddcce462adc3fe_0_1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h75ddcce462adc3fe_0_1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h1ef1bbbdac1b0fcf_2_8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h1ef1bbbdac1b0fcf_2_8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h75ddcce462adc3fe_0_16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h75ddcce462adc3fe_0_16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h1ef1bbbdac1b0fcf_2_8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h1ef1bbbdac1b0fcf_2_8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h1ef1bbbdac1b0fcf_2_8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h1ef1bbbdac1b0fcf_2_8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h75ddcce462adc3fe_0_17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h75ddcce462adc3fe_0_17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h1c586107b9de19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h1c586107b9de19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h1c586107b9de19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h1c586107b9de19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slide_urjtkver8tf50sly: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slide_urjtkver8tf50sly: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slide_4tzyo3is8oyxue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slide_4tzyo3is8oyxue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slide_73qiq719ht6p6wq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slide_73qiq719ht6p6wq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slide_y1uk396f94vay5ro: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slide_y1uk396f94vay5ro: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h75ddcce462adc3fe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h75ddcce462adc3fe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h75ddcce462adc3fe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h75ddcce462adc3fe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h1ef1bbbdac1b0fcf_2_8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h1ef1bbbdac1b0fcf_2_8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Left picture: E and F overlap (E ∩ F is not empty) → NOT mutually exclusive. They might still be independent: check whether P(EF) = P(E) · P(F).</a:t>
            </a:r>
            <a:endParaRPr/>
          </a:p>
          <a:p>
            <a:pPr indent="0" lvl="0" marL="0" rtl="0" algn="l">
              <a:spcBef>
                <a:spcPts val="0"/>
              </a:spcBef>
              <a:spcAft>
                <a:spcPts val="0"/>
              </a:spcAft>
              <a:buNone/>
            </a:pPr>
            <a:r>
              <a:rPr lang="en"/>
              <a:t>Right picture: E and F don’t overlap → mutually exclusive: P(EF) = 0, so P(E ∪ F) = P(E) + P(F) (easy OR, Axiom 3).</a:t>
            </a:r>
            <a:endParaRPr/>
          </a:p>
          <a:p>
            <a:pPr indent="0" lvl="0" marL="0" rtl="0" algn="l">
              <a:spcBef>
                <a:spcPts val="0"/>
              </a:spcBef>
              <a:spcAft>
                <a:spcPts val="0"/>
              </a:spcAft>
              <a:buNone/>
            </a:pPr>
            <a:r>
              <a:rPr lang="en"/>
              <a:t>Trap: mutually exclusive is NOT the same as independent. If P(E), P(F) &gt; 0, disjoint events are DEPENDENT: learning E happened tells you F didn’t, so P(F | E) = 0 ≠ P(F).</a:t>
            </a:r>
            <a:endParaRPr/>
          </a:p>
          <a:p>
            <a:pPr indent="0" lvl="0" marL="0" rtl="0" algn="l">
              <a:spcBef>
                <a:spcPts val="0"/>
              </a:spcBef>
              <a:spcAft>
                <a:spcPts val="0"/>
              </a:spcAft>
              <a:buNone/>
            </a:pPr>
            <a:r>
              <a:rPr lang="en"/>
              <a:t>Independent means P(E | F) = P(E), equivalently P(EF) = P(E) · P(F) (easy AND).</a:t>
            </a:r>
            <a:endParaRPr/>
          </a:p>
          <a:p>
            <a:pPr indent="0" lvl="0" marL="0" rtl="0" algn="l">
              <a:spcBef>
                <a:spcPts val="0"/>
              </a:spcBef>
              <a:spcAft>
                <a:spcPts val="0"/>
              </a:spcAft>
              <a:buNone/>
            </a:pPr>
            <a:r>
              <a:rPr lang="en"/>
              <a:t>(Source: Javo’s Fall 2025 W2 deck, “Mutually Exclusive or Independent?” → “Independence” slides.)</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h1ef1bbbdac1b0fcf_2_8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h1ef1bbbdac1b0fcf_2_8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h1c586107b9de19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h1c586107b9de19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h1c586107b9de19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h1c586107b9de19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h1ef1bbbdac1b0fcf_2_8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h1ef1bbbdac1b0fcf_2_8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h1c586107b9de19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h1c586107b9de19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slide_me1pr9dogsmcb8uj: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slide_me1pr9dogsmcb8uj: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h75ddcce462adc3fe_0_16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6" name="Google Shape;636;h75ddcce462adc3fe_0_16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h75ddcce462adc3fe_0_16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h75ddcce462adc3fe_0_16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 (text of the screenshot): You flip two frisbees. For each frisbee, the probability that it lands “heads” is 0.6. The two frisbees are considered “even” if both frisbees are heads or both frisbees are tails. What is the probability that the frisbees are even?</a:t>
            </a:r>
            <a:endParaRPr/>
          </a:p>
          <a:p>
            <a:pPr indent="0" lvl="0" marL="0" rtl="0" algn="l">
              <a:spcBef>
                <a:spcPts val="0"/>
              </a:spcBef>
              <a:spcAft>
                <a:spcPts val="0"/>
              </a:spcAft>
              <a:buNone/>
            </a:pPr>
            <a:r>
              <a:rPr lang="en"/>
              <a:t>Answer: 0.6² + 0.4² = 0.36 + 0.16 = 0.52 (full solution on the next slide).</a:t>
            </a:r>
            <a:endParaRPr/>
          </a:p>
          <a:p>
            <a:pPr indent="0" lvl="0" marL="0" rtl="0" algn="l">
              <a:spcBef>
                <a:spcPts val="0"/>
              </a:spcBef>
              <a:spcAft>
                <a:spcPts val="0"/>
              </a:spcAft>
              <a:buNone/>
            </a:pPr>
            <a:r>
              <a:rPr lang="en"/>
              <a:t>Source: Javo’s Fall 2025 109ACE W2.pdf, p. 71 (screenshot of a CS109 lecture slide, #85, “Practice: Lets do the Frisbee Problem”).</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slide_ptgg23iawezleb2n: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slide_ptgg23iawezleb2n: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h75ddcce462adc3fe_0_16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6" name="Google Shape;656;h75ddcce462adc3fe_0_16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 (text of the screenshot): Consider the following parallel network: n independent routers, each with probability pᵢ of functioning (where 1 ≤ i ≤ n). E = functional path from A to B exists. What is P(E)? (Diagram: A connects to B through n routers in parallel.)</a:t>
            </a:r>
            <a:endParaRPr/>
          </a:p>
          <a:p>
            <a:pPr indent="0" lvl="0" marL="0" rtl="0" algn="l">
              <a:spcBef>
                <a:spcPts val="0"/>
              </a:spcBef>
              <a:spcAft>
                <a:spcPts val="0"/>
              </a:spcAft>
              <a:buNone/>
            </a:pPr>
            <a:r>
              <a:rPr lang="en"/>
              <a:t>Answer: P(E) = 1 − ∏ᵢ (1 − pᵢ) (full solution on the next slide).</a:t>
            </a:r>
            <a:endParaRPr/>
          </a:p>
          <a:p>
            <a:pPr indent="0" lvl="0" marL="0" rtl="0" algn="l">
              <a:spcBef>
                <a:spcPts val="0"/>
              </a:spcBef>
              <a:spcAft>
                <a:spcPts val="0"/>
              </a:spcAft>
              <a:buNone/>
            </a:pPr>
            <a:r>
              <a:rPr lang="en"/>
              <a:t>Source: Javo’s Fall 2025 109ACE W2.pdf, p. 72 (screenshot of Chris Piech’s CS109 lecture slide #87, “Piech, CS109, Stanford University”).</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slide_ul03p8tm54vsydzj: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slide_ul03p8tm54vsydzj: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h75ddcce462adc3fe_0_16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2" name="Google Shape;672;h75ddcce462adc3fe_0_16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 (text of the screenshot): A patient has a positive Zika test. What is the probability they have Zika? 0.8% of people have Zika. The test has a 90% positive rate for people with Zika. The test has a 7% positive rate for people without Zika.</a:t>
            </a:r>
            <a:endParaRPr/>
          </a:p>
          <a:p>
            <a:pPr indent="0" lvl="0" marL="0" rtl="0" algn="l">
              <a:spcBef>
                <a:spcPts val="0"/>
              </a:spcBef>
              <a:spcAft>
                <a:spcPts val="0"/>
              </a:spcAft>
              <a:buNone/>
            </a:pPr>
            <a:r>
              <a:rPr lang="en"/>
              <a:t>Answer: P(Z | T) = 0.0072 / 0.07664 ≈ 0.094 ≈ 9% (full solution on the next two slides).</a:t>
            </a:r>
            <a:endParaRPr/>
          </a:p>
          <a:p>
            <a:pPr indent="0" lvl="0" marL="0" rtl="0" algn="l">
              <a:spcBef>
                <a:spcPts val="0"/>
              </a:spcBef>
              <a:spcAft>
                <a:spcPts val="0"/>
              </a:spcAft>
              <a:buNone/>
            </a:pPr>
            <a:r>
              <a:rPr lang="en"/>
              <a:t>Heads-up: the screenshot already shows “The right answer is 9%”, so students see the answer before they solve it.</a:t>
            </a:r>
            <a:endParaRPr/>
          </a:p>
          <a:p>
            <a:pPr indent="0" lvl="0" marL="0" rtl="0" algn="l">
              <a:spcBef>
                <a:spcPts val="0"/>
              </a:spcBef>
              <a:spcAft>
                <a:spcPts val="0"/>
              </a:spcAft>
              <a:buNone/>
            </a:pPr>
            <a:r>
              <a:rPr lang="en"/>
              <a:t>Source: Javo’s Fall 2025 109ACE W2.pdf, p. 73 (screenshot of Piech’s CS109 “But Its not Always Intuitive” slide). The same example is in Chris Gregg’s Lecture 1 (1-Welcome.pptx, slides 28–30, “Unintuitive Probability”).</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slide_tz63jwj1w5gdiy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slide_tz63jwj1w5gdiy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slide_12likcabqarkam2u: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slide_12likcabqarkam2u: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slide_62z56u2x0zmul3yc: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slide_62z56u2x0zmul3yc: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CS109A Fall 2022 Week 2 Notes (Julia Kadie &amp; Ian Tullis), Problem 5(a)–(d). The same problem appears in the Spring 2022 Week 2 Notes (Tullis), the CS109ACE Fall 2023 Week 2 Notes (Drive file 16MA98vqMGIuMua5cu_NNbTaBjiAlWMr2), and CS 109 ACE Spring 2023 Session 1 Problems &amp; Solutions. Answers match the archived solutions: 1/2, 3/8, 1/4, 5/8. Parts (e)–(i) are used later as Conditional 3.</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slide_ppm8sadh2lbckeqq: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slide_ppm8sadh2lbckeqq: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slide_hm7ti0fr1opct3e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slide_hm7ti0fr1opct3e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CS109A Fall 2022 Week 2 Notes (Kadie &amp; Tullis), Problem 1(a)–(b). Also in the Spring 2022 Week 2 Notes and the Fall 2023 Week 2 Notes (16MA98vqMGIuMua5cu_NNbTaBjiAlWMr2), with worked versions in the F23/F24/W24 section iPad notes. Answers: 15 and 7. Skipped part (c) (the n-choose-k identities) for time; it's a good extension if students finish early.</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slide_2ki5d6fgjtihzvhd: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slide_2ki5d6fgjtihzvhd: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slide_8a44lxmu6f5x8axx: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3" name="Google Shape;723;slide_8a44lxmu6f5x8axx: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CS109A Fall 2022 Week 2 Notes (Kadie &amp; Tullis), Problem 2 (“Combinatorics of Entry Codes”), parts (a), (b), (c), and (f). Also in the Spring 2022 and Fall 2023 Week 2 Notes. Answers: 10^6, 100, 720, and 2002/10^6 ≈ 0.002. All were verified by brute force in Python over all 10^6 codes. Part (d) uses stars and bars, which may not have been covered in lecture yet, so it's marked “Stretch.” Skipped the palindrome part (19,900) and the “three in a row” part for time.</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slide_nmb4xfqq1flpk4jh: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0" name="Google Shape;730;slide_nmb4xfqq1flpk4jh: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slide_7pk0u4p7xgf2s5xx: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slide_7pk0u4p7xgf2s5xx: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h1ef1bbbdac1b0fcf_2_8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5" name="Google Shape;745;h1ef1bbbdac1b0fcf_2_8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slide_7i4w0kpjhkdmbj1f: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slide_7i4w0kpjhkdmbj1f: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CS109A Spring 2022 Week 3 Notes (Ian Tullis), Problem 7 (six-card poker), parts (a) and (c). Also in the Fall 2022 Week 3 Problems, the Fall 2023 Week 3 Notes, and the Winter 2025 Week 3 Handout. Answers match the archived solutions: 594/195,755 and 1584/195,755, re-verified in Python. Skipped part (b) (double straight, 324/2,544,815) for time.</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h1ef1bbbdac1b0fcf_2_8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h1ef1bbbdac1b0fcf_2_8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slide_6alhr3jzptko15x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7" name="Google Shape;767;slide_6alhr3jzptko15x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the “Revisiting the straight poker hand” walkthrough in the CS109ACE Fall 2023 Week 2 slides, reused in the W24 and S24 Week 2 slides (Michelle, adapted from Julia Kadie’s F22 section 1 slides). Answer: 10·4^5 / C(52,5) = 10,240 / 2,598,960 ≈ 0.00394, verified in Python. The “why not ×2” point comes from the speaker-note Q&amp;A in the W24/S24 decks.</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slide_qttrnhxccz3226fc: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slide_qttrnhxccz3226fc: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slide_g7jpnldxzb9snkq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slide_g7jpnldxzb9snkq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CS109A Fall 2022 Week 2 Notes, Section III “Return to the Casino,” Problems 3–4. Also in the Spring 2022 and Fall 2023 Week 2 Notes and Spring 2023 Session 1. Answers, checked exactly in Python: (7,7) gives 1/36, 25/36, 10/36, avg $333.33. (2,7) gives 1/108, 841/1296, 443/1296, avg ≈ $360.34. The best placement is (6,7), avg ≈ $564.04. Expected value hasn’t been taught yet, so part (c) is framed as a preview.</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slide_j3clkd6b5ttuf4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9" name="Google Shape;789;slide_j3clkd6b5ttuf4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slide_xpew0him3gtkj08i: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6" name="Google Shape;796;slide_xpew0him3gtkj08i: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slide_f22wvp14m5h049dz: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4" name="Google Shape;804;slide_f22wvp14m5h049dz: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CS 109 ACE Session 2 (Spring 2023; Samuel Chian, Julia Kadie, Ian Tullis), Conditional Probability Problem 3. Archived solution is in “Session 2 Solutions.pdf”. Answer: 4/7, verified by enumerating all 8 outcomes in Python.</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slide_zj8z4gnjdm711wk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slide_zj8z4gnjdm711wk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slide_7iq0fyjn2ftzuxds: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slide_7iq0fyjn2ftzuxds: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CS 109 ACE Session 2 (Spring 2023), Random Variables Problem 1(b)–(c). I rephrased it in terms of events, since random variables come later. Archived solution in “Session 2 Solutions.pdf”. Answers: 1/2 and 1/5. The dice-conditioning idea mirrors Gregg’s Lecture 2 example (sum = 4 given D1 = 2).</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slide_d7p7pg88x4f6kkjy: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6" name="Google Shape;826;slide_d7p7pg88x4f6kkjy: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slide_5emd3imwokn4on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slide_5emd3imwokn4on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CS109A Fall 2022 Week 2 Notes, Problem 5(e)–(i) (“Grappling With Conditional Probability”). Same problem in the Spring 2022 and Fall 2023 Week 2 Notes and Spring 2023 Session 1 §3.3 #3. Answers match the archived solutions: 2/3; 1/2; no (3/16 ≠ 1/4), holds only under independence; always; 1/2.</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slide_3d6oofhs49oegqii: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slide_3d6oofhs49oegqii: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slide_p45vbyuphwpwnk7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9" name="Google Shape;849;slide_p45vbyuphwpwnk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CS 109 ACE Session 2 (Spring 2023), Conditional Probability Problem 5(a) (rain / traffic / late cat). Parts (b) and (c) are under LOTP 2. Answer: (2/3)(1/4)(3/4) = 1/8, which matches the archived solution and was verified with exact fractions in Python.</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slide_16fch96qbnekl4lk: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6" name="Google Shape;856;slide_16fch96qbnekl4lk: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slide_vvzw04u91irvm9kd: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4" name="Google Shape;864;slide_vvzw04u91irvm9kd: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CS109A Spring 2022 Week 3 Notes (Tullis), Problem 2 (“White Elephant”). Also in the Fall 2022 Week 3 Problems, the Fall 2023 Week 3 Notes, the Winter 2025 Week 3 Handout, and CS 109 ACE Session 2 (Spring 2023) Problem 7(a)–(e). It was also used live in the F23/W24/S24/W25 Week 3 slides. Answers match the archived solutions: 1/n!, 0, 1/(2(n−2)!), and 1/n for any turn. Derangement values (1/3, 3/8, 11/30 for n = 3, 4, 5) were checked by brute force in Python.</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slide_hdckh9i668wiofsr: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1" name="Google Shape;871;slide_hdckh9i668wiofsr: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slide_2xdtgpxgubvq8r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8" name="Google Shape;878;slide_2xdtgpxgubvq8r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slide_3pve8cj07lrhhdq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slide_3pve8cj07lrhhdq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CS109ACE Fall 2023 Week 3 Notes, Problem 3 (penny and nickel). Same in the Spring 2022 and Fall 2022 Week 3 Notes, the Winter 2025 Week 3 Handout, and CS 109 ACE Session 2 (Spring 2023) Problem 2. Answer, matching the archived solutions: independent pairs are (A,B), (A,D), and (B,D). C is mutually exclusive with each of A, B, and D, so those pairs are dependent.</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slide_i3aih9u8h5d9fh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3" name="Google Shape;893;slide_i3aih9u8h5d9fh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slide_dnvure8xgqgyxq2y: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1" name="Google Shape;901;slide_dnvure8xgqgyxq2y: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CS109ACE Fall 2023 Week 3 Notes, Problem 6 (mRNA / AGUA). Same in the Spring 2022 and Fall 2022 Week 3 Notes, the Winter 2025 Week 3 Handout, and CS 109 ACE Session 2 (Spring 2023) Random Variables Problem 4. Used parts (a), (c), (d), (e). Skipped (b), which is the same as (a), and (f), which needs expectation. Answers match the archived solution: 1/162; dependent; dependent; independent. I added P(V₄ | V₁) = 1/54 to make (c) concrete (verified by hand).</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slide_apadzya6hz1q7das: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8" name="Google Shape;908;slide_apadzya6hz1q7das: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slide_lh61vrqm4t8lmjia: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6" name="Google Shape;916;slide_lh61vrqm4t8lmjia: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CS 109 ACE Session 2 (Spring 2023), Conditional Probability Problem 1. Archived solution in “Session 2 Solutions.pdf”. Answer: P(A) = 1/3, P(B) = 1/2, P(C) = 1/2. Verified in Python with an exact-fraction search. Note: the archived solution’s 3-event inclusion–exclusion line omits the −P(A∩C) term, but its final answer is correct. The solution slides here use the full, correct equation (3).</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slide_1j5tua3qpxh516yh: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3" name="Google Shape;923;slide_1j5tua3qpxh516yh: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slide_m6m7zqspx7qu7roh: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0" name="Google Shape;930;slide_m6m7zqspx7qu7roh: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slide_dmpfvxy863jylv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8" name="Google Shape;938;slide_dmpfvxy863jylv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the two-step marble LOTP/Bayes walkthrough in the CS109ACE Fall 2023 section 2 slides, reused in the W24, S24, and W25 Week 3 slides and the F24 Week 3 slides. The original shows the buckets as images; I typed the given probabilities (P(R) = ¼, P(G) = ½, P(B) = ¼; P(A|R) = ¼, P(A|G) = 0, P(A|B) = ⅓). Answers: P(A) = 7/48 ≈ 0.146, P(R | A) = 3/7, verified with exact fractions. HEADS-UP: the archived slides write the red branch as ¼·½ instead of ¼·¼, and round the total (5/24 ≈ 0.208) to “.2”. That gives P(A) = 0.2 and P(R|A) = 0.125/0.2. The corrected values are used here.</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slide_ymb1sl4s0wueccr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5" name="Google Shape;945;slide_ymb1sl4s0wueccr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slide_2h4awn58sugtg6ha: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2" name="Google Shape;952;slide_2h4awn58sugtg6ha: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slide_gsb6366kwl8f2s0l: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0" name="Google Shape;960;slide_gsb6366kwl8f2s0l: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CS 109 ACE Session 2 (Spring 2023), Conditional Probability Problem 5(b)–(c) (rain / traffic / late cat). Answers match the archived solution (“Session 2 Solutions.pdf”): P(L) = 11/48 ≈ 0.229 and P(R | L) = 6/11 ≈ 0.545. Verified with exact fractions in Python. Part (c) is really a Bayes question; it sits here because the LOTP step does most of the work.</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slide_mh7rhrx1sjhv19od: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7" name="Google Shape;967;slide_mh7rhrx1sjhv19od: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slide_tgiox06uavve4hc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4" name="Google Shape;974;slide_tgiox06uavve4hc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slide_l0g9ug485f4a2l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2" name="Google Shape;982;slide_l0g9ug485f4a2l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Chris Gregg’s Fall 2026 CS109 Lecture 2 (“2-Conditional Probability and Bayes.pptx”), slides 90 (“SARS Virus Testing”, ≈ 0.330) and 101 (“Why it is still good to get tested”, ≈ 0.0001). Those slides come from the standard Piech/Gregg CS109 deck. This is not from the ACE archive: the archive’s Bayes problems are all used elsewhere (Zika, fairness, marbles, late cat), so this adds one more rep. Lecture shows only the final numbers; the full worked solution is on the next two slides. Verified in Python: 0.0049/0.01485 = 0.32997 and 0.0001/0.98515 = 0.000102.</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slide_bobs9bb0teyoh0um: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9" name="Google Shape;989;slide_bobs9bb0teyoh0um: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slide_bv85bjxff1mps0z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6" name="Google Shape;996;slide_bv85bjxff1mps0z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slide_dxe4jgbpbe9l01av: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4" name="Google Shape;1004;slide_dxe4jgbpbe9l01av: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CS109A Spring 2022 Week 3 Notes (Tullis), Problem 1 (“Algorithmic Fairness”). Also in the Fall 2022 Week 3 Problems, the Fall 2023 Week 3 Notes, the Winter 2025 Week 3 Handout, and CS 109 ACE Session 2 (Spring 2023) Problem 6. It was also used live in the F23/W24/S24/W25 Week 3 slides (“Problem 1 on Section Handout, skip (c)”). Answers match the archived solutions: 0.05; 5/14 ≈ 0.357; 0.986. Skipped part (d) (when would P(D|H) = P(H|D)?); it's a good discussion question: it holds iff P(D) = P(H).</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slide_sggj6krprsx2ay4u: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1" name="Google Shape;1011;slide_sggj6krprsx2ay4u: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slide_br1jouklqxmb6k1x: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8" name="Google Shape;1018;slide_br1jouklqxmb6k1x: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h1ef1bbbdac1b0fcf_2_8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6" name="Google Shape;1026;h1ef1bbbdac1b0fcf_2_8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xt only">
  <p:cSld name="Title Slide txt only">
    <p:bg>
      <p:bgPr>
        <a:solidFill>
          <a:schemeClr val="dk1"/>
        </a:solidFill>
      </p:bgPr>
    </p:bg>
    <p:spTree>
      <p:nvGrpSpPr>
        <p:cNvPr id="10" name="Shape 10"/>
        <p:cNvGrpSpPr/>
        <p:nvPr/>
      </p:nvGrpSpPr>
      <p:grpSpPr>
        <a:xfrm>
          <a:off x="0" y="0"/>
          <a:ext cx="0" cy="0"/>
          <a:chOff x="0" y="0"/>
          <a:chExt cx="0" cy="0"/>
        </a:xfrm>
      </p:grpSpPr>
      <p:pic>
        <p:nvPicPr>
          <p:cNvPr descr="Background pattern&#10;&#10;Description automatically generated" id="11" name="Google Shape;11;p2"/>
          <p:cNvPicPr preferRelativeResize="0"/>
          <p:nvPr/>
        </p:nvPicPr>
        <p:blipFill rotWithShape="1">
          <a:blip r:embed="rId2">
            <a:alphaModFix/>
          </a:blip>
          <a:srcRect b="0" l="0" r="0" t="0"/>
          <a:stretch/>
        </p:blipFill>
        <p:spPr>
          <a:xfrm>
            <a:off x="0" y="0"/>
            <a:ext cx="2893735" cy="5143500"/>
          </a:xfrm>
          <a:prstGeom prst="rect">
            <a:avLst/>
          </a:prstGeom>
          <a:noFill/>
          <a:ln>
            <a:noFill/>
          </a:ln>
        </p:spPr>
      </p:pic>
      <p:sp>
        <p:nvSpPr>
          <p:cNvPr id="12" name="Google Shape;12;p2"/>
          <p:cNvSpPr txBox="1"/>
          <p:nvPr>
            <p:ph type="ctrTitle"/>
          </p:nvPr>
        </p:nvSpPr>
        <p:spPr>
          <a:xfrm>
            <a:off x="1363132" y="1760220"/>
            <a:ext cx="7479900" cy="1264800"/>
          </a:xfrm>
          <a:prstGeom prst="rect">
            <a:avLst/>
          </a:prstGeom>
          <a:noFill/>
          <a:ln>
            <a:noFill/>
          </a:ln>
        </p:spPr>
        <p:txBody>
          <a:bodyPr anchorCtr="0" anchor="t" bIns="45700" lIns="0" spcFirstLastPara="1" rIns="0" wrap="square" tIns="45700">
            <a:normAutofit/>
          </a:bodyPr>
          <a:lstStyle>
            <a:lvl1pPr lvl="0" algn="l">
              <a:lnSpc>
                <a:spcPct val="90000"/>
              </a:lnSpc>
              <a:spcBef>
                <a:spcPts val="0"/>
              </a:spcBef>
              <a:spcAft>
                <a:spcPts val="0"/>
              </a:spcAft>
              <a:buClr>
                <a:schemeClr val="lt1"/>
              </a:buClr>
              <a:buSzPts val="4500"/>
              <a:buFont typeface="Georgia"/>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3688080" y="3048002"/>
            <a:ext cx="3935400" cy="1079100"/>
          </a:xfrm>
          <a:prstGeom prst="rect">
            <a:avLst/>
          </a:prstGeom>
          <a:noFill/>
          <a:ln>
            <a:noFill/>
          </a:ln>
        </p:spPr>
        <p:txBody>
          <a:bodyPr anchorCtr="0" anchor="t" bIns="45700" lIns="0" spcFirstLastPara="1" rIns="0" wrap="square" tIns="45700">
            <a:normAutofit/>
          </a:bodyPr>
          <a:lstStyle>
            <a:lvl1pPr lvl="0" algn="l">
              <a:lnSpc>
                <a:spcPct val="90000"/>
              </a:lnSpc>
              <a:spcBef>
                <a:spcPts val="750"/>
              </a:spcBef>
              <a:spcAft>
                <a:spcPts val="0"/>
              </a:spcAft>
              <a:buClr>
                <a:schemeClr val="lt1"/>
              </a:buClr>
              <a:buSzPts val="1800"/>
              <a:buNone/>
              <a:defRPr sz="1800">
                <a:solidFill>
                  <a:schemeClr val="lt1"/>
                </a:solidFill>
              </a:defRPr>
            </a:lvl1pPr>
            <a:lvl2pPr lvl="1" algn="ctr">
              <a:lnSpc>
                <a:spcPct val="90000"/>
              </a:lnSpc>
              <a:spcBef>
                <a:spcPts val="375"/>
              </a:spcBef>
              <a:spcAft>
                <a:spcPts val="0"/>
              </a:spcAft>
              <a:buClr>
                <a:schemeClr val="dk2"/>
              </a:buClr>
              <a:buSzPts val="1500"/>
              <a:buNone/>
              <a:defRPr sz="1500"/>
            </a:lvl2pPr>
            <a:lvl3pPr lvl="2" algn="ctr">
              <a:lnSpc>
                <a:spcPct val="90000"/>
              </a:lnSpc>
              <a:spcBef>
                <a:spcPts val="375"/>
              </a:spcBef>
              <a:spcAft>
                <a:spcPts val="0"/>
              </a:spcAft>
              <a:buClr>
                <a:schemeClr val="dk2"/>
              </a:buClr>
              <a:buSzPts val="1350"/>
              <a:buNone/>
              <a:defRPr sz="1350"/>
            </a:lvl3pPr>
            <a:lvl4pPr lvl="3" algn="ctr">
              <a:lnSpc>
                <a:spcPct val="90000"/>
              </a:lnSpc>
              <a:spcBef>
                <a:spcPts val="375"/>
              </a:spcBef>
              <a:spcAft>
                <a:spcPts val="0"/>
              </a:spcAft>
              <a:buClr>
                <a:schemeClr val="dk2"/>
              </a:buClr>
              <a:buSzPts val="1200"/>
              <a:buNone/>
              <a:defRPr sz="1200"/>
            </a:lvl4pPr>
            <a:lvl5pPr lvl="4" algn="ctr">
              <a:lnSpc>
                <a:spcPct val="90000"/>
              </a:lnSpc>
              <a:spcBef>
                <a:spcPts val="375"/>
              </a:spcBef>
              <a:spcAft>
                <a:spcPts val="0"/>
              </a:spcAft>
              <a:buClr>
                <a:schemeClr val="dk2"/>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357532" y="4844799"/>
            <a:ext cx="1440182" cy="17346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bkgd" type="obj">
  <p:cSld name="OBJECT">
    <p:spTree>
      <p:nvGrpSpPr>
        <p:cNvPr id="15" name="Shape 15"/>
        <p:cNvGrpSpPr/>
        <p:nvPr/>
      </p:nvGrpSpPr>
      <p:grpSpPr>
        <a:xfrm>
          <a:off x="0" y="0"/>
          <a:ext cx="0" cy="0"/>
          <a:chOff x="0" y="0"/>
          <a:chExt cx="0" cy="0"/>
        </a:xfrm>
      </p:grpSpPr>
      <p:sp>
        <p:nvSpPr>
          <p:cNvPr id="16" name="Google Shape;16;p3"/>
          <p:cNvSpPr/>
          <p:nvPr/>
        </p:nvSpPr>
        <p:spPr>
          <a:xfrm>
            <a:off x="0" y="1200151"/>
            <a:ext cx="9144000" cy="3567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 name="Google Shape;17;p3"/>
          <p:cNvSpPr txBox="1"/>
          <p:nvPr>
            <p:ph type="title"/>
          </p:nvPr>
        </p:nvSpPr>
        <p:spPr>
          <a:xfrm>
            <a:off x="320040" y="273844"/>
            <a:ext cx="8503800" cy="823500"/>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12" type="sldNum"/>
          </p:nvPr>
        </p:nvSpPr>
        <p:spPr>
          <a:xfrm>
            <a:off x="676656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u="none" cap="none" strike="noStrike">
                <a:solidFill>
                  <a:schemeClr val="dk2"/>
                </a:solidFill>
                <a:latin typeface="Calibri"/>
                <a:ea typeface="Calibri"/>
                <a:cs typeface="Calibri"/>
                <a:sym typeface="Calibri"/>
              </a:defRPr>
            </a:lvl1pPr>
            <a:lvl2pPr indent="0" lvl="1" marL="0" algn="r">
              <a:spcBef>
                <a:spcPts val="0"/>
              </a:spcBef>
              <a:buNone/>
              <a:defRPr b="0" i="0" sz="800" u="none" cap="none" strike="noStrike">
                <a:solidFill>
                  <a:schemeClr val="dk2"/>
                </a:solidFill>
                <a:latin typeface="Calibri"/>
                <a:ea typeface="Calibri"/>
                <a:cs typeface="Calibri"/>
                <a:sym typeface="Calibri"/>
              </a:defRPr>
            </a:lvl2pPr>
            <a:lvl3pPr indent="0" lvl="2" marL="0" algn="r">
              <a:spcBef>
                <a:spcPts val="0"/>
              </a:spcBef>
              <a:buNone/>
              <a:defRPr b="0" i="0" sz="800" u="none" cap="none" strike="noStrike">
                <a:solidFill>
                  <a:schemeClr val="dk2"/>
                </a:solidFill>
                <a:latin typeface="Calibri"/>
                <a:ea typeface="Calibri"/>
                <a:cs typeface="Calibri"/>
                <a:sym typeface="Calibri"/>
              </a:defRPr>
            </a:lvl3pPr>
            <a:lvl4pPr indent="0" lvl="3" marL="0" algn="r">
              <a:spcBef>
                <a:spcPts val="0"/>
              </a:spcBef>
              <a:buNone/>
              <a:defRPr b="0" i="0" sz="800" u="none" cap="none" strike="noStrike">
                <a:solidFill>
                  <a:schemeClr val="dk2"/>
                </a:solidFill>
                <a:latin typeface="Calibri"/>
                <a:ea typeface="Calibri"/>
                <a:cs typeface="Calibri"/>
                <a:sym typeface="Calibri"/>
              </a:defRPr>
            </a:lvl4pPr>
            <a:lvl5pPr indent="0" lvl="4" marL="0" algn="r">
              <a:spcBef>
                <a:spcPts val="0"/>
              </a:spcBef>
              <a:buNone/>
              <a:defRPr b="0" i="0" sz="800" u="none" cap="none" strike="noStrike">
                <a:solidFill>
                  <a:schemeClr val="dk2"/>
                </a:solidFill>
                <a:latin typeface="Calibri"/>
                <a:ea typeface="Calibri"/>
                <a:cs typeface="Calibri"/>
                <a:sym typeface="Calibri"/>
              </a:defRPr>
            </a:lvl5pPr>
            <a:lvl6pPr indent="0" lvl="5" marL="0" algn="r">
              <a:spcBef>
                <a:spcPts val="0"/>
              </a:spcBef>
              <a:buNone/>
              <a:defRPr b="0" i="0" sz="800" u="none" cap="none" strike="noStrike">
                <a:solidFill>
                  <a:schemeClr val="dk2"/>
                </a:solidFill>
                <a:latin typeface="Calibri"/>
                <a:ea typeface="Calibri"/>
                <a:cs typeface="Calibri"/>
                <a:sym typeface="Calibri"/>
              </a:defRPr>
            </a:lvl6pPr>
            <a:lvl7pPr indent="0" lvl="6" marL="0" algn="r">
              <a:spcBef>
                <a:spcPts val="0"/>
              </a:spcBef>
              <a:buNone/>
              <a:defRPr b="0" i="0" sz="800" u="none" cap="none" strike="noStrike">
                <a:solidFill>
                  <a:schemeClr val="dk2"/>
                </a:solidFill>
                <a:latin typeface="Calibri"/>
                <a:ea typeface="Calibri"/>
                <a:cs typeface="Calibri"/>
                <a:sym typeface="Calibri"/>
              </a:defRPr>
            </a:lvl7pPr>
            <a:lvl8pPr indent="0" lvl="7" marL="0" algn="r">
              <a:spcBef>
                <a:spcPts val="0"/>
              </a:spcBef>
              <a:buNone/>
              <a:defRPr b="0" i="0" sz="800" u="none" cap="none" strike="noStrike">
                <a:solidFill>
                  <a:schemeClr val="dk2"/>
                </a:solidFill>
                <a:latin typeface="Calibri"/>
                <a:ea typeface="Calibri"/>
                <a:cs typeface="Calibri"/>
                <a:sym typeface="Calibri"/>
              </a:defRPr>
            </a:lvl8pPr>
            <a:lvl9pPr indent="0" lvl="8" marL="0" algn="r">
              <a:spcBef>
                <a:spcPts val="0"/>
              </a:spcBef>
              <a:buNone/>
              <a:defRPr b="0" i="0" sz="800" u="none" cap="none" strike="noStrike">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19" name="Google Shape;19;p3"/>
          <p:cNvSpPr txBox="1"/>
          <p:nvPr>
            <p:ph idx="1" type="body"/>
          </p:nvPr>
        </p:nvSpPr>
        <p:spPr>
          <a:xfrm>
            <a:off x="407965" y="1334745"/>
            <a:ext cx="8503800" cy="3432600"/>
          </a:xfrm>
          <a:prstGeom prst="rect">
            <a:avLst/>
          </a:prstGeom>
          <a:noFill/>
          <a:ln>
            <a:noFill/>
          </a:ln>
        </p:spPr>
        <p:txBody>
          <a:bodyPr anchorCtr="0" anchor="t" bIns="45700" lIns="0" spcFirstLastPara="1" rIns="0" wrap="square" tIns="45700">
            <a:normAutofit/>
          </a:bodyPr>
          <a:lstStyle>
            <a:lvl1pPr indent="-374650" lvl="0" marL="457200" marR="0" rtl="0" algn="l">
              <a:lnSpc>
                <a:spcPct val="90000"/>
              </a:lnSpc>
              <a:spcBef>
                <a:spcPts val="750"/>
              </a:spcBef>
              <a:spcAft>
                <a:spcPts val="0"/>
              </a:spcAft>
              <a:buClr>
                <a:schemeClr val="dk2"/>
              </a:buClr>
              <a:buSzPts val="2300"/>
              <a:buFont typeface="Arial"/>
              <a:buChar char="•"/>
              <a:defRPr b="0" i="0" sz="2300" u="none" cap="none" strike="noStrike">
                <a:solidFill>
                  <a:schemeClr val="dk2"/>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2"/>
              </a:buClr>
              <a:buSzPts val="1800"/>
              <a:buFont typeface="Arial"/>
              <a:buChar char="•"/>
              <a:defRPr b="0" i="0" sz="1800" u="none" cap="none" strike="noStrike">
                <a:solidFill>
                  <a:schemeClr val="dk2"/>
                </a:solidFill>
                <a:latin typeface="Calibri"/>
                <a:ea typeface="Calibri"/>
                <a:cs typeface="Calibri"/>
                <a:sym typeface="Calibri"/>
              </a:defRPr>
            </a:lvl2pPr>
            <a:lvl3pPr indent="-342900" lvl="2" marL="1371600" marR="0" rtl="0" algn="l">
              <a:lnSpc>
                <a:spcPct val="90000"/>
              </a:lnSpc>
              <a:spcBef>
                <a:spcPts val="375"/>
              </a:spcBef>
              <a:spcAft>
                <a:spcPts val="0"/>
              </a:spcAft>
              <a:buClr>
                <a:schemeClr val="dk2"/>
              </a:buClr>
              <a:buSzPts val="1800"/>
              <a:buFont typeface="Arial"/>
              <a:buChar char="•"/>
              <a:defRPr b="0" i="0" sz="1800" u="none" cap="none" strike="noStrike">
                <a:solidFill>
                  <a:schemeClr val="dk2"/>
                </a:solidFill>
                <a:latin typeface="Calibri"/>
                <a:ea typeface="Calibri"/>
                <a:cs typeface="Calibri"/>
                <a:sym typeface="Calibri"/>
              </a:defRPr>
            </a:lvl3pPr>
            <a:lvl4pPr indent="-342900" lvl="3" marL="1828800" marR="0" rtl="0" algn="l">
              <a:lnSpc>
                <a:spcPct val="90000"/>
              </a:lnSpc>
              <a:spcBef>
                <a:spcPts val="375"/>
              </a:spcBef>
              <a:spcAft>
                <a:spcPts val="0"/>
              </a:spcAft>
              <a:buClr>
                <a:schemeClr val="dk2"/>
              </a:buClr>
              <a:buSzPts val="1800"/>
              <a:buFont typeface="Arial"/>
              <a:buChar char="•"/>
              <a:defRPr b="0" i="0" sz="1800" u="none" cap="none" strike="noStrike">
                <a:solidFill>
                  <a:schemeClr val="dk2"/>
                </a:solidFill>
                <a:latin typeface="Calibri"/>
                <a:ea typeface="Calibri"/>
                <a:cs typeface="Calibri"/>
                <a:sym typeface="Calibri"/>
              </a:defRPr>
            </a:lvl4pPr>
            <a:lvl5pPr indent="-342900" lvl="4" marL="2286000" marR="0" rtl="0" algn="l">
              <a:lnSpc>
                <a:spcPct val="90000"/>
              </a:lnSpc>
              <a:spcBef>
                <a:spcPts val="375"/>
              </a:spcBef>
              <a:spcAft>
                <a:spcPts val="0"/>
              </a:spcAft>
              <a:buClr>
                <a:schemeClr val="dk2"/>
              </a:buClr>
              <a:buSzPts val="1800"/>
              <a:buFont typeface="Arial"/>
              <a:buChar char="•"/>
              <a:defRPr b="0" i="0" sz="1800" u="none" cap="none" strike="noStrike">
                <a:solidFill>
                  <a:schemeClr val="dk2"/>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2"/>
              </a:buClr>
              <a:buSzPts val="1350"/>
              <a:buFont typeface="Arial"/>
              <a:buChar char="•"/>
              <a:defRPr b="0" i="0" sz="1350" u="none" cap="none" strike="noStrike">
                <a:solidFill>
                  <a:schemeClr val="dk2"/>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2"/>
              </a:buClr>
              <a:buSzPts val="1350"/>
              <a:buFont typeface="Arial"/>
              <a:buChar char="•"/>
              <a:defRPr b="0" i="0" sz="1350" u="none" cap="none" strike="noStrike">
                <a:solidFill>
                  <a:schemeClr val="dk2"/>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2"/>
              </a:buClr>
              <a:buSzPts val="1350"/>
              <a:buFont typeface="Arial"/>
              <a:buChar char="•"/>
              <a:defRPr b="0" i="0" sz="1350" u="none" cap="none" strike="noStrike">
                <a:solidFill>
                  <a:schemeClr val="dk2"/>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2"/>
              </a:buClr>
              <a:buSzPts val="1350"/>
              <a:buFont typeface="Arial"/>
              <a:buChar char="•"/>
              <a:defRPr b="0" i="0" sz="1350" u="none" cap="none" strike="noStrike">
                <a:solidFill>
                  <a:schemeClr val="dk2"/>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0" name="Shape 20"/>
        <p:cNvGrpSpPr/>
        <p:nvPr/>
      </p:nvGrpSpPr>
      <p:grpSpPr>
        <a:xfrm>
          <a:off x="0" y="0"/>
          <a:ext cx="0" cy="0"/>
          <a:chOff x="0" y="0"/>
          <a:chExt cx="0" cy="0"/>
        </a:xfrm>
      </p:grpSpPr>
      <p:sp>
        <p:nvSpPr>
          <p:cNvPr id="21" name="Google Shape;21;p4"/>
          <p:cNvSpPr txBox="1"/>
          <p:nvPr>
            <p:ph type="title"/>
          </p:nvPr>
        </p:nvSpPr>
        <p:spPr>
          <a:xfrm>
            <a:off x="320040" y="273844"/>
            <a:ext cx="8503800" cy="823500"/>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4"/>
          <p:cNvSpPr txBox="1"/>
          <p:nvPr>
            <p:ph idx="12" type="sldNum"/>
          </p:nvPr>
        </p:nvSpPr>
        <p:spPr>
          <a:xfrm>
            <a:off x="676656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800">
                <a:solidFill>
                  <a:schemeClr val="dk2"/>
                </a:solidFill>
                <a:latin typeface="Calibri"/>
                <a:ea typeface="Calibri"/>
                <a:cs typeface="Calibri"/>
                <a:sym typeface="Calibri"/>
              </a:defRPr>
            </a:lvl1pPr>
            <a:lvl2pPr indent="0" lvl="1" marL="0" algn="r">
              <a:spcBef>
                <a:spcPts val="0"/>
              </a:spcBef>
              <a:buNone/>
              <a:defRPr sz="800">
                <a:solidFill>
                  <a:schemeClr val="dk2"/>
                </a:solidFill>
                <a:latin typeface="Calibri"/>
                <a:ea typeface="Calibri"/>
                <a:cs typeface="Calibri"/>
                <a:sym typeface="Calibri"/>
              </a:defRPr>
            </a:lvl2pPr>
            <a:lvl3pPr indent="0" lvl="2" marL="0" algn="r">
              <a:spcBef>
                <a:spcPts val="0"/>
              </a:spcBef>
              <a:buNone/>
              <a:defRPr sz="800">
                <a:solidFill>
                  <a:schemeClr val="dk2"/>
                </a:solidFill>
                <a:latin typeface="Calibri"/>
                <a:ea typeface="Calibri"/>
                <a:cs typeface="Calibri"/>
                <a:sym typeface="Calibri"/>
              </a:defRPr>
            </a:lvl3pPr>
            <a:lvl4pPr indent="0" lvl="3" marL="0" algn="r">
              <a:spcBef>
                <a:spcPts val="0"/>
              </a:spcBef>
              <a:buNone/>
              <a:defRPr sz="800">
                <a:solidFill>
                  <a:schemeClr val="dk2"/>
                </a:solidFill>
                <a:latin typeface="Calibri"/>
                <a:ea typeface="Calibri"/>
                <a:cs typeface="Calibri"/>
                <a:sym typeface="Calibri"/>
              </a:defRPr>
            </a:lvl4pPr>
            <a:lvl5pPr indent="0" lvl="4" marL="0" algn="r">
              <a:spcBef>
                <a:spcPts val="0"/>
              </a:spcBef>
              <a:buNone/>
              <a:defRPr sz="800">
                <a:solidFill>
                  <a:schemeClr val="dk2"/>
                </a:solidFill>
                <a:latin typeface="Calibri"/>
                <a:ea typeface="Calibri"/>
                <a:cs typeface="Calibri"/>
                <a:sym typeface="Calibri"/>
              </a:defRPr>
            </a:lvl5pPr>
            <a:lvl6pPr indent="0" lvl="5" marL="0" algn="r">
              <a:spcBef>
                <a:spcPts val="0"/>
              </a:spcBef>
              <a:buNone/>
              <a:defRPr sz="800">
                <a:solidFill>
                  <a:schemeClr val="dk2"/>
                </a:solidFill>
                <a:latin typeface="Calibri"/>
                <a:ea typeface="Calibri"/>
                <a:cs typeface="Calibri"/>
                <a:sym typeface="Calibri"/>
              </a:defRPr>
            </a:lvl6pPr>
            <a:lvl7pPr indent="0" lvl="6" marL="0" algn="r">
              <a:spcBef>
                <a:spcPts val="0"/>
              </a:spcBef>
              <a:buNone/>
              <a:defRPr sz="800">
                <a:solidFill>
                  <a:schemeClr val="dk2"/>
                </a:solidFill>
                <a:latin typeface="Calibri"/>
                <a:ea typeface="Calibri"/>
                <a:cs typeface="Calibri"/>
                <a:sym typeface="Calibri"/>
              </a:defRPr>
            </a:lvl7pPr>
            <a:lvl8pPr indent="0" lvl="7" marL="0" algn="r">
              <a:spcBef>
                <a:spcPts val="0"/>
              </a:spcBef>
              <a:buNone/>
              <a:defRPr sz="800">
                <a:solidFill>
                  <a:schemeClr val="dk2"/>
                </a:solidFill>
                <a:latin typeface="Calibri"/>
                <a:ea typeface="Calibri"/>
                <a:cs typeface="Calibri"/>
                <a:sym typeface="Calibri"/>
              </a:defRPr>
            </a:lvl8pPr>
            <a:lvl9pPr indent="0" lvl="8" marL="0" algn="r">
              <a:spcBef>
                <a:spcPts val="0"/>
              </a:spcBef>
              <a:buNone/>
              <a:defRPr sz="800">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cxnSp>
        <p:nvCxnSpPr>
          <p:cNvPr id="23" name="Google Shape;23;p4"/>
          <p:cNvCxnSpPr/>
          <p:nvPr/>
        </p:nvCxnSpPr>
        <p:spPr>
          <a:xfrm>
            <a:off x="320040" y="4767263"/>
            <a:ext cx="8503800" cy="0"/>
          </a:xfrm>
          <a:prstGeom prst="straightConnector1">
            <a:avLst/>
          </a:prstGeom>
          <a:noFill/>
          <a:ln cap="flat" cmpd="sng" w="9525">
            <a:solidFill>
              <a:srgbClr val="7F7F7F"/>
            </a:solidFill>
            <a:prstDash val="solid"/>
            <a:miter lim="800000"/>
            <a:headEnd len="sm" w="sm" type="none"/>
            <a:tailEnd len="sm" w="sm" type="none"/>
          </a:ln>
        </p:spPr>
      </p:cxnSp>
      <p:sp>
        <p:nvSpPr>
          <p:cNvPr id="24" name="Google Shape;24;p4"/>
          <p:cNvSpPr txBox="1"/>
          <p:nvPr>
            <p:ph idx="1" type="body"/>
          </p:nvPr>
        </p:nvSpPr>
        <p:spPr>
          <a:xfrm>
            <a:off x="320040" y="1200150"/>
            <a:ext cx="8503800" cy="3432600"/>
          </a:xfrm>
          <a:prstGeom prst="rect">
            <a:avLst/>
          </a:prstGeom>
          <a:noFill/>
          <a:ln>
            <a:noFill/>
          </a:ln>
        </p:spPr>
        <p:txBody>
          <a:bodyPr anchorCtr="0" anchor="t" bIns="45700" lIns="0" spcFirstLastPara="1" rIns="0" wrap="square" tIns="45700">
            <a:normAutofit/>
          </a:bodyPr>
          <a:lstStyle>
            <a:lvl1pPr indent="-374650" lvl="0" marL="457200" marR="0" rtl="0" algn="l">
              <a:lnSpc>
                <a:spcPct val="90000"/>
              </a:lnSpc>
              <a:spcBef>
                <a:spcPts val="750"/>
              </a:spcBef>
              <a:spcAft>
                <a:spcPts val="0"/>
              </a:spcAft>
              <a:buClr>
                <a:schemeClr val="dk2"/>
              </a:buClr>
              <a:buSzPts val="2300"/>
              <a:buFont typeface="Arial"/>
              <a:buChar char="•"/>
              <a:defRPr b="0" i="0" sz="2300" u="none" cap="none" strike="noStrike">
                <a:solidFill>
                  <a:schemeClr val="dk2"/>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2"/>
              </a:buClr>
              <a:buSzPts val="1800"/>
              <a:buFont typeface="Arial"/>
              <a:buChar char="•"/>
              <a:defRPr b="0" i="0" sz="1800" u="none" cap="none" strike="noStrike">
                <a:solidFill>
                  <a:schemeClr val="dk2"/>
                </a:solidFill>
                <a:latin typeface="Calibri"/>
                <a:ea typeface="Calibri"/>
                <a:cs typeface="Calibri"/>
                <a:sym typeface="Calibri"/>
              </a:defRPr>
            </a:lvl2pPr>
            <a:lvl3pPr indent="-342900" lvl="2" marL="1371600" marR="0" rtl="0" algn="l">
              <a:lnSpc>
                <a:spcPct val="90000"/>
              </a:lnSpc>
              <a:spcBef>
                <a:spcPts val="375"/>
              </a:spcBef>
              <a:spcAft>
                <a:spcPts val="0"/>
              </a:spcAft>
              <a:buClr>
                <a:schemeClr val="dk2"/>
              </a:buClr>
              <a:buSzPts val="1800"/>
              <a:buFont typeface="Arial"/>
              <a:buChar char="•"/>
              <a:defRPr b="0" i="0" sz="1800" u="none" cap="none" strike="noStrike">
                <a:solidFill>
                  <a:schemeClr val="dk2"/>
                </a:solidFill>
                <a:latin typeface="Calibri"/>
                <a:ea typeface="Calibri"/>
                <a:cs typeface="Calibri"/>
                <a:sym typeface="Calibri"/>
              </a:defRPr>
            </a:lvl3pPr>
            <a:lvl4pPr indent="-342900" lvl="3" marL="1828800" marR="0" rtl="0" algn="l">
              <a:lnSpc>
                <a:spcPct val="90000"/>
              </a:lnSpc>
              <a:spcBef>
                <a:spcPts val="375"/>
              </a:spcBef>
              <a:spcAft>
                <a:spcPts val="0"/>
              </a:spcAft>
              <a:buClr>
                <a:schemeClr val="dk2"/>
              </a:buClr>
              <a:buSzPts val="1800"/>
              <a:buFont typeface="Arial"/>
              <a:buChar char="•"/>
              <a:defRPr b="0" i="0" sz="1800" u="none" cap="none" strike="noStrike">
                <a:solidFill>
                  <a:schemeClr val="dk2"/>
                </a:solidFill>
                <a:latin typeface="Calibri"/>
                <a:ea typeface="Calibri"/>
                <a:cs typeface="Calibri"/>
                <a:sym typeface="Calibri"/>
              </a:defRPr>
            </a:lvl4pPr>
            <a:lvl5pPr indent="-342900" lvl="4" marL="2286000" marR="0" rtl="0" algn="l">
              <a:lnSpc>
                <a:spcPct val="90000"/>
              </a:lnSpc>
              <a:spcBef>
                <a:spcPts val="375"/>
              </a:spcBef>
              <a:spcAft>
                <a:spcPts val="0"/>
              </a:spcAft>
              <a:buClr>
                <a:schemeClr val="dk2"/>
              </a:buClr>
              <a:buSzPts val="1800"/>
              <a:buFont typeface="Arial"/>
              <a:buChar char="•"/>
              <a:defRPr b="0" i="0" sz="1800" u="none" cap="none" strike="noStrike">
                <a:solidFill>
                  <a:schemeClr val="dk2"/>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2"/>
              </a:buClr>
              <a:buSzPts val="1350"/>
              <a:buFont typeface="Arial"/>
              <a:buChar char="•"/>
              <a:defRPr b="0" i="0" sz="1350" u="none" cap="none" strike="noStrike">
                <a:solidFill>
                  <a:schemeClr val="dk2"/>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2"/>
              </a:buClr>
              <a:buSzPts val="1350"/>
              <a:buFont typeface="Arial"/>
              <a:buChar char="•"/>
              <a:defRPr b="0" i="0" sz="1350" u="none" cap="none" strike="noStrike">
                <a:solidFill>
                  <a:schemeClr val="dk2"/>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2"/>
              </a:buClr>
              <a:buSzPts val="1350"/>
              <a:buFont typeface="Arial"/>
              <a:buChar char="•"/>
              <a:defRPr b="0" i="0" sz="1350" u="none" cap="none" strike="noStrike">
                <a:solidFill>
                  <a:schemeClr val="dk2"/>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2"/>
              </a:buClr>
              <a:buSzPts val="1350"/>
              <a:buFont typeface="Arial"/>
              <a:buChar char="•"/>
              <a:defRPr b="0" i="0" sz="1350" u="none" cap="none" strike="noStrike">
                <a:solidFill>
                  <a:schemeClr val="dk2"/>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mage">
  <p:cSld name="Title and Content w/image">
    <p:spTree>
      <p:nvGrpSpPr>
        <p:cNvPr id="25" name="Shape 25"/>
        <p:cNvGrpSpPr/>
        <p:nvPr/>
      </p:nvGrpSpPr>
      <p:grpSpPr>
        <a:xfrm>
          <a:off x="0" y="0"/>
          <a:ext cx="0" cy="0"/>
          <a:chOff x="0" y="0"/>
          <a:chExt cx="0" cy="0"/>
        </a:xfrm>
      </p:grpSpPr>
      <p:sp>
        <p:nvSpPr>
          <p:cNvPr id="26" name="Google Shape;26;p5"/>
          <p:cNvSpPr txBox="1"/>
          <p:nvPr>
            <p:ph type="title"/>
          </p:nvPr>
        </p:nvSpPr>
        <p:spPr>
          <a:xfrm>
            <a:off x="320039" y="273844"/>
            <a:ext cx="5669400" cy="823500"/>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2" type="sldNum"/>
          </p:nvPr>
        </p:nvSpPr>
        <p:spPr>
          <a:xfrm>
            <a:off x="676656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800">
                <a:solidFill>
                  <a:schemeClr val="dk2"/>
                </a:solidFill>
                <a:latin typeface="Calibri"/>
                <a:ea typeface="Calibri"/>
                <a:cs typeface="Calibri"/>
                <a:sym typeface="Calibri"/>
              </a:defRPr>
            </a:lvl1pPr>
            <a:lvl2pPr indent="0" lvl="1" marL="0" algn="r">
              <a:spcBef>
                <a:spcPts val="0"/>
              </a:spcBef>
              <a:buNone/>
              <a:defRPr sz="800">
                <a:solidFill>
                  <a:schemeClr val="dk2"/>
                </a:solidFill>
                <a:latin typeface="Calibri"/>
                <a:ea typeface="Calibri"/>
                <a:cs typeface="Calibri"/>
                <a:sym typeface="Calibri"/>
              </a:defRPr>
            </a:lvl2pPr>
            <a:lvl3pPr indent="0" lvl="2" marL="0" algn="r">
              <a:spcBef>
                <a:spcPts val="0"/>
              </a:spcBef>
              <a:buNone/>
              <a:defRPr sz="800">
                <a:solidFill>
                  <a:schemeClr val="dk2"/>
                </a:solidFill>
                <a:latin typeface="Calibri"/>
                <a:ea typeface="Calibri"/>
                <a:cs typeface="Calibri"/>
                <a:sym typeface="Calibri"/>
              </a:defRPr>
            </a:lvl3pPr>
            <a:lvl4pPr indent="0" lvl="3" marL="0" algn="r">
              <a:spcBef>
                <a:spcPts val="0"/>
              </a:spcBef>
              <a:buNone/>
              <a:defRPr sz="800">
                <a:solidFill>
                  <a:schemeClr val="dk2"/>
                </a:solidFill>
                <a:latin typeface="Calibri"/>
                <a:ea typeface="Calibri"/>
                <a:cs typeface="Calibri"/>
                <a:sym typeface="Calibri"/>
              </a:defRPr>
            </a:lvl4pPr>
            <a:lvl5pPr indent="0" lvl="4" marL="0" algn="r">
              <a:spcBef>
                <a:spcPts val="0"/>
              </a:spcBef>
              <a:buNone/>
              <a:defRPr sz="800">
                <a:solidFill>
                  <a:schemeClr val="dk2"/>
                </a:solidFill>
                <a:latin typeface="Calibri"/>
                <a:ea typeface="Calibri"/>
                <a:cs typeface="Calibri"/>
                <a:sym typeface="Calibri"/>
              </a:defRPr>
            </a:lvl5pPr>
            <a:lvl6pPr indent="0" lvl="5" marL="0" algn="r">
              <a:spcBef>
                <a:spcPts val="0"/>
              </a:spcBef>
              <a:buNone/>
              <a:defRPr sz="800">
                <a:solidFill>
                  <a:schemeClr val="dk2"/>
                </a:solidFill>
                <a:latin typeface="Calibri"/>
                <a:ea typeface="Calibri"/>
                <a:cs typeface="Calibri"/>
                <a:sym typeface="Calibri"/>
              </a:defRPr>
            </a:lvl6pPr>
            <a:lvl7pPr indent="0" lvl="6" marL="0" algn="r">
              <a:spcBef>
                <a:spcPts val="0"/>
              </a:spcBef>
              <a:buNone/>
              <a:defRPr sz="800">
                <a:solidFill>
                  <a:schemeClr val="dk2"/>
                </a:solidFill>
                <a:latin typeface="Calibri"/>
                <a:ea typeface="Calibri"/>
                <a:cs typeface="Calibri"/>
                <a:sym typeface="Calibri"/>
              </a:defRPr>
            </a:lvl7pPr>
            <a:lvl8pPr indent="0" lvl="7" marL="0" algn="r">
              <a:spcBef>
                <a:spcPts val="0"/>
              </a:spcBef>
              <a:buNone/>
              <a:defRPr sz="800">
                <a:solidFill>
                  <a:schemeClr val="dk2"/>
                </a:solidFill>
                <a:latin typeface="Calibri"/>
                <a:ea typeface="Calibri"/>
                <a:cs typeface="Calibri"/>
                <a:sym typeface="Calibri"/>
              </a:defRPr>
            </a:lvl8pPr>
            <a:lvl9pPr indent="0" lvl="8" marL="0" algn="r">
              <a:spcBef>
                <a:spcPts val="0"/>
              </a:spcBef>
              <a:buNone/>
              <a:defRPr sz="800">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cxnSp>
        <p:nvCxnSpPr>
          <p:cNvPr id="28" name="Google Shape;28;p5"/>
          <p:cNvCxnSpPr/>
          <p:nvPr/>
        </p:nvCxnSpPr>
        <p:spPr>
          <a:xfrm>
            <a:off x="320040" y="4767263"/>
            <a:ext cx="8503800" cy="0"/>
          </a:xfrm>
          <a:prstGeom prst="straightConnector1">
            <a:avLst/>
          </a:prstGeom>
          <a:noFill/>
          <a:ln cap="flat" cmpd="sng" w="9525">
            <a:solidFill>
              <a:srgbClr val="7F7F7F"/>
            </a:solidFill>
            <a:prstDash val="solid"/>
            <a:miter lim="800000"/>
            <a:headEnd len="sm" w="sm" type="none"/>
            <a:tailEnd len="sm" w="sm" type="none"/>
          </a:ln>
        </p:spPr>
      </p:cxnSp>
      <p:sp>
        <p:nvSpPr>
          <p:cNvPr id="29" name="Google Shape;29;p5"/>
          <p:cNvSpPr/>
          <p:nvPr>
            <p:ph idx="2" type="pic"/>
          </p:nvPr>
        </p:nvSpPr>
        <p:spPr>
          <a:xfrm>
            <a:off x="6126163" y="274320"/>
            <a:ext cx="2697300" cy="4359000"/>
          </a:xfrm>
          <a:prstGeom prst="rect">
            <a:avLst/>
          </a:prstGeom>
          <a:solidFill>
            <a:schemeClr val="lt2"/>
          </a:solidFill>
          <a:ln>
            <a:noFill/>
          </a:ln>
        </p:spPr>
      </p:sp>
      <p:sp>
        <p:nvSpPr>
          <p:cNvPr id="30" name="Google Shape;30;p5"/>
          <p:cNvSpPr txBox="1"/>
          <p:nvPr>
            <p:ph idx="1" type="body"/>
          </p:nvPr>
        </p:nvSpPr>
        <p:spPr>
          <a:xfrm>
            <a:off x="320090" y="1216013"/>
            <a:ext cx="5669400" cy="3432600"/>
          </a:xfrm>
          <a:prstGeom prst="rect">
            <a:avLst/>
          </a:prstGeom>
          <a:noFill/>
          <a:ln>
            <a:noFill/>
          </a:ln>
        </p:spPr>
        <p:txBody>
          <a:bodyPr anchorCtr="0" anchor="t" bIns="45700" lIns="0" spcFirstLastPara="1" rIns="0" wrap="square" tIns="45700">
            <a:normAutofit/>
          </a:bodyPr>
          <a:lstStyle>
            <a:lvl1pPr indent="-374650" lvl="0" marL="457200" marR="0" rtl="0" algn="l">
              <a:lnSpc>
                <a:spcPct val="90000"/>
              </a:lnSpc>
              <a:spcBef>
                <a:spcPts val="750"/>
              </a:spcBef>
              <a:spcAft>
                <a:spcPts val="0"/>
              </a:spcAft>
              <a:buClr>
                <a:schemeClr val="dk2"/>
              </a:buClr>
              <a:buSzPts val="2300"/>
              <a:buFont typeface="Arial"/>
              <a:buChar char="•"/>
              <a:defRPr b="0" i="0" sz="2300" u="none" cap="none" strike="noStrike">
                <a:solidFill>
                  <a:schemeClr val="dk2"/>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2"/>
              </a:buClr>
              <a:buSzPts val="1800"/>
              <a:buFont typeface="Arial"/>
              <a:buChar char="•"/>
              <a:defRPr b="0" i="0" sz="1800" u="none" cap="none" strike="noStrike">
                <a:solidFill>
                  <a:schemeClr val="dk2"/>
                </a:solidFill>
                <a:latin typeface="Calibri"/>
                <a:ea typeface="Calibri"/>
                <a:cs typeface="Calibri"/>
                <a:sym typeface="Calibri"/>
              </a:defRPr>
            </a:lvl2pPr>
            <a:lvl3pPr indent="-342900" lvl="2" marL="1371600" marR="0" rtl="0" algn="l">
              <a:lnSpc>
                <a:spcPct val="90000"/>
              </a:lnSpc>
              <a:spcBef>
                <a:spcPts val="375"/>
              </a:spcBef>
              <a:spcAft>
                <a:spcPts val="0"/>
              </a:spcAft>
              <a:buClr>
                <a:schemeClr val="dk2"/>
              </a:buClr>
              <a:buSzPts val="1800"/>
              <a:buFont typeface="Arial"/>
              <a:buChar char="•"/>
              <a:defRPr b="0" i="0" sz="1800" u="none" cap="none" strike="noStrike">
                <a:solidFill>
                  <a:schemeClr val="dk2"/>
                </a:solidFill>
                <a:latin typeface="Calibri"/>
                <a:ea typeface="Calibri"/>
                <a:cs typeface="Calibri"/>
                <a:sym typeface="Calibri"/>
              </a:defRPr>
            </a:lvl3pPr>
            <a:lvl4pPr indent="-342900" lvl="3" marL="1828800" marR="0" rtl="0" algn="l">
              <a:lnSpc>
                <a:spcPct val="90000"/>
              </a:lnSpc>
              <a:spcBef>
                <a:spcPts val="375"/>
              </a:spcBef>
              <a:spcAft>
                <a:spcPts val="0"/>
              </a:spcAft>
              <a:buClr>
                <a:schemeClr val="dk2"/>
              </a:buClr>
              <a:buSzPts val="1800"/>
              <a:buFont typeface="Arial"/>
              <a:buChar char="•"/>
              <a:defRPr b="0" i="0" sz="1800" u="none" cap="none" strike="noStrike">
                <a:solidFill>
                  <a:schemeClr val="dk2"/>
                </a:solidFill>
                <a:latin typeface="Calibri"/>
                <a:ea typeface="Calibri"/>
                <a:cs typeface="Calibri"/>
                <a:sym typeface="Calibri"/>
              </a:defRPr>
            </a:lvl4pPr>
            <a:lvl5pPr indent="-342900" lvl="4" marL="2286000" marR="0" rtl="0" algn="l">
              <a:lnSpc>
                <a:spcPct val="90000"/>
              </a:lnSpc>
              <a:spcBef>
                <a:spcPts val="375"/>
              </a:spcBef>
              <a:spcAft>
                <a:spcPts val="0"/>
              </a:spcAft>
              <a:buClr>
                <a:schemeClr val="dk2"/>
              </a:buClr>
              <a:buSzPts val="1800"/>
              <a:buFont typeface="Arial"/>
              <a:buChar char="•"/>
              <a:defRPr b="0" i="0" sz="1800" u="none" cap="none" strike="noStrike">
                <a:solidFill>
                  <a:schemeClr val="dk2"/>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2"/>
              </a:buClr>
              <a:buSzPts val="1350"/>
              <a:buFont typeface="Arial"/>
              <a:buChar char="•"/>
              <a:defRPr b="0" i="0" sz="1350" u="none" cap="none" strike="noStrike">
                <a:solidFill>
                  <a:schemeClr val="dk2"/>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2"/>
              </a:buClr>
              <a:buSzPts val="1350"/>
              <a:buFont typeface="Arial"/>
              <a:buChar char="•"/>
              <a:defRPr b="0" i="0" sz="1350" u="none" cap="none" strike="noStrike">
                <a:solidFill>
                  <a:schemeClr val="dk2"/>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2"/>
              </a:buClr>
              <a:buSzPts val="1350"/>
              <a:buFont typeface="Arial"/>
              <a:buChar char="•"/>
              <a:defRPr b="0" i="0" sz="1350" u="none" cap="none" strike="noStrike">
                <a:solidFill>
                  <a:schemeClr val="dk2"/>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2"/>
              </a:buClr>
              <a:buSzPts val="1350"/>
              <a:buFont typeface="Arial"/>
              <a:buChar char="•"/>
              <a:defRPr b="0" i="0" sz="1350" u="none" cap="none" strike="noStrike">
                <a:solidFill>
                  <a:schemeClr val="dk2"/>
                </a:solidFill>
                <a:latin typeface="Calibri"/>
                <a:ea typeface="Calibri"/>
                <a:cs typeface="Calibri"/>
                <a:sym typeface="Calibri"/>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Sky" showMasterSp="0">
  <p:cSld name="Divider - Sky">
    <p:bg>
      <p:bgPr>
        <a:solidFill>
          <a:srgbClr val="4298B5"/>
        </a:solidFill>
      </p:bgPr>
    </p:bg>
    <p:spTree>
      <p:nvGrpSpPr>
        <p:cNvPr id="31" name="Shape 31"/>
        <p:cNvGrpSpPr/>
        <p:nvPr/>
      </p:nvGrpSpPr>
      <p:grpSpPr>
        <a:xfrm>
          <a:off x="0" y="0"/>
          <a:ext cx="0" cy="0"/>
          <a:chOff x="0" y="0"/>
          <a:chExt cx="0" cy="0"/>
        </a:xfrm>
      </p:grpSpPr>
      <p:pic>
        <p:nvPicPr>
          <p:cNvPr descr="Background pattern&#10;&#10;Description automatically generated with low confidence" id="32" name="Google Shape;32;p6"/>
          <p:cNvPicPr preferRelativeResize="0"/>
          <p:nvPr/>
        </p:nvPicPr>
        <p:blipFill rotWithShape="1">
          <a:blip r:embed="rId2">
            <a:alphaModFix amt="70000"/>
          </a:blip>
          <a:srcRect b="0" l="0" r="0" t="0"/>
          <a:stretch/>
        </p:blipFill>
        <p:spPr>
          <a:xfrm>
            <a:off x="0" y="0"/>
            <a:ext cx="2893735" cy="5143500"/>
          </a:xfrm>
          <a:prstGeom prst="rect">
            <a:avLst/>
          </a:prstGeom>
          <a:noFill/>
          <a:ln>
            <a:noFill/>
          </a:ln>
        </p:spPr>
      </p:pic>
      <p:sp>
        <p:nvSpPr>
          <p:cNvPr id="33" name="Google Shape;33;p6"/>
          <p:cNvSpPr txBox="1"/>
          <p:nvPr>
            <p:ph idx="12" type="sldNum"/>
          </p:nvPr>
        </p:nvSpPr>
        <p:spPr>
          <a:xfrm>
            <a:off x="676656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800">
                <a:solidFill>
                  <a:schemeClr val="lt1"/>
                </a:solidFill>
                <a:latin typeface="Calibri"/>
                <a:ea typeface="Calibri"/>
                <a:cs typeface="Calibri"/>
                <a:sym typeface="Calibri"/>
              </a:defRPr>
            </a:lvl1pPr>
            <a:lvl2pPr indent="0" lvl="1" marL="0" algn="r">
              <a:spcBef>
                <a:spcPts val="0"/>
              </a:spcBef>
              <a:buNone/>
              <a:defRPr sz="800">
                <a:solidFill>
                  <a:schemeClr val="lt1"/>
                </a:solidFill>
                <a:latin typeface="Calibri"/>
                <a:ea typeface="Calibri"/>
                <a:cs typeface="Calibri"/>
                <a:sym typeface="Calibri"/>
              </a:defRPr>
            </a:lvl2pPr>
            <a:lvl3pPr indent="0" lvl="2" marL="0" algn="r">
              <a:spcBef>
                <a:spcPts val="0"/>
              </a:spcBef>
              <a:buNone/>
              <a:defRPr sz="800">
                <a:solidFill>
                  <a:schemeClr val="lt1"/>
                </a:solidFill>
                <a:latin typeface="Calibri"/>
                <a:ea typeface="Calibri"/>
                <a:cs typeface="Calibri"/>
                <a:sym typeface="Calibri"/>
              </a:defRPr>
            </a:lvl3pPr>
            <a:lvl4pPr indent="0" lvl="3" marL="0" algn="r">
              <a:spcBef>
                <a:spcPts val="0"/>
              </a:spcBef>
              <a:buNone/>
              <a:defRPr sz="800">
                <a:solidFill>
                  <a:schemeClr val="lt1"/>
                </a:solidFill>
                <a:latin typeface="Calibri"/>
                <a:ea typeface="Calibri"/>
                <a:cs typeface="Calibri"/>
                <a:sym typeface="Calibri"/>
              </a:defRPr>
            </a:lvl4pPr>
            <a:lvl5pPr indent="0" lvl="4" marL="0" algn="r">
              <a:spcBef>
                <a:spcPts val="0"/>
              </a:spcBef>
              <a:buNone/>
              <a:defRPr sz="800">
                <a:solidFill>
                  <a:schemeClr val="lt1"/>
                </a:solidFill>
                <a:latin typeface="Calibri"/>
                <a:ea typeface="Calibri"/>
                <a:cs typeface="Calibri"/>
                <a:sym typeface="Calibri"/>
              </a:defRPr>
            </a:lvl5pPr>
            <a:lvl6pPr indent="0" lvl="5" marL="0" algn="r">
              <a:spcBef>
                <a:spcPts val="0"/>
              </a:spcBef>
              <a:buNone/>
              <a:defRPr sz="800">
                <a:solidFill>
                  <a:schemeClr val="lt1"/>
                </a:solidFill>
                <a:latin typeface="Calibri"/>
                <a:ea typeface="Calibri"/>
                <a:cs typeface="Calibri"/>
                <a:sym typeface="Calibri"/>
              </a:defRPr>
            </a:lvl6pPr>
            <a:lvl7pPr indent="0" lvl="6" marL="0" algn="r">
              <a:spcBef>
                <a:spcPts val="0"/>
              </a:spcBef>
              <a:buNone/>
              <a:defRPr sz="800">
                <a:solidFill>
                  <a:schemeClr val="lt1"/>
                </a:solidFill>
                <a:latin typeface="Calibri"/>
                <a:ea typeface="Calibri"/>
                <a:cs typeface="Calibri"/>
                <a:sym typeface="Calibri"/>
              </a:defRPr>
            </a:lvl7pPr>
            <a:lvl8pPr indent="0" lvl="7" marL="0" algn="r">
              <a:spcBef>
                <a:spcPts val="0"/>
              </a:spcBef>
              <a:buNone/>
              <a:defRPr sz="800">
                <a:solidFill>
                  <a:schemeClr val="lt1"/>
                </a:solidFill>
                <a:latin typeface="Calibri"/>
                <a:ea typeface="Calibri"/>
                <a:cs typeface="Calibri"/>
                <a:sym typeface="Calibri"/>
              </a:defRPr>
            </a:lvl8pPr>
            <a:lvl9pPr indent="0" lvl="8" marL="0" algn="r">
              <a:spcBef>
                <a:spcPts val="0"/>
              </a:spcBef>
              <a:buNone/>
              <a:defRPr sz="800">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34" name="Google Shape;34;p6"/>
          <p:cNvSpPr txBox="1"/>
          <p:nvPr>
            <p:ph type="ctrTitle"/>
          </p:nvPr>
        </p:nvSpPr>
        <p:spPr>
          <a:xfrm>
            <a:off x="1363132" y="1760219"/>
            <a:ext cx="7479900" cy="1660500"/>
          </a:xfrm>
          <a:prstGeom prst="rect">
            <a:avLst/>
          </a:prstGeom>
          <a:noFill/>
          <a:ln>
            <a:noFill/>
          </a:ln>
        </p:spPr>
        <p:txBody>
          <a:bodyPr anchorCtr="0" anchor="t" bIns="45700" lIns="0" spcFirstLastPara="1" rIns="0" wrap="square" tIns="45700">
            <a:normAutofit/>
          </a:bodyPr>
          <a:lstStyle>
            <a:lvl1pPr lvl="0" algn="l">
              <a:lnSpc>
                <a:spcPct val="90000"/>
              </a:lnSpc>
              <a:spcBef>
                <a:spcPts val="0"/>
              </a:spcBef>
              <a:spcAft>
                <a:spcPts val="0"/>
              </a:spcAft>
              <a:buClr>
                <a:schemeClr val="lt1"/>
              </a:buClr>
              <a:buSzPts val="4500"/>
              <a:buFont typeface="Georgia"/>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35" name="Google Shape;35;p6"/>
          <p:cNvCxnSpPr/>
          <p:nvPr/>
        </p:nvCxnSpPr>
        <p:spPr>
          <a:xfrm>
            <a:off x="320040" y="4767263"/>
            <a:ext cx="8503800" cy="0"/>
          </a:xfrm>
          <a:prstGeom prst="straightConnector1">
            <a:avLst/>
          </a:prstGeom>
          <a:noFill/>
          <a:ln cap="flat" cmpd="sng" w="9525">
            <a:solidFill>
              <a:schemeClr val="lt1"/>
            </a:solidFill>
            <a:prstDash val="solid"/>
            <a:miter lim="800000"/>
            <a:headEnd len="sm" w="sm" type="none"/>
            <a:tailEnd len="sm" w="sm" type="none"/>
          </a:ln>
        </p:spPr>
      </p:cxnSp>
      <p:sp>
        <p:nvSpPr>
          <p:cNvPr id="36" name="Google Shape;36;p6"/>
          <p:cNvSpPr txBox="1"/>
          <p:nvPr>
            <p:ph idx="1" type="subTitle"/>
          </p:nvPr>
        </p:nvSpPr>
        <p:spPr>
          <a:xfrm>
            <a:off x="1363125" y="3500618"/>
            <a:ext cx="6202200" cy="943500"/>
          </a:xfrm>
          <a:prstGeom prst="rect">
            <a:avLst/>
          </a:prstGeom>
        </p:spPr>
        <p:txBody>
          <a:bodyPr anchorCtr="0" anchor="t" bIns="45700" lIns="0" spcFirstLastPara="1" rIns="0" wrap="square" tIns="45700">
            <a:normAutofit/>
          </a:bodyPr>
          <a:lstStyle>
            <a:lvl1pPr lvl="0">
              <a:spcBef>
                <a:spcPts val="750"/>
              </a:spcBef>
              <a:spcAft>
                <a:spcPts val="0"/>
              </a:spcAft>
              <a:buClr>
                <a:schemeClr val="lt1"/>
              </a:buClr>
              <a:buSzPts val="2300"/>
              <a:buNone/>
              <a:defRPr>
                <a:solidFill>
                  <a:schemeClr val="lt1"/>
                </a:solidFill>
              </a:defRPr>
            </a:lvl1pPr>
            <a:lvl2pPr lvl="1">
              <a:spcBef>
                <a:spcPts val="375"/>
              </a:spcBef>
              <a:spcAft>
                <a:spcPts val="0"/>
              </a:spcAft>
              <a:buSzPts val="1800"/>
              <a:buNone/>
              <a:defRPr/>
            </a:lvl2pPr>
            <a:lvl3pPr lvl="2">
              <a:spcBef>
                <a:spcPts val="375"/>
              </a:spcBef>
              <a:spcAft>
                <a:spcPts val="0"/>
              </a:spcAft>
              <a:buSzPts val="1800"/>
              <a:buNone/>
              <a:defRPr/>
            </a:lvl3pPr>
            <a:lvl4pPr lvl="3">
              <a:spcBef>
                <a:spcPts val="375"/>
              </a:spcBef>
              <a:spcAft>
                <a:spcPts val="0"/>
              </a:spcAft>
              <a:buSzPts val="1800"/>
              <a:buNone/>
              <a:defRPr/>
            </a:lvl4pPr>
            <a:lvl5pPr lvl="4">
              <a:spcBef>
                <a:spcPts val="375"/>
              </a:spcBef>
              <a:spcAft>
                <a:spcPts val="0"/>
              </a:spcAft>
              <a:buSzPts val="1800"/>
              <a:buNone/>
              <a:defRPr/>
            </a:lvl5pPr>
            <a:lvl6pPr lvl="5">
              <a:spcBef>
                <a:spcPts val="375"/>
              </a:spcBef>
              <a:spcAft>
                <a:spcPts val="0"/>
              </a:spcAft>
              <a:buSzPts val="1350"/>
              <a:buNone/>
              <a:defRPr/>
            </a:lvl6pPr>
            <a:lvl7pPr lvl="6">
              <a:spcBef>
                <a:spcPts val="375"/>
              </a:spcBef>
              <a:spcAft>
                <a:spcPts val="0"/>
              </a:spcAft>
              <a:buSzPts val="1350"/>
              <a:buNone/>
              <a:defRPr/>
            </a:lvl7pPr>
            <a:lvl8pPr lvl="7">
              <a:spcBef>
                <a:spcPts val="375"/>
              </a:spcBef>
              <a:spcAft>
                <a:spcPts val="0"/>
              </a:spcAft>
              <a:buSzPts val="1350"/>
              <a:buNone/>
              <a:defRPr/>
            </a:lvl8pPr>
            <a:lvl9pPr lvl="8">
              <a:spcBef>
                <a:spcPts val="375"/>
              </a:spcBef>
              <a:spcAft>
                <a:spcPts val="0"/>
              </a:spcAft>
              <a:buSzPts val="135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Content" type="twoObj">
  <p:cSld name="TWO_OBJECTS">
    <p:spTree>
      <p:nvGrpSpPr>
        <p:cNvPr id="37" name="Shape 37"/>
        <p:cNvGrpSpPr/>
        <p:nvPr/>
      </p:nvGrpSpPr>
      <p:grpSpPr>
        <a:xfrm>
          <a:off x="0" y="0"/>
          <a:ext cx="0" cy="0"/>
          <a:chOff x="0" y="0"/>
          <a:chExt cx="0" cy="0"/>
        </a:xfrm>
      </p:grpSpPr>
      <p:sp>
        <p:nvSpPr>
          <p:cNvPr id="38" name="Google Shape;38;p7"/>
          <p:cNvSpPr txBox="1"/>
          <p:nvPr>
            <p:ph type="title"/>
          </p:nvPr>
        </p:nvSpPr>
        <p:spPr>
          <a:xfrm>
            <a:off x="320040" y="273844"/>
            <a:ext cx="8503800" cy="823500"/>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7"/>
          <p:cNvSpPr txBox="1"/>
          <p:nvPr>
            <p:ph idx="1" type="body"/>
          </p:nvPr>
        </p:nvSpPr>
        <p:spPr>
          <a:xfrm>
            <a:off x="320040" y="1231821"/>
            <a:ext cx="4194900" cy="3400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750"/>
              </a:spcBef>
              <a:spcAft>
                <a:spcPts val="0"/>
              </a:spcAft>
              <a:buSzPts val="1800"/>
              <a:buChar char="•"/>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Clr>
                <a:schemeClr val="dk2"/>
              </a:buClr>
              <a:buSzPts val="1800"/>
              <a:buChar char="•"/>
              <a:defRPr>
                <a:solidFill>
                  <a:schemeClr val="dk2"/>
                </a:solidFill>
              </a:defRPr>
            </a:lvl6pPr>
            <a:lvl7pPr indent="-342900" lvl="6" marL="3200400" algn="l">
              <a:lnSpc>
                <a:spcPct val="90000"/>
              </a:lnSpc>
              <a:spcBef>
                <a:spcPts val="375"/>
              </a:spcBef>
              <a:spcAft>
                <a:spcPts val="0"/>
              </a:spcAft>
              <a:buClr>
                <a:schemeClr val="dk2"/>
              </a:buClr>
              <a:buSzPts val="1800"/>
              <a:buChar char="•"/>
              <a:defRPr>
                <a:solidFill>
                  <a:schemeClr val="dk2"/>
                </a:solidFill>
              </a:defRPr>
            </a:lvl7pPr>
            <a:lvl8pPr indent="-342900" lvl="7" marL="3657600" algn="l">
              <a:lnSpc>
                <a:spcPct val="90000"/>
              </a:lnSpc>
              <a:spcBef>
                <a:spcPts val="375"/>
              </a:spcBef>
              <a:spcAft>
                <a:spcPts val="0"/>
              </a:spcAft>
              <a:buClr>
                <a:schemeClr val="dk2"/>
              </a:buClr>
              <a:buSzPts val="1800"/>
              <a:buChar char="•"/>
              <a:defRPr>
                <a:solidFill>
                  <a:schemeClr val="dk2"/>
                </a:solidFill>
              </a:defRPr>
            </a:lvl8pPr>
            <a:lvl9pPr indent="-342900" lvl="8" marL="4114800" algn="l">
              <a:lnSpc>
                <a:spcPct val="90000"/>
              </a:lnSpc>
              <a:spcBef>
                <a:spcPts val="375"/>
              </a:spcBef>
              <a:spcAft>
                <a:spcPts val="0"/>
              </a:spcAft>
              <a:buClr>
                <a:schemeClr val="dk2"/>
              </a:buClr>
              <a:buSzPts val="1800"/>
              <a:buChar char="•"/>
              <a:defRPr>
                <a:solidFill>
                  <a:schemeClr val="dk2"/>
                </a:solidFill>
              </a:defRPr>
            </a:lvl9pPr>
          </a:lstStyle>
          <a:p/>
        </p:txBody>
      </p:sp>
      <p:sp>
        <p:nvSpPr>
          <p:cNvPr id="40" name="Google Shape;40;p7"/>
          <p:cNvSpPr txBox="1"/>
          <p:nvPr>
            <p:ph idx="2" type="body"/>
          </p:nvPr>
        </p:nvSpPr>
        <p:spPr>
          <a:xfrm>
            <a:off x="4629149" y="1231821"/>
            <a:ext cx="4194900" cy="3400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750"/>
              </a:spcBef>
              <a:spcAft>
                <a:spcPts val="0"/>
              </a:spcAft>
              <a:buSzPts val="1800"/>
              <a:buChar char="•"/>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Clr>
                <a:schemeClr val="dk2"/>
              </a:buClr>
              <a:buSzPts val="1800"/>
              <a:buChar char="•"/>
              <a:defRPr>
                <a:solidFill>
                  <a:schemeClr val="dk2"/>
                </a:solidFill>
              </a:defRPr>
            </a:lvl6pPr>
            <a:lvl7pPr indent="-342900" lvl="6" marL="3200400" algn="l">
              <a:lnSpc>
                <a:spcPct val="90000"/>
              </a:lnSpc>
              <a:spcBef>
                <a:spcPts val="375"/>
              </a:spcBef>
              <a:spcAft>
                <a:spcPts val="0"/>
              </a:spcAft>
              <a:buClr>
                <a:schemeClr val="dk2"/>
              </a:buClr>
              <a:buSzPts val="1800"/>
              <a:buChar char="•"/>
              <a:defRPr>
                <a:solidFill>
                  <a:schemeClr val="dk2"/>
                </a:solidFill>
              </a:defRPr>
            </a:lvl7pPr>
            <a:lvl8pPr indent="-342900" lvl="7" marL="3657600" algn="l">
              <a:lnSpc>
                <a:spcPct val="90000"/>
              </a:lnSpc>
              <a:spcBef>
                <a:spcPts val="375"/>
              </a:spcBef>
              <a:spcAft>
                <a:spcPts val="0"/>
              </a:spcAft>
              <a:buClr>
                <a:schemeClr val="dk2"/>
              </a:buClr>
              <a:buSzPts val="1800"/>
              <a:buChar char="•"/>
              <a:defRPr>
                <a:solidFill>
                  <a:schemeClr val="dk2"/>
                </a:solidFill>
              </a:defRPr>
            </a:lvl8pPr>
            <a:lvl9pPr indent="-342900" lvl="8" marL="4114800" algn="l">
              <a:lnSpc>
                <a:spcPct val="90000"/>
              </a:lnSpc>
              <a:spcBef>
                <a:spcPts val="375"/>
              </a:spcBef>
              <a:spcAft>
                <a:spcPts val="0"/>
              </a:spcAft>
              <a:buClr>
                <a:schemeClr val="dk2"/>
              </a:buClr>
              <a:buSzPts val="1800"/>
              <a:buChar char="•"/>
              <a:defRPr>
                <a:solidFill>
                  <a:schemeClr val="dk2"/>
                </a:solidFill>
              </a:defRPr>
            </a:lvl9pPr>
          </a:lstStyle>
          <a:p/>
        </p:txBody>
      </p:sp>
      <p:sp>
        <p:nvSpPr>
          <p:cNvPr id="41" name="Google Shape;41;p7"/>
          <p:cNvSpPr txBox="1"/>
          <p:nvPr>
            <p:ph idx="12" type="sldNum"/>
          </p:nvPr>
        </p:nvSpPr>
        <p:spPr>
          <a:xfrm>
            <a:off x="676656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42" name="Google Shape;42;p7"/>
          <p:cNvCxnSpPr/>
          <p:nvPr/>
        </p:nvCxnSpPr>
        <p:spPr>
          <a:xfrm>
            <a:off x="320040" y="4767263"/>
            <a:ext cx="8503800" cy="0"/>
          </a:xfrm>
          <a:prstGeom prst="straightConnector1">
            <a:avLst/>
          </a:prstGeom>
          <a:noFill/>
          <a:ln cap="flat" cmpd="sng" w="9525">
            <a:solidFill>
              <a:srgbClr val="7F7F7F"/>
            </a:solidFill>
            <a:prstDash val="solid"/>
            <a:miter lim="800000"/>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 Slide">
  <p:cSld name="Objective Slide">
    <p:spTree>
      <p:nvGrpSpPr>
        <p:cNvPr id="43" name="Shape 43"/>
        <p:cNvGrpSpPr/>
        <p:nvPr/>
      </p:nvGrpSpPr>
      <p:grpSpPr>
        <a:xfrm>
          <a:off x="0" y="0"/>
          <a:ext cx="0" cy="0"/>
          <a:chOff x="0" y="0"/>
          <a:chExt cx="0" cy="0"/>
        </a:xfrm>
      </p:grpSpPr>
      <p:sp>
        <p:nvSpPr>
          <p:cNvPr id="44" name="Google Shape;44;p8"/>
          <p:cNvSpPr/>
          <p:nvPr/>
        </p:nvSpPr>
        <p:spPr>
          <a:xfrm>
            <a:off x="0" y="1200151"/>
            <a:ext cx="9144000" cy="3567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 name="Google Shape;45;p8"/>
          <p:cNvSpPr txBox="1"/>
          <p:nvPr>
            <p:ph type="title"/>
          </p:nvPr>
        </p:nvSpPr>
        <p:spPr>
          <a:xfrm>
            <a:off x="320040" y="273844"/>
            <a:ext cx="8503800" cy="823500"/>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8"/>
          <p:cNvSpPr txBox="1"/>
          <p:nvPr>
            <p:ph idx="12" type="sldNum"/>
          </p:nvPr>
        </p:nvSpPr>
        <p:spPr>
          <a:xfrm>
            <a:off x="676656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800">
                <a:solidFill>
                  <a:schemeClr val="dk2"/>
                </a:solidFill>
                <a:latin typeface="Calibri"/>
                <a:ea typeface="Calibri"/>
                <a:cs typeface="Calibri"/>
                <a:sym typeface="Calibri"/>
              </a:defRPr>
            </a:lvl1pPr>
            <a:lvl2pPr indent="0" lvl="1" marL="0" algn="r">
              <a:spcBef>
                <a:spcPts val="0"/>
              </a:spcBef>
              <a:buNone/>
              <a:defRPr sz="800">
                <a:solidFill>
                  <a:schemeClr val="dk2"/>
                </a:solidFill>
                <a:latin typeface="Calibri"/>
                <a:ea typeface="Calibri"/>
                <a:cs typeface="Calibri"/>
                <a:sym typeface="Calibri"/>
              </a:defRPr>
            </a:lvl2pPr>
            <a:lvl3pPr indent="0" lvl="2" marL="0" algn="r">
              <a:spcBef>
                <a:spcPts val="0"/>
              </a:spcBef>
              <a:buNone/>
              <a:defRPr sz="800">
                <a:solidFill>
                  <a:schemeClr val="dk2"/>
                </a:solidFill>
                <a:latin typeface="Calibri"/>
                <a:ea typeface="Calibri"/>
                <a:cs typeface="Calibri"/>
                <a:sym typeface="Calibri"/>
              </a:defRPr>
            </a:lvl3pPr>
            <a:lvl4pPr indent="0" lvl="3" marL="0" algn="r">
              <a:spcBef>
                <a:spcPts val="0"/>
              </a:spcBef>
              <a:buNone/>
              <a:defRPr sz="800">
                <a:solidFill>
                  <a:schemeClr val="dk2"/>
                </a:solidFill>
                <a:latin typeface="Calibri"/>
                <a:ea typeface="Calibri"/>
                <a:cs typeface="Calibri"/>
                <a:sym typeface="Calibri"/>
              </a:defRPr>
            </a:lvl4pPr>
            <a:lvl5pPr indent="0" lvl="4" marL="0" algn="r">
              <a:spcBef>
                <a:spcPts val="0"/>
              </a:spcBef>
              <a:buNone/>
              <a:defRPr sz="800">
                <a:solidFill>
                  <a:schemeClr val="dk2"/>
                </a:solidFill>
                <a:latin typeface="Calibri"/>
                <a:ea typeface="Calibri"/>
                <a:cs typeface="Calibri"/>
                <a:sym typeface="Calibri"/>
              </a:defRPr>
            </a:lvl5pPr>
            <a:lvl6pPr indent="0" lvl="5" marL="0" algn="r">
              <a:spcBef>
                <a:spcPts val="0"/>
              </a:spcBef>
              <a:buNone/>
              <a:defRPr sz="800">
                <a:solidFill>
                  <a:schemeClr val="dk2"/>
                </a:solidFill>
                <a:latin typeface="Calibri"/>
                <a:ea typeface="Calibri"/>
                <a:cs typeface="Calibri"/>
                <a:sym typeface="Calibri"/>
              </a:defRPr>
            </a:lvl6pPr>
            <a:lvl7pPr indent="0" lvl="6" marL="0" algn="r">
              <a:spcBef>
                <a:spcPts val="0"/>
              </a:spcBef>
              <a:buNone/>
              <a:defRPr sz="800">
                <a:solidFill>
                  <a:schemeClr val="dk2"/>
                </a:solidFill>
                <a:latin typeface="Calibri"/>
                <a:ea typeface="Calibri"/>
                <a:cs typeface="Calibri"/>
                <a:sym typeface="Calibri"/>
              </a:defRPr>
            </a:lvl7pPr>
            <a:lvl8pPr indent="0" lvl="7" marL="0" algn="r">
              <a:spcBef>
                <a:spcPts val="0"/>
              </a:spcBef>
              <a:buNone/>
              <a:defRPr sz="800">
                <a:solidFill>
                  <a:schemeClr val="dk2"/>
                </a:solidFill>
                <a:latin typeface="Calibri"/>
                <a:ea typeface="Calibri"/>
                <a:cs typeface="Calibri"/>
                <a:sym typeface="Calibri"/>
              </a:defRPr>
            </a:lvl8pPr>
            <a:lvl9pPr indent="0" lvl="8" marL="0" algn="r">
              <a:spcBef>
                <a:spcPts val="0"/>
              </a:spcBef>
              <a:buNone/>
              <a:defRPr sz="800">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47" name="Google Shape;47;p8"/>
          <p:cNvSpPr txBox="1"/>
          <p:nvPr>
            <p:ph idx="1" type="body"/>
          </p:nvPr>
        </p:nvSpPr>
        <p:spPr>
          <a:xfrm>
            <a:off x="2137718" y="3671599"/>
            <a:ext cx="6686100" cy="1095600"/>
          </a:xfrm>
          <a:prstGeom prst="rect">
            <a:avLst/>
          </a:prstGeom>
          <a:noFill/>
          <a:ln>
            <a:noFill/>
          </a:ln>
        </p:spPr>
        <p:txBody>
          <a:bodyPr anchorCtr="0" anchor="ctr" bIns="45700" lIns="0" spcFirstLastPara="1" rIns="0" wrap="square" tIns="182875">
            <a:normAutofit/>
          </a:bodyPr>
          <a:lstStyle>
            <a:lvl1pPr indent="-342900" lvl="0" marL="457200" rtl="0" algn="l">
              <a:lnSpc>
                <a:spcPct val="90000"/>
              </a:lnSpc>
              <a:spcBef>
                <a:spcPts val="750"/>
              </a:spcBef>
              <a:spcAft>
                <a:spcPts val="0"/>
              </a:spcAft>
              <a:buSzPts val="1800"/>
              <a:buChar char="•"/>
              <a:defRPr b="0" i="0" sz="1800">
                <a:latin typeface="Calibri"/>
                <a:ea typeface="Calibri"/>
                <a:cs typeface="Calibri"/>
                <a:sym typeface="Calibri"/>
              </a:defRPr>
            </a:lvl1pPr>
            <a:lvl2pPr indent="-342900" lvl="1" marL="914400" rtl="0" algn="l">
              <a:lnSpc>
                <a:spcPct val="90000"/>
              </a:lnSpc>
              <a:spcBef>
                <a:spcPts val="375"/>
              </a:spcBef>
              <a:spcAft>
                <a:spcPts val="0"/>
              </a:spcAft>
              <a:buSzPts val="1800"/>
              <a:buChar char="•"/>
              <a:defRPr b="0" i="0" sz="1800">
                <a:latin typeface="Calibri"/>
                <a:ea typeface="Calibri"/>
                <a:cs typeface="Calibri"/>
                <a:sym typeface="Calibri"/>
              </a:defRPr>
            </a:lvl2pPr>
            <a:lvl3pPr indent="-228600" lvl="2" marL="1371600" rtl="0" algn="l">
              <a:lnSpc>
                <a:spcPct val="90000"/>
              </a:lnSpc>
              <a:spcBef>
                <a:spcPts val="375"/>
              </a:spcBef>
              <a:spcAft>
                <a:spcPts val="0"/>
              </a:spcAft>
              <a:buSzPts val="1800"/>
              <a:buNone/>
              <a:defRPr/>
            </a:lvl3pPr>
            <a:lvl4pPr indent="-342900" lvl="3" marL="1828800" rtl="0" algn="l">
              <a:lnSpc>
                <a:spcPct val="90000"/>
              </a:lnSpc>
              <a:spcBef>
                <a:spcPts val="375"/>
              </a:spcBef>
              <a:spcAft>
                <a:spcPts val="0"/>
              </a:spcAft>
              <a:buSzPts val="1800"/>
              <a:buChar char="•"/>
              <a:defRPr/>
            </a:lvl4pPr>
            <a:lvl5pPr indent="-342900" lvl="4" marL="2286000" rtl="0" algn="l">
              <a:lnSpc>
                <a:spcPct val="90000"/>
              </a:lnSpc>
              <a:spcBef>
                <a:spcPts val="375"/>
              </a:spcBef>
              <a:spcAft>
                <a:spcPts val="0"/>
              </a:spcAft>
              <a:buSzPts val="1800"/>
              <a:buChar char="•"/>
              <a:defRPr/>
            </a:lvl5pPr>
            <a:lvl6pPr indent="-342900" lvl="5" marL="2743200" rtl="0" algn="l">
              <a:lnSpc>
                <a:spcPct val="90000"/>
              </a:lnSpc>
              <a:spcBef>
                <a:spcPts val="375"/>
              </a:spcBef>
              <a:spcAft>
                <a:spcPts val="0"/>
              </a:spcAft>
              <a:buSzPts val="1800"/>
              <a:buChar char="•"/>
              <a:defRPr/>
            </a:lvl6pPr>
            <a:lvl7pPr indent="-342900" lvl="6" marL="3200400" rtl="0" algn="l">
              <a:lnSpc>
                <a:spcPct val="90000"/>
              </a:lnSpc>
              <a:spcBef>
                <a:spcPts val="375"/>
              </a:spcBef>
              <a:spcAft>
                <a:spcPts val="0"/>
              </a:spcAft>
              <a:buSzPts val="1800"/>
              <a:buChar char="•"/>
              <a:defRPr/>
            </a:lvl7pPr>
            <a:lvl8pPr indent="-342900" lvl="7" marL="3657600" rtl="0" algn="l">
              <a:lnSpc>
                <a:spcPct val="90000"/>
              </a:lnSpc>
              <a:spcBef>
                <a:spcPts val="375"/>
              </a:spcBef>
              <a:spcAft>
                <a:spcPts val="0"/>
              </a:spcAft>
              <a:buSzPts val="1800"/>
              <a:buChar char="•"/>
              <a:defRPr/>
            </a:lvl8pPr>
            <a:lvl9pPr indent="-342900" lvl="8" marL="4114800" rtl="0" algn="l">
              <a:lnSpc>
                <a:spcPct val="90000"/>
              </a:lnSpc>
              <a:spcBef>
                <a:spcPts val="375"/>
              </a:spcBef>
              <a:spcAft>
                <a:spcPts val="0"/>
              </a:spcAft>
              <a:buSzPts val="1800"/>
              <a:buChar char="•"/>
              <a:defRPr/>
            </a:lvl9pPr>
          </a:lstStyle>
          <a:p/>
        </p:txBody>
      </p:sp>
      <p:sp>
        <p:nvSpPr>
          <p:cNvPr id="48" name="Google Shape;48;p8"/>
          <p:cNvSpPr txBox="1"/>
          <p:nvPr>
            <p:ph idx="2" type="body"/>
          </p:nvPr>
        </p:nvSpPr>
        <p:spPr>
          <a:xfrm>
            <a:off x="2137717" y="2458052"/>
            <a:ext cx="6686100" cy="1095600"/>
          </a:xfrm>
          <a:prstGeom prst="rect">
            <a:avLst/>
          </a:prstGeom>
          <a:noFill/>
          <a:ln>
            <a:noFill/>
          </a:ln>
        </p:spPr>
        <p:txBody>
          <a:bodyPr anchorCtr="0" anchor="ctr" bIns="45700" lIns="0" spcFirstLastPara="1" rIns="0" wrap="square" tIns="182875">
            <a:normAutofit/>
          </a:bodyPr>
          <a:lstStyle>
            <a:lvl1pPr indent="-342900" lvl="0" marL="457200" rtl="0" algn="l">
              <a:lnSpc>
                <a:spcPct val="90000"/>
              </a:lnSpc>
              <a:spcBef>
                <a:spcPts val="750"/>
              </a:spcBef>
              <a:spcAft>
                <a:spcPts val="0"/>
              </a:spcAft>
              <a:buSzPts val="1800"/>
              <a:buChar char="•"/>
              <a:defRPr b="0" i="0" sz="1800">
                <a:latin typeface="Calibri"/>
                <a:ea typeface="Calibri"/>
                <a:cs typeface="Calibri"/>
                <a:sym typeface="Calibri"/>
              </a:defRPr>
            </a:lvl1pPr>
            <a:lvl2pPr indent="-342900" lvl="1" marL="914400" rtl="0" algn="l">
              <a:lnSpc>
                <a:spcPct val="90000"/>
              </a:lnSpc>
              <a:spcBef>
                <a:spcPts val="375"/>
              </a:spcBef>
              <a:spcAft>
                <a:spcPts val="0"/>
              </a:spcAft>
              <a:buSzPts val="1800"/>
              <a:buChar char="•"/>
              <a:defRPr b="0" i="0" sz="1800">
                <a:latin typeface="Calibri"/>
                <a:ea typeface="Calibri"/>
                <a:cs typeface="Calibri"/>
                <a:sym typeface="Calibri"/>
              </a:defRPr>
            </a:lvl2pPr>
            <a:lvl3pPr indent="-228600" lvl="2" marL="1371600" rtl="0" algn="l">
              <a:lnSpc>
                <a:spcPct val="90000"/>
              </a:lnSpc>
              <a:spcBef>
                <a:spcPts val="375"/>
              </a:spcBef>
              <a:spcAft>
                <a:spcPts val="0"/>
              </a:spcAft>
              <a:buSzPts val="1800"/>
              <a:buNone/>
              <a:defRPr/>
            </a:lvl3pPr>
            <a:lvl4pPr indent="-342900" lvl="3" marL="1828800" rtl="0" algn="l">
              <a:lnSpc>
                <a:spcPct val="90000"/>
              </a:lnSpc>
              <a:spcBef>
                <a:spcPts val="375"/>
              </a:spcBef>
              <a:spcAft>
                <a:spcPts val="0"/>
              </a:spcAft>
              <a:buSzPts val="1800"/>
              <a:buChar char="•"/>
              <a:defRPr/>
            </a:lvl4pPr>
            <a:lvl5pPr indent="-342900" lvl="4" marL="2286000" rtl="0" algn="l">
              <a:lnSpc>
                <a:spcPct val="90000"/>
              </a:lnSpc>
              <a:spcBef>
                <a:spcPts val="375"/>
              </a:spcBef>
              <a:spcAft>
                <a:spcPts val="0"/>
              </a:spcAft>
              <a:buSzPts val="1800"/>
              <a:buChar char="•"/>
              <a:defRPr/>
            </a:lvl5pPr>
            <a:lvl6pPr indent="-342900" lvl="5" marL="2743200" rtl="0" algn="l">
              <a:lnSpc>
                <a:spcPct val="90000"/>
              </a:lnSpc>
              <a:spcBef>
                <a:spcPts val="375"/>
              </a:spcBef>
              <a:spcAft>
                <a:spcPts val="0"/>
              </a:spcAft>
              <a:buSzPts val="1800"/>
              <a:buChar char="•"/>
              <a:defRPr/>
            </a:lvl6pPr>
            <a:lvl7pPr indent="-342900" lvl="6" marL="3200400" rtl="0" algn="l">
              <a:lnSpc>
                <a:spcPct val="90000"/>
              </a:lnSpc>
              <a:spcBef>
                <a:spcPts val="375"/>
              </a:spcBef>
              <a:spcAft>
                <a:spcPts val="0"/>
              </a:spcAft>
              <a:buSzPts val="1800"/>
              <a:buChar char="•"/>
              <a:defRPr/>
            </a:lvl7pPr>
            <a:lvl8pPr indent="-342900" lvl="7" marL="3657600" rtl="0" algn="l">
              <a:lnSpc>
                <a:spcPct val="90000"/>
              </a:lnSpc>
              <a:spcBef>
                <a:spcPts val="375"/>
              </a:spcBef>
              <a:spcAft>
                <a:spcPts val="0"/>
              </a:spcAft>
              <a:buSzPts val="1800"/>
              <a:buChar char="•"/>
              <a:defRPr/>
            </a:lvl8pPr>
            <a:lvl9pPr indent="-342900" lvl="8" marL="4114800" rtl="0" algn="l">
              <a:lnSpc>
                <a:spcPct val="90000"/>
              </a:lnSpc>
              <a:spcBef>
                <a:spcPts val="375"/>
              </a:spcBef>
              <a:spcAft>
                <a:spcPts val="0"/>
              </a:spcAft>
              <a:buSzPts val="1800"/>
              <a:buChar char="•"/>
              <a:defRPr/>
            </a:lvl9pPr>
          </a:lstStyle>
          <a:p/>
        </p:txBody>
      </p:sp>
      <p:sp>
        <p:nvSpPr>
          <p:cNvPr id="49" name="Google Shape;49;p8"/>
          <p:cNvSpPr txBox="1"/>
          <p:nvPr>
            <p:ph idx="3" type="body"/>
          </p:nvPr>
        </p:nvSpPr>
        <p:spPr>
          <a:xfrm>
            <a:off x="2137716" y="1199675"/>
            <a:ext cx="6686100" cy="1095600"/>
          </a:xfrm>
          <a:prstGeom prst="rect">
            <a:avLst/>
          </a:prstGeom>
          <a:noFill/>
          <a:ln>
            <a:noFill/>
          </a:ln>
        </p:spPr>
        <p:txBody>
          <a:bodyPr anchorCtr="0" anchor="ctr" bIns="45700" lIns="0" spcFirstLastPara="1" rIns="0" wrap="square" tIns="182875">
            <a:normAutofit/>
          </a:bodyPr>
          <a:lstStyle>
            <a:lvl1pPr indent="-342900" lvl="0" marL="457200" rtl="0" algn="l">
              <a:lnSpc>
                <a:spcPct val="90000"/>
              </a:lnSpc>
              <a:spcBef>
                <a:spcPts val="750"/>
              </a:spcBef>
              <a:spcAft>
                <a:spcPts val="0"/>
              </a:spcAft>
              <a:buClr>
                <a:schemeClr val="dk2"/>
              </a:buClr>
              <a:buSzPts val="1800"/>
              <a:buChar char="•"/>
              <a:defRPr b="0" i="0" sz="1800">
                <a:latin typeface="Calibri"/>
                <a:ea typeface="Calibri"/>
                <a:cs typeface="Calibri"/>
                <a:sym typeface="Calibri"/>
              </a:defRPr>
            </a:lvl1pPr>
            <a:lvl2pPr indent="-228600" lvl="1" marL="914400" rtl="0" algn="l">
              <a:lnSpc>
                <a:spcPct val="90000"/>
              </a:lnSpc>
              <a:spcBef>
                <a:spcPts val="375"/>
              </a:spcBef>
              <a:spcAft>
                <a:spcPts val="0"/>
              </a:spcAft>
              <a:buClr>
                <a:schemeClr val="dk2"/>
              </a:buClr>
              <a:buSzPts val="1800"/>
              <a:buNone/>
              <a:defRPr b="0" i="0" sz="1800">
                <a:latin typeface="Calibri"/>
                <a:ea typeface="Calibri"/>
                <a:cs typeface="Calibri"/>
                <a:sym typeface="Calibri"/>
              </a:defRPr>
            </a:lvl2pPr>
            <a:lvl3pPr indent="-228600" lvl="2" marL="1371600" rtl="0" algn="l">
              <a:lnSpc>
                <a:spcPct val="90000"/>
              </a:lnSpc>
              <a:spcBef>
                <a:spcPts val="375"/>
              </a:spcBef>
              <a:spcAft>
                <a:spcPts val="0"/>
              </a:spcAft>
              <a:buClr>
                <a:schemeClr val="dk2"/>
              </a:buClr>
              <a:buSzPts val="1800"/>
              <a:buNone/>
              <a:defRPr/>
            </a:lvl3pPr>
            <a:lvl4pPr indent="-342900" lvl="3" marL="1828800" rtl="0" algn="l">
              <a:lnSpc>
                <a:spcPct val="90000"/>
              </a:lnSpc>
              <a:spcBef>
                <a:spcPts val="375"/>
              </a:spcBef>
              <a:spcAft>
                <a:spcPts val="0"/>
              </a:spcAft>
              <a:buClr>
                <a:schemeClr val="dk2"/>
              </a:buClr>
              <a:buSzPts val="1800"/>
              <a:buChar char="•"/>
              <a:defRPr/>
            </a:lvl4pPr>
            <a:lvl5pPr indent="-342900" lvl="4" marL="2286000" rtl="0" algn="l">
              <a:lnSpc>
                <a:spcPct val="90000"/>
              </a:lnSpc>
              <a:spcBef>
                <a:spcPts val="375"/>
              </a:spcBef>
              <a:spcAft>
                <a:spcPts val="0"/>
              </a:spcAft>
              <a:buSzPts val="1800"/>
              <a:buChar char="•"/>
              <a:defRPr/>
            </a:lvl5pPr>
            <a:lvl6pPr indent="-342900" lvl="5" marL="2743200" rtl="0" algn="l">
              <a:lnSpc>
                <a:spcPct val="90000"/>
              </a:lnSpc>
              <a:spcBef>
                <a:spcPts val="375"/>
              </a:spcBef>
              <a:spcAft>
                <a:spcPts val="0"/>
              </a:spcAft>
              <a:buSzPts val="1800"/>
              <a:buChar char="•"/>
              <a:defRPr/>
            </a:lvl6pPr>
            <a:lvl7pPr indent="-342900" lvl="6" marL="3200400" rtl="0" algn="l">
              <a:lnSpc>
                <a:spcPct val="90000"/>
              </a:lnSpc>
              <a:spcBef>
                <a:spcPts val="375"/>
              </a:spcBef>
              <a:spcAft>
                <a:spcPts val="0"/>
              </a:spcAft>
              <a:buSzPts val="1800"/>
              <a:buChar char="•"/>
              <a:defRPr/>
            </a:lvl7pPr>
            <a:lvl8pPr indent="-342900" lvl="7" marL="3657600" rtl="0" algn="l">
              <a:lnSpc>
                <a:spcPct val="90000"/>
              </a:lnSpc>
              <a:spcBef>
                <a:spcPts val="375"/>
              </a:spcBef>
              <a:spcAft>
                <a:spcPts val="0"/>
              </a:spcAft>
              <a:buSzPts val="1800"/>
              <a:buChar char="•"/>
              <a:defRPr/>
            </a:lvl8pPr>
            <a:lvl9pPr indent="-342900" lvl="8" marL="4114800" rtl="0" algn="l">
              <a:lnSpc>
                <a:spcPct val="90000"/>
              </a:lnSpc>
              <a:spcBef>
                <a:spcPts val="375"/>
              </a:spcBef>
              <a:spcAft>
                <a:spcPts val="0"/>
              </a:spcAft>
              <a:buSzPts val="1800"/>
              <a:buChar char="•"/>
              <a:defRPr/>
            </a:lvl9pPr>
          </a:lstStyle>
          <a:p/>
        </p:txBody>
      </p:sp>
      <p:sp>
        <p:nvSpPr>
          <p:cNvPr id="50" name="Google Shape;50;p8"/>
          <p:cNvSpPr txBox="1"/>
          <p:nvPr/>
        </p:nvSpPr>
        <p:spPr>
          <a:xfrm>
            <a:off x="320040" y="1373558"/>
            <a:ext cx="12246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 sz="4800">
                <a:solidFill>
                  <a:schemeClr val="dk1"/>
                </a:solidFill>
                <a:latin typeface="Georgia"/>
                <a:ea typeface="Georgia"/>
                <a:cs typeface="Georgia"/>
                <a:sym typeface="Georgia"/>
              </a:rPr>
              <a:t>1</a:t>
            </a:r>
            <a:endParaRPr/>
          </a:p>
        </p:txBody>
      </p:sp>
      <p:sp>
        <p:nvSpPr>
          <p:cNvPr id="51" name="Google Shape;51;p8"/>
          <p:cNvSpPr txBox="1"/>
          <p:nvPr/>
        </p:nvSpPr>
        <p:spPr>
          <a:xfrm>
            <a:off x="320039" y="2458052"/>
            <a:ext cx="12246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 sz="4800">
                <a:solidFill>
                  <a:schemeClr val="dk1"/>
                </a:solidFill>
                <a:latin typeface="Georgia"/>
                <a:ea typeface="Georgia"/>
                <a:cs typeface="Georgia"/>
                <a:sym typeface="Georgia"/>
              </a:rPr>
              <a:t>2</a:t>
            </a:r>
            <a:endParaRPr/>
          </a:p>
        </p:txBody>
      </p:sp>
      <p:sp>
        <p:nvSpPr>
          <p:cNvPr id="52" name="Google Shape;52;p8"/>
          <p:cNvSpPr txBox="1"/>
          <p:nvPr/>
        </p:nvSpPr>
        <p:spPr>
          <a:xfrm>
            <a:off x="320039" y="3671599"/>
            <a:ext cx="12246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 sz="4800">
                <a:solidFill>
                  <a:schemeClr val="dk1"/>
                </a:solidFill>
                <a:latin typeface="Georgia"/>
                <a:ea typeface="Georgia"/>
                <a:cs typeface="Georgia"/>
                <a:sym typeface="Georgia"/>
              </a:rPr>
              <a:t>3</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ta slide">
  <p:cSld name="Data slide">
    <p:spTree>
      <p:nvGrpSpPr>
        <p:cNvPr id="53" name="Shape 53"/>
        <p:cNvGrpSpPr/>
        <p:nvPr/>
      </p:nvGrpSpPr>
      <p:grpSpPr>
        <a:xfrm>
          <a:off x="0" y="0"/>
          <a:ext cx="0" cy="0"/>
          <a:chOff x="0" y="0"/>
          <a:chExt cx="0" cy="0"/>
        </a:xfrm>
      </p:grpSpPr>
      <p:sp>
        <p:nvSpPr>
          <p:cNvPr id="54" name="Google Shape;54;p9"/>
          <p:cNvSpPr/>
          <p:nvPr/>
        </p:nvSpPr>
        <p:spPr>
          <a:xfrm>
            <a:off x="4572000" y="0"/>
            <a:ext cx="4572000" cy="51435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 name="Google Shape;55;p9"/>
          <p:cNvSpPr txBox="1"/>
          <p:nvPr>
            <p:ph type="title"/>
          </p:nvPr>
        </p:nvSpPr>
        <p:spPr>
          <a:xfrm>
            <a:off x="320040" y="273844"/>
            <a:ext cx="4023300" cy="823500"/>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20038" y="1231821"/>
            <a:ext cx="4023300" cy="3400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750"/>
              </a:spcBef>
              <a:spcAft>
                <a:spcPts val="0"/>
              </a:spcAft>
              <a:buSzPts val="1800"/>
              <a:buChar char="•"/>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57" name="Google Shape;57;p9"/>
          <p:cNvSpPr txBox="1"/>
          <p:nvPr>
            <p:ph idx="2" type="body"/>
          </p:nvPr>
        </p:nvSpPr>
        <p:spPr>
          <a:xfrm>
            <a:off x="4800600" y="273845"/>
            <a:ext cx="4023300" cy="43590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750"/>
              </a:spcBef>
              <a:spcAft>
                <a:spcPts val="0"/>
              </a:spcAft>
              <a:buSzPts val="1800"/>
              <a:buChar char="•"/>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58" name="Google Shape;58;p9"/>
          <p:cNvSpPr txBox="1"/>
          <p:nvPr>
            <p:ph idx="12" type="sldNum"/>
          </p:nvPr>
        </p:nvSpPr>
        <p:spPr>
          <a:xfrm>
            <a:off x="676656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59" name="Google Shape;59;p9"/>
          <p:cNvCxnSpPr/>
          <p:nvPr/>
        </p:nvCxnSpPr>
        <p:spPr>
          <a:xfrm>
            <a:off x="320040" y="4767263"/>
            <a:ext cx="8503800" cy="0"/>
          </a:xfrm>
          <a:prstGeom prst="straightConnector1">
            <a:avLst/>
          </a:prstGeom>
          <a:noFill/>
          <a:ln cap="flat" cmpd="sng" w="9525">
            <a:solidFill>
              <a:srgbClr val="7F7F7F"/>
            </a:solidFill>
            <a:prstDash val="solid"/>
            <a:miter lim="800000"/>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Thank You" showMasterSp="0">
  <p:cSld name="Divider - Thank You">
    <p:bg>
      <p:bgPr>
        <a:solidFill>
          <a:srgbClr val="53565A"/>
        </a:solidFill>
      </p:bgPr>
    </p:bg>
    <p:spTree>
      <p:nvGrpSpPr>
        <p:cNvPr id="60" name="Shape 60"/>
        <p:cNvGrpSpPr/>
        <p:nvPr/>
      </p:nvGrpSpPr>
      <p:grpSpPr>
        <a:xfrm>
          <a:off x="0" y="0"/>
          <a:ext cx="0" cy="0"/>
          <a:chOff x="0" y="0"/>
          <a:chExt cx="0" cy="0"/>
        </a:xfrm>
      </p:grpSpPr>
      <p:pic>
        <p:nvPicPr>
          <p:cNvPr descr="Background pattern&#10;&#10;Description automatically generated" id="61" name="Google Shape;61;p10"/>
          <p:cNvPicPr preferRelativeResize="0"/>
          <p:nvPr/>
        </p:nvPicPr>
        <p:blipFill rotWithShape="1">
          <a:blip r:embed="rId2">
            <a:alphaModFix amt="70000"/>
          </a:blip>
          <a:srcRect b="0" l="0" r="0" t="0"/>
          <a:stretch/>
        </p:blipFill>
        <p:spPr>
          <a:xfrm>
            <a:off x="0" y="0"/>
            <a:ext cx="2893735" cy="5143500"/>
          </a:xfrm>
          <a:prstGeom prst="rect">
            <a:avLst/>
          </a:prstGeom>
          <a:noFill/>
          <a:ln>
            <a:noFill/>
          </a:ln>
        </p:spPr>
      </p:pic>
      <p:sp>
        <p:nvSpPr>
          <p:cNvPr id="62" name="Google Shape;62;p10"/>
          <p:cNvSpPr txBox="1"/>
          <p:nvPr>
            <p:ph idx="12" type="sldNum"/>
          </p:nvPr>
        </p:nvSpPr>
        <p:spPr>
          <a:xfrm>
            <a:off x="676656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800">
                <a:solidFill>
                  <a:schemeClr val="lt1"/>
                </a:solidFill>
                <a:latin typeface="Calibri"/>
                <a:ea typeface="Calibri"/>
                <a:cs typeface="Calibri"/>
                <a:sym typeface="Calibri"/>
              </a:defRPr>
            </a:lvl1pPr>
            <a:lvl2pPr indent="0" lvl="1" marL="0" algn="r">
              <a:spcBef>
                <a:spcPts val="0"/>
              </a:spcBef>
              <a:buNone/>
              <a:defRPr sz="800">
                <a:solidFill>
                  <a:schemeClr val="lt1"/>
                </a:solidFill>
                <a:latin typeface="Calibri"/>
                <a:ea typeface="Calibri"/>
                <a:cs typeface="Calibri"/>
                <a:sym typeface="Calibri"/>
              </a:defRPr>
            </a:lvl2pPr>
            <a:lvl3pPr indent="0" lvl="2" marL="0" algn="r">
              <a:spcBef>
                <a:spcPts val="0"/>
              </a:spcBef>
              <a:buNone/>
              <a:defRPr sz="800">
                <a:solidFill>
                  <a:schemeClr val="lt1"/>
                </a:solidFill>
                <a:latin typeface="Calibri"/>
                <a:ea typeface="Calibri"/>
                <a:cs typeface="Calibri"/>
                <a:sym typeface="Calibri"/>
              </a:defRPr>
            </a:lvl3pPr>
            <a:lvl4pPr indent="0" lvl="3" marL="0" algn="r">
              <a:spcBef>
                <a:spcPts val="0"/>
              </a:spcBef>
              <a:buNone/>
              <a:defRPr sz="800">
                <a:solidFill>
                  <a:schemeClr val="lt1"/>
                </a:solidFill>
                <a:latin typeface="Calibri"/>
                <a:ea typeface="Calibri"/>
                <a:cs typeface="Calibri"/>
                <a:sym typeface="Calibri"/>
              </a:defRPr>
            </a:lvl4pPr>
            <a:lvl5pPr indent="0" lvl="4" marL="0" algn="r">
              <a:spcBef>
                <a:spcPts val="0"/>
              </a:spcBef>
              <a:buNone/>
              <a:defRPr sz="800">
                <a:solidFill>
                  <a:schemeClr val="lt1"/>
                </a:solidFill>
                <a:latin typeface="Calibri"/>
                <a:ea typeface="Calibri"/>
                <a:cs typeface="Calibri"/>
                <a:sym typeface="Calibri"/>
              </a:defRPr>
            </a:lvl5pPr>
            <a:lvl6pPr indent="0" lvl="5" marL="0" algn="r">
              <a:spcBef>
                <a:spcPts val="0"/>
              </a:spcBef>
              <a:buNone/>
              <a:defRPr sz="800">
                <a:solidFill>
                  <a:schemeClr val="lt1"/>
                </a:solidFill>
                <a:latin typeface="Calibri"/>
                <a:ea typeface="Calibri"/>
                <a:cs typeface="Calibri"/>
                <a:sym typeface="Calibri"/>
              </a:defRPr>
            </a:lvl6pPr>
            <a:lvl7pPr indent="0" lvl="6" marL="0" algn="r">
              <a:spcBef>
                <a:spcPts val="0"/>
              </a:spcBef>
              <a:buNone/>
              <a:defRPr sz="800">
                <a:solidFill>
                  <a:schemeClr val="lt1"/>
                </a:solidFill>
                <a:latin typeface="Calibri"/>
                <a:ea typeface="Calibri"/>
                <a:cs typeface="Calibri"/>
                <a:sym typeface="Calibri"/>
              </a:defRPr>
            </a:lvl7pPr>
            <a:lvl8pPr indent="0" lvl="7" marL="0" algn="r">
              <a:spcBef>
                <a:spcPts val="0"/>
              </a:spcBef>
              <a:buNone/>
              <a:defRPr sz="800">
                <a:solidFill>
                  <a:schemeClr val="lt1"/>
                </a:solidFill>
                <a:latin typeface="Calibri"/>
                <a:ea typeface="Calibri"/>
                <a:cs typeface="Calibri"/>
                <a:sym typeface="Calibri"/>
              </a:defRPr>
            </a:lvl8pPr>
            <a:lvl9pPr indent="0" lvl="8" marL="0" algn="r">
              <a:spcBef>
                <a:spcPts val="0"/>
              </a:spcBef>
              <a:buNone/>
              <a:defRPr sz="800">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63" name="Google Shape;63;p10"/>
          <p:cNvSpPr txBox="1"/>
          <p:nvPr>
            <p:ph type="ctrTitle"/>
          </p:nvPr>
        </p:nvSpPr>
        <p:spPr>
          <a:xfrm>
            <a:off x="1363132" y="2968838"/>
            <a:ext cx="7479900" cy="1660500"/>
          </a:xfrm>
          <a:prstGeom prst="rect">
            <a:avLst/>
          </a:prstGeom>
          <a:noFill/>
          <a:ln>
            <a:noFill/>
          </a:ln>
        </p:spPr>
        <p:txBody>
          <a:bodyPr anchorCtr="0" anchor="b" bIns="45700" lIns="0" spcFirstLastPara="1" rIns="0" wrap="square" tIns="45700">
            <a:normAutofit/>
          </a:bodyPr>
          <a:lstStyle>
            <a:lvl1pPr lvl="0" algn="r">
              <a:lnSpc>
                <a:spcPct val="90000"/>
              </a:lnSpc>
              <a:spcBef>
                <a:spcPts val="0"/>
              </a:spcBef>
              <a:spcAft>
                <a:spcPts val="0"/>
              </a:spcAft>
              <a:buClr>
                <a:schemeClr val="lt1"/>
              </a:buClr>
              <a:buSzPts val="4500"/>
              <a:buFont typeface="Georgia"/>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64" name="Google Shape;64;p10"/>
          <p:cNvPicPr preferRelativeResize="0"/>
          <p:nvPr/>
        </p:nvPicPr>
        <p:blipFill rotWithShape="1">
          <a:blip r:embed="rId3">
            <a:alphaModFix/>
          </a:blip>
          <a:srcRect b="0" l="0" r="0" t="0"/>
          <a:stretch/>
        </p:blipFill>
        <p:spPr>
          <a:xfrm>
            <a:off x="313316" y="4850851"/>
            <a:ext cx="1283818" cy="154634"/>
          </a:xfrm>
          <a:prstGeom prst="rect">
            <a:avLst/>
          </a:prstGeom>
          <a:noFill/>
          <a:ln>
            <a:noFill/>
          </a:ln>
        </p:spPr>
      </p:pic>
      <p:cxnSp>
        <p:nvCxnSpPr>
          <p:cNvPr id="65" name="Google Shape;65;p10"/>
          <p:cNvCxnSpPr/>
          <p:nvPr/>
        </p:nvCxnSpPr>
        <p:spPr>
          <a:xfrm>
            <a:off x="320040" y="4767263"/>
            <a:ext cx="8503800" cy="0"/>
          </a:xfrm>
          <a:prstGeom prst="straightConnector1">
            <a:avLst/>
          </a:prstGeom>
          <a:noFill/>
          <a:ln cap="flat" cmpd="sng" w="9525">
            <a:solidFill>
              <a:schemeClr val="lt1"/>
            </a:solidFill>
            <a:prstDash val="solid"/>
            <a:miter lim="800000"/>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mage">
  <p:cSld name="Title Slide w/image">
    <p:bg>
      <p:bgPr>
        <a:solidFill>
          <a:schemeClr val="dk1"/>
        </a:solidFill>
      </p:bgPr>
    </p:bg>
    <p:spTree>
      <p:nvGrpSpPr>
        <p:cNvPr id="66" name="Shape 66"/>
        <p:cNvGrpSpPr/>
        <p:nvPr/>
      </p:nvGrpSpPr>
      <p:grpSpPr>
        <a:xfrm>
          <a:off x="0" y="0"/>
          <a:ext cx="0" cy="0"/>
          <a:chOff x="0" y="0"/>
          <a:chExt cx="0" cy="0"/>
        </a:xfrm>
      </p:grpSpPr>
      <p:pic>
        <p:nvPicPr>
          <p:cNvPr descr="Background pattern&#10;&#10;Description automatically generated" id="67" name="Google Shape;67;p11"/>
          <p:cNvPicPr preferRelativeResize="0"/>
          <p:nvPr/>
        </p:nvPicPr>
        <p:blipFill rotWithShape="1">
          <a:blip r:embed="rId2">
            <a:alphaModFix/>
          </a:blip>
          <a:srcRect b="0" l="0" r="0" t="0"/>
          <a:stretch/>
        </p:blipFill>
        <p:spPr>
          <a:xfrm>
            <a:off x="0" y="0"/>
            <a:ext cx="2893735" cy="5143500"/>
          </a:xfrm>
          <a:prstGeom prst="rect">
            <a:avLst/>
          </a:prstGeom>
          <a:noFill/>
          <a:ln>
            <a:noFill/>
          </a:ln>
        </p:spPr>
      </p:pic>
      <p:sp>
        <p:nvSpPr>
          <p:cNvPr id="68" name="Google Shape;68;p11"/>
          <p:cNvSpPr txBox="1"/>
          <p:nvPr>
            <p:ph type="ctrTitle"/>
          </p:nvPr>
        </p:nvSpPr>
        <p:spPr>
          <a:xfrm>
            <a:off x="5025813" y="435998"/>
            <a:ext cx="3931800" cy="2959500"/>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lt1"/>
              </a:buClr>
              <a:buSzPts val="4500"/>
              <a:buFont typeface="Georgia"/>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1"/>
          <p:cNvSpPr txBox="1"/>
          <p:nvPr>
            <p:ph idx="1" type="subTitle"/>
          </p:nvPr>
        </p:nvSpPr>
        <p:spPr>
          <a:xfrm>
            <a:off x="5025813" y="3468623"/>
            <a:ext cx="3935400" cy="1079100"/>
          </a:xfrm>
          <a:prstGeom prst="rect">
            <a:avLst/>
          </a:prstGeom>
          <a:noFill/>
          <a:ln>
            <a:noFill/>
          </a:ln>
        </p:spPr>
        <p:txBody>
          <a:bodyPr anchorCtr="0" anchor="t" bIns="45700" lIns="0" spcFirstLastPara="1" rIns="0" wrap="square" tIns="45700">
            <a:normAutofit/>
          </a:bodyPr>
          <a:lstStyle>
            <a:lvl1pPr lvl="0" algn="l">
              <a:lnSpc>
                <a:spcPct val="90000"/>
              </a:lnSpc>
              <a:spcBef>
                <a:spcPts val="750"/>
              </a:spcBef>
              <a:spcAft>
                <a:spcPts val="0"/>
              </a:spcAft>
              <a:buClr>
                <a:schemeClr val="lt1"/>
              </a:buClr>
              <a:buSzPts val="1800"/>
              <a:buNone/>
              <a:defRPr sz="1800">
                <a:solidFill>
                  <a:schemeClr val="lt1"/>
                </a:solidFill>
              </a:defRPr>
            </a:lvl1pPr>
            <a:lvl2pPr lvl="1" algn="ctr">
              <a:lnSpc>
                <a:spcPct val="90000"/>
              </a:lnSpc>
              <a:spcBef>
                <a:spcPts val="375"/>
              </a:spcBef>
              <a:spcAft>
                <a:spcPts val="0"/>
              </a:spcAft>
              <a:buClr>
                <a:schemeClr val="dk2"/>
              </a:buClr>
              <a:buSzPts val="1500"/>
              <a:buNone/>
              <a:defRPr sz="1500"/>
            </a:lvl2pPr>
            <a:lvl3pPr lvl="2" algn="ctr">
              <a:lnSpc>
                <a:spcPct val="90000"/>
              </a:lnSpc>
              <a:spcBef>
                <a:spcPts val="375"/>
              </a:spcBef>
              <a:spcAft>
                <a:spcPts val="0"/>
              </a:spcAft>
              <a:buClr>
                <a:schemeClr val="dk2"/>
              </a:buClr>
              <a:buSzPts val="1350"/>
              <a:buNone/>
              <a:defRPr sz="1350"/>
            </a:lvl3pPr>
            <a:lvl4pPr lvl="3" algn="ctr">
              <a:lnSpc>
                <a:spcPct val="90000"/>
              </a:lnSpc>
              <a:spcBef>
                <a:spcPts val="375"/>
              </a:spcBef>
              <a:spcAft>
                <a:spcPts val="0"/>
              </a:spcAft>
              <a:buClr>
                <a:schemeClr val="dk2"/>
              </a:buClr>
              <a:buSzPts val="1200"/>
              <a:buNone/>
              <a:defRPr sz="1200"/>
            </a:lvl4pPr>
            <a:lvl5pPr lvl="4" algn="ctr">
              <a:lnSpc>
                <a:spcPct val="90000"/>
              </a:lnSpc>
              <a:spcBef>
                <a:spcPts val="375"/>
              </a:spcBef>
              <a:spcAft>
                <a:spcPts val="0"/>
              </a:spcAft>
              <a:buClr>
                <a:schemeClr val="dk2"/>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pic>
        <p:nvPicPr>
          <p:cNvPr id="70" name="Google Shape;70;p11"/>
          <p:cNvPicPr preferRelativeResize="0"/>
          <p:nvPr/>
        </p:nvPicPr>
        <p:blipFill rotWithShape="1">
          <a:blip r:embed="rId3">
            <a:alphaModFix/>
          </a:blip>
          <a:srcRect b="0" l="0" r="0" t="0"/>
          <a:stretch/>
        </p:blipFill>
        <p:spPr>
          <a:xfrm>
            <a:off x="7357532" y="4844799"/>
            <a:ext cx="1440182" cy="173467"/>
          </a:xfrm>
          <a:prstGeom prst="rect">
            <a:avLst/>
          </a:prstGeom>
          <a:noFill/>
          <a:ln>
            <a:noFill/>
          </a:ln>
        </p:spPr>
      </p:pic>
      <p:sp>
        <p:nvSpPr>
          <p:cNvPr id="71" name="Google Shape;71;p11"/>
          <p:cNvSpPr/>
          <p:nvPr>
            <p:ph idx="2" type="pic"/>
          </p:nvPr>
        </p:nvSpPr>
        <p:spPr>
          <a:xfrm>
            <a:off x="325437" y="435999"/>
            <a:ext cx="4111500" cy="4111500"/>
          </a:xfrm>
          <a:prstGeom prst="rect">
            <a:avLst/>
          </a:prstGeom>
          <a:solidFill>
            <a:schemeClr val="lt2"/>
          </a:solid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txt &amp; graphic elements" showMasterSp="0">
  <p:cSld name="Title Slide w/txt &amp; graphic elements">
    <p:bg>
      <p:bgPr>
        <a:solidFill>
          <a:schemeClr val="lt1"/>
        </a:solidFill>
      </p:bgPr>
    </p:bg>
    <p:spTree>
      <p:nvGrpSpPr>
        <p:cNvPr id="72" name="Shape 72"/>
        <p:cNvGrpSpPr/>
        <p:nvPr/>
      </p:nvGrpSpPr>
      <p:grpSpPr>
        <a:xfrm>
          <a:off x="0" y="0"/>
          <a:ext cx="0" cy="0"/>
          <a:chOff x="0" y="0"/>
          <a:chExt cx="0" cy="0"/>
        </a:xfrm>
      </p:grpSpPr>
      <p:pic>
        <p:nvPicPr>
          <p:cNvPr descr="Background pattern&#10;&#10;Description automatically generated" id="73" name="Google Shape;73;p12"/>
          <p:cNvPicPr preferRelativeResize="0"/>
          <p:nvPr/>
        </p:nvPicPr>
        <p:blipFill rotWithShape="1">
          <a:blip r:embed="rId2">
            <a:alphaModFix/>
          </a:blip>
          <a:srcRect b="0" l="0" r="0" t="0"/>
          <a:stretch/>
        </p:blipFill>
        <p:spPr>
          <a:xfrm>
            <a:off x="0" y="0"/>
            <a:ext cx="2893735" cy="5143500"/>
          </a:xfrm>
          <a:prstGeom prst="rect">
            <a:avLst/>
          </a:prstGeom>
          <a:noFill/>
          <a:ln>
            <a:noFill/>
          </a:ln>
        </p:spPr>
      </p:pic>
      <p:sp>
        <p:nvSpPr>
          <p:cNvPr id="74" name="Google Shape;74;p12"/>
          <p:cNvSpPr txBox="1"/>
          <p:nvPr>
            <p:ph type="ctrTitle"/>
          </p:nvPr>
        </p:nvSpPr>
        <p:spPr>
          <a:xfrm>
            <a:off x="1363133" y="1760220"/>
            <a:ext cx="7476000" cy="1264800"/>
          </a:xfrm>
          <a:prstGeom prst="rect">
            <a:avLst/>
          </a:prstGeom>
          <a:noFill/>
          <a:ln>
            <a:noFill/>
          </a:ln>
        </p:spPr>
        <p:txBody>
          <a:bodyPr anchorCtr="0" anchor="t" bIns="45700" lIns="0" spcFirstLastPara="1" rIns="0" wrap="square" tIns="45700">
            <a:normAutofit/>
          </a:bodyPr>
          <a:lstStyle>
            <a:lvl1pPr lvl="0" algn="l">
              <a:lnSpc>
                <a:spcPct val="90000"/>
              </a:lnSpc>
              <a:spcBef>
                <a:spcPts val="0"/>
              </a:spcBef>
              <a:spcAft>
                <a:spcPts val="0"/>
              </a:spcAft>
              <a:buClr>
                <a:schemeClr val="dk2"/>
              </a:buClr>
              <a:buSzPts val="4500"/>
              <a:buFont typeface="Georgia"/>
              <a:buNone/>
              <a:defRPr sz="45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2"/>
          <p:cNvSpPr txBox="1"/>
          <p:nvPr>
            <p:ph idx="1" type="subTitle"/>
          </p:nvPr>
        </p:nvSpPr>
        <p:spPr>
          <a:xfrm>
            <a:off x="3688080" y="3048002"/>
            <a:ext cx="3935400" cy="1079100"/>
          </a:xfrm>
          <a:prstGeom prst="rect">
            <a:avLst/>
          </a:prstGeom>
          <a:noFill/>
          <a:ln>
            <a:noFill/>
          </a:ln>
        </p:spPr>
        <p:txBody>
          <a:bodyPr anchorCtr="0" anchor="t" bIns="45700" lIns="0" spcFirstLastPara="1" rIns="0" wrap="square" tIns="45700">
            <a:normAutofit/>
          </a:bodyPr>
          <a:lstStyle>
            <a:lvl1pPr lvl="0" algn="l">
              <a:lnSpc>
                <a:spcPct val="90000"/>
              </a:lnSpc>
              <a:spcBef>
                <a:spcPts val="750"/>
              </a:spcBef>
              <a:spcAft>
                <a:spcPts val="0"/>
              </a:spcAft>
              <a:buClr>
                <a:schemeClr val="dk2"/>
              </a:buClr>
              <a:buSzPts val="1800"/>
              <a:buNone/>
              <a:defRPr sz="1800">
                <a:solidFill>
                  <a:schemeClr val="dk2"/>
                </a:solidFill>
              </a:defRPr>
            </a:lvl1pPr>
            <a:lvl2pPr lvl="1" algn="ctr">
              <a:lnSpc>
                <a:spcPct val="90000"/>
              </a:lnSpc>
              <a:spcBef>
                <a:spcPts val="375"/>
              </a:spcBef>
              <a:spcAft>
                <a:spcPts val="0"/>
              </a:spcAft>
              <a:buClr>
                <a:schemeClr val="dk2"/>
              </a:buClr>
              <a:buSzPts val="1500"/>
              <a:buNone/>
              <a:defRPr sz="1500"/>
            </a:lvl2pPr>
            <a:lvl3pPr lvl="2" algn="ctr">
              <a:lnSpc>
                <a:spcPct val="90000"/>
              </a:lnSpc>
              <a:spcBef>
                <a:spcPts val="375"/>
              </a:spcBef>
              <a:spcAft>
                <a:spcPts val="0"/>
              </a:spcAft>
              <a:buClr>
                <a:schemeClr val="dk2"/>
              </a:buClr>
              <a:buSzPts val="1350"/>
              <a:buNone/>
              <a:defRPr sz="1350"/>
            </a:lvl3pPr>
            <a:lvl4pPr lvl="3" algn="ctr">
              <a:lnSpc>
                <a:spcPct val="90000"/>
              </a:lnSpc>
              <a:spcBef>
                <a:spcPts val="375"/>
              </a:spcBef>
              <a:spcAft>
                <a:spcPts val="0"/>
              </a:spcAft>
              <a:buClr>
                <a:schemeClr val="dk2"/>
              </a:buClr>
              <a:buSzPts val="1200"/>
              <a:buNone/>
              <a:defRPr sz="1200"/>
            </a:lvl4pPr>
            <a:lvl5pPr lvl="4" algn="ctr">
              <a:lnSpc>
                <a:spcPct val="90000"/>
              </a:lnSpc>
              <a:spcBef>
                <a:spcPts val="375"/>
              </a:spcBef>
              <a:spcAft>
                <a:spcPts val="0"/>
              </a:spcAft>
              <a:buClr>
                <a:schemeClr val="dk2"/>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pic>
        <p:nvPicPr>
          <p:cNvPr id="76" name="Google Shape;76;p12"/>
          <p:cNvPicPr preferRelativeResize="0"/>
          <p:nvPr/>
        </p:nvPicPr>
        <p:blipFill rotWithShape="1">
          <a:blip r:embed="rId3">
            <a:alphaModFix/>
          </a:blip>
          <a:srcRect b="0" l="0" r="0" t="0"/>
          <a:stretch/>
        </p:blipFill>
        <p:spPr>
          <a:xfrm>
            <a:off x="7357532" y="4844799"/>
            <a:ext cx="1440182" cy="173467"/>
          </a:xfrm>
          <a:prstGeom prst="rect">
            <a:avLst/>
          </a:prstGeom>
          <a:noFill/>
          <a:ln>
            <a:noFill/>
          </a:ln>
        </p:spPr>
      </p:pic>
      <p:pic>
        <p:nvPicPr>
          <p:cNvPr descr="Logo&#10;&#10;Description automatically generated" id="77" name="Google Shape;77;p12"/>
          <p:cNvPicPr preferRelativeResize="0"/>
          <p:nvPr/>
        </p:nvPicPr>
        <p:blipFill rotWithShape="1">
          <a:blip r:embed="rId4">
            <a:alphaModFix/>
          </a:blip>
          <a:srcRect b="0" l="0" r="0" t="0"/>
          <a:stretch/>
        </p:blipFill>
        <p:spPr>
          <a:xfrm>
            <a:off x="7357532" y="4778131"/>
            <a:ext cx="1440180" cy="306804"/>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txt on white" showMasterSp="0">
  <p:cSld name="Title Slide w/txt on white">
    <p:bg>
      <p:bgPr>
        <a:solidFill>
          <a:schemeClr val="lt1"/>
        </a:solidFill>
      </p:bgPr>
    </p:bg>
    <p:spTree>
      <p:nvGrpSpPr>
        <p:cNvPr id="78" name="Shape 78"/>
        <p:cNvGrpSpPr/>
        <p:nvPr/>
      </p:nvGrpSpPr>
      <p:grpSpPr>
        <a:xfrm>
          <a:off x="0" y="0"/>
          <a:ext cx="0" cy="0"/>
          <a:chOff x="0" y="0"/>
          <a:chExt cx="0" cy="0"/>
        </a:xfrm>
      </p:grpSpPr>
      <p:sp>
        <p:nvSpPr>
          <p:cNvPr id="79" name="Google Shape;79;p13"/>
          <p:cNvSpPr txBox="1"/>
          <p:nvPr>
            <p:ph type="ctrTitle"/>
          </p:nvPr>
        </p:nvSpPr>
        <p:spPr>
          <a:xfrm>
            <a:off x="1363132" y="1760220"/>
            <a:ext cx="7479900" cy="1264800"/>
          </a:xfrm>
          <a:prstGeom prst="rect">
            <a:avLst/>
          </a:prstGeom>
          <a:noFill/>
          <a:ln>
            <a:noFill/>
          </a:ln>
        </p:spPr>
        <p:txBody>
          <a:bodyPr anchorCtr="0" anchor="t" bIns="45700" lIns="0" spcFirstLastPara="1" rIns="0" wrap="square" tIns="45700">
            <a:normAutofit/>
          </a:bodyPr>
          <a:lstStyle>
            <a:lvl1pPr lvl="0" algn="l">
              <a:lnSpc>
                <a:spcPct val="90000"/>
              </a:lnSpc>
              <a:spcBef>
                <a:spcPts val="0"/>
              </a:spcBef>
              <a:spcAft>
                <a:spcPts val="0"/>
              </a:spcAft>
              <a:buClr>
                <a:schemeClr val="dk2"/>
              </a:buClr>
              <a:buSzPts val="4500"/>
              <a:buFont typeface="Georgia"/>
              <a:buNone/>
              <a:defRPr sz="45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3"/>
          <p:cNvSpPr txBox="1"/>
          <p:nvPr>
            <p:ph idx="1" type="subTitle"/>
          </p:nvPr>
        </p:nvSpPr>
        <p:spPr>
          <a:xfrm>
            <a:off x="3688080" y="3048002"/>
            <a:ext cx="3935400" cy="1079100"/>
          </a:xfrm>
          <a:prstGeom prst="rect">
            <a:avLst/>
          </a:prstGeom>
          <a:noFill/>
          <a:ln>
            <a:noFill/>
          </a:ln>
        </p:spPr>
        <p:txBody>
          <a:bodyPr anchorCtr="0" anchor="t" bIns="45700" lIns="0" spcFirstLastPara="1" rIns="0" wrap="square" tIns="45700">
            <a:normAutofit/>
          </a:bodyPr>
          <a:lstStyle>
            <a:lvl1pPr lvl="0" algn="l">
              <a:lnSpc>
                <a:spcPct val="90000"/>
              </a:lnSpc>
              <a:spcBef>
                <a:spcPts val="750"/>
              </a:spcBef>
              <a:spcAft>
                <a:spcPts val="0"/>
              </a:spcAft>
              <a:buClr>
                <a:schemeClr val="dk2"/>
              </a:buClr>
              <a:buSzPts val="1800"/>
              <a:buNone/>
              <a:defRPr sz="1800">
                <a:solidFill>
                  <a:schemeClr val="dk2"/>
                </a:solidFill>
              </a:defRPr>
            </a:lvl1pPr>
            <a:lvl2pPr lvl="1" algn="ctr">
              <a:lnSpc>
                <a:spcPct val="90000"/>
              </a:lnSpc>
              <a:spcBef>
                <a:spcPts val="375"/>
              </a:spcBef>
              <a:spcAft>
                <a:spcPts val="0"/>
              </a:spcAft>
              <a:buClr>
                <a:schemeClr val="dk2"/>
              </a:buClr>
              <a:buSzPts val="1500"/>
              <a:buNone/>
              <a:defRPr sz="1500"/>
            </a:lvl2pPr>
            <a:lvl3pPr lvl="2" algn="ctr">
              <a:lnSpc>
                <a:spcPct val="90000"/>
              </a:lnSpc>
              <a:spcBef>
                <a:spcPts val="375"/>
              </a:spcBef>
              <a:spcAft>
                <a:spcPts val="0"/>
              </a:spcAft>
              <a:buClr>
                <a:schemeClr val="dk2"/>
              </a:buClr>
              <a:buSzPts val="1350"/>
              <a:buNone/>
              <a:defRPr sz="1350"/>
            </a:lvl3pPr>
            <a:lvl4pPr lvl="3" algn="ctr">
              <a:lnSpc>
                <a:spcPct val="90000"/>
              </a:lnSpc>
              <a:spcBef>
                <a:spcPts val="375"/>
              </a:spcBef>
              <a:spcAft>
                <a:spcPts val="0"/>
              </a:spcAft>
              <a:buClr>
                <a:schemeClr val="dk2"/>
              </a:buClr>
              <a:buSzPts val="1200"/>
              <a:buNone/>
              <a:defRPr sz="1200"/>
            </a:lvl4pPr>
            <a:lvl5pPr lvl="4" algn="ctr">
              <a:lnSpc>
                <a:spcPct val="90000"/>
              </a:lnSpc>
              <a:spcBef>
                <a:spcPts val="375"/>
              </a:spcBef>
              <a:spcAft>
                <a:spcPts val="0"/>
              </a:spcAft>
              <a:buClr>
                <a:schemeClr val="dk2"/>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pic>
        <p:nvPicPr>
          <p:cNvPr id="81" name="Google Shape;81;p13"/>
          <p:cNvPicPr preferRelativeResize="0"/>
          <p:nvPr/>
        </p:nvPicPr>
        <p:blipFill rotWithShape="1">
          <a:blip r:embed="rId2">
            <a:alphaModFix/>
          </a:blip>
          <a:srcRect b="0" l="0" r="0" t="0"/>
          <a:stretch/>
        </p:blipFill>
        <p:spPr>
          <a:xfrm>
            <a:off x="7357532" y="4844799"/>
            <a:ext cx="1440182" cy="173467"/>
          </a:xfrm>
          <a:prstGeom prst="rect">
            <a:avLst/>
          </a:prstGeom>
          <a:noFill/>
          <a:ln>
            <a:noFill/>
          </a:ln>
        </p:spPr>
      </p:pic>
      <p:pic>
        <p:nvPicPr>
          <p:cNvPr descr="Logo&#10;&#10;Description automatically generated" id="82" name="Google Shape;82;p13"/>
          <p:cNvPicPr preferRelativeResize="0"/>
          <p:nvPr/>
        </p:nvPicPr>
        <p:blipFill rotWithShape="1">
          <a:blip r:embed="rId3">
            <a:alphaModFix/>
          </a:blip>
          <a:srcRect b="0" l="0" r="0" t="0"/>
          <a:stretch/>
        </p:blipFill>
        <p:spPr>
          <a:xfrm>
            <a:off x="7357532" y="4778131"/>
            <a:ext cx="1440180" cy="306804"/>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 inset w/images">
  <p:cSld name="Three story inset w/images">
    <p:spTree>
      <p:nvGrpSpPr>
        <p:cNvPr id="83" name="Shape 83"/>
        <p:cNvGrpSpPr/>
        <p:nvPr/>
      </p:nvGrpSpPr>
      <p:grpSpPr>
        <a:xfrm>
          <a:off x="0" y="0"/>
          <a:ext cx="0" cy="0"/>
          <a:chOff x="0" y="0"/>
          <a:chExt cx="0" cy="0"/>
        </a:xfrm>
      </p:grpSpPr>
      <p:sp>
        <p:nvSpPr>
          <p:cNvPr id="84" name="Google Shape;84;p14"/>
          <p:cNvSpPr txBox="1"/>
          <p:nvPr>
            <p:ph type="title"/>
          </p:nvPr>
        </p:nvSpPr>
        <p:spPr>
          <a:xfrm>
            <a:off x="320040" y="273844"/>
            <a:ext cx="8503800" cy="823500"/>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14"/>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4"/>
          <p:cNvSpPr txBox="1"/>
          <p:nvPr>
            <p:ph idx="12" type="sldNum"/>
          </p:nvPr>
        </p:nvSpPr>
        <p:spPr>
          <a:xfrm>
            <a:off x="676656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87" name="Google Shape;87;p14"/>
          <p:cNvCxnSpPr/>
          <p:nvPr/>
        </p:nvCxnSpPr>
        <p:spPr>
          <a:xfrm>
            <a:off x="320040" y="4767263"/>
            <a:ext cx="8503800" cy="0"/>
          </a:xfrm>
          <a:prstGeom prst="straightConnector1">
            <a:avLst/>
          </a:prstGeom>
          <a:noFill/>
          <a:ln cap="flat" cmpd="sng" w="9525">
            <a:solidFill>
              <a:srgbClr val="7F7F7F"/>
            </a:solidFill>
            <a:prstDash val="solid"/>
            <a:miter lim="800000"/>
            <a:headEnd len="sm" w="sm" type="none"/>
            <a:tailEnd len="sm" w="sm" type="none"/>
          </a:ln>
        </p:spPr>
      </p:cxnSp>
      <p:sp>
        <p:nvSpPr>
          <p:cNvPr id="88" name="Google Shape;88;p14"/>
          <p:cNvSpPr/>
          <p:nvPr>
            <p:ph idx="2" type="pic"/>
          </p:nvPr>
        </p:nvSpPr>
        <p:spPr>
          <a:xfrm>
            <a:off x="320675" y="1231582"/>
            <a:ext cx="2743200" cy="1440300"/>
          </a:xfrm>
          <a:prstGeom prst="rect">
            <a:avLst/>
          </a:prstGeom>
          <a:solidFill>
            <a:schemeClr val="lt2"/>
          </a:solidFill>
          <a:ln>
            <a:noFill/>
          </a:ln>
        </p:spPr>
      </p:sp>
      <p:sp>
        <p:nvSpPr>
          <p:cNvPr id="89" name="Google Shape;89;p14"/>
          <p:cNvSpPr/>
          <p:nvPr>
            <p:ph idx="3" type="pic"/>
          </p:nvPr>
        </p:nvSpPr>
        <p:spPr>
          <a:xfrm>
            <a:off x="3200400" y="1231439"/>
            <a:ext cx="2743200" cy="1440300"/>
          </a:xfrm>
          <a:prstGeom prst="rect">
            <a:avLst/>
          </a:prstGeom>
          <a:solidFill>
            <a:schemeClr val="lt2"/>
          </a:solidFill>
          <a:ln>
            <a:noFill/>
          </a:ln>
        </p:spPr>
      </p:sp>
      <p:sp>
        <p:nvSpPr>
          <p:cNvPr id="90" name="Google Shape;90;p14"/>
          <p:cNvSpPr/>
          <p:nvPr>
            <p:ph idx="4" type="pic"/>
          </p:nvPr>
        </p:nvSpPr>
        <p:spPr>
          <a:xfrm>
            <a:off x="6080125" y="1231439"/>
            <a:ext cx="2743200" cy="1440300"/>
          </a:xfrm>
          <a:prstGeom prst="rect">
            <a:avLst/>
          </a:prstGeom>
          <a:solidFill>
            <a:schemeClr val="lt2"/>
          </a:solidFill>
          <a:ln>
            <a:noFill/>
          </a:ln>
        </p:spPr>
      </p:sp>
      <p:sp>
        <p:nvSpPr>
          <p:cNvPr id="91" name="Google Shape;91;p14"/>
          <p:cNvSpPr txBox="1"/>
          <p:nvPr>
            <p:ph idx="1" type="body"/>
          </p:nvPr>
        </p:nvSpPr>
        <p:spPr>
          <a:xfrm>
            <a:off x="320675" y="2838928"/>
            <a:ext cx="2743200" cy="1654500"/>
          </a:xfrm>
          <a:prstGeom prst="rect">
            <a:avLst/>
          </a:prstGeom>
          <a:noFill/>
          <a:ln>
            <a:noFill/>
          </a:ln>
        </p:spPr>
        <p:txBody>
          <a:bodyPr anchorCtr="0" anchor="t" bIns="45700" lIns="0" spcFirstLastPara="1" rIns="0" wrap="square" tIns="45700">
            <a:noAutofit/>
          </a:bodyPr>
          <a:lstStyle>
            <a:lvl1pPr indent="-228600" lvl="0" marL="457200" algn="l">
              <a:lnSpc>
                <a:spcPct val="90000"/>
              </a:lnSpc>
              <a:spcBef>
                <a:spcPts val="750"/>
              </a:spcBef>
              <a:spcAft>
                <a:spcPts val="0"/>
              </a:spcAft>
              <a:buClr>
                <a:schemeClr val="dk2"/>
              </a:buClr>
              <a:buSzPts val="1800"/>
              <a:buNone/>
              <a:defRPr b="0" sz="1800">
                <a:latin typeface="Calibri"/>
                <a:ea typeface="Calibri"/>
                <a:cs typeface="Calibri"/>
                <a:sym typeface="Calibri"/>
              </a:defRPr>
            </a:lvl1pPr>
            <a:lvl2pPr indent="-342900" lvl="1" marL="914400" algn="l">
              <a:lnSpc>
                <a:spcPct val="90000"/>
              </a:lnSpc>
              <a:spcBef>
                <a:spcPts val="375"/>
              </a:spcBef>
              <a:spcAft>
                <a:spcPts val="0"/>
              </a:spcAft>
              <a:buClr>
                <a:schemeClr val="dk2"/>
              </a:buClr>
              <a:buSzPts val="1800"/>
              <a:buChar char="•"/>
              <a:defRPr/>
            </a:lvl2pPr>
            <a:lvl3pPr indent="-342900" lvl="2" marL="1371600" algn="l">
              <a:lnSpc>
                <a:spcPct val="90000"/>
              </a:lnSpc>
              <a:spcBef>
                <a:spcPts val="375"/>
              </a:spcBef>
              <a:spcAft>
                <a:spcPts val="0"/>
              </a:spcAft>
              <a:buClr>
                <a:schemeClr val="dk2"/>
              </a:buClr>
              <a:buSzPts val="1800"/>
              <a:buChar char="•"/>
              <a:defRPr/>
            </a:lvl3pPr>
            <a:lvl4pPr indent="-342900" lvl="3" marL="1828800" algn="l">
              <a:lnSpc>
                <a:spcPct val="90000"/>
              </a:lnSpc>
              <a:spcBef>
                <a:spcPts val="375"/>
              </a:spcBef>
              <a:spcAft>
                <a:spcPts val="0"/>
              </a:spcAft>
              <a:buClr>
                <a:schemeClr val="dk2"/>
              </a:buClr>
              <a:buSzPts val="1800"/>
              <a:buChar char="•"/>
              <a:defRPr/>
            </a:lvl4pPr>
            <a:lvl5pPr indent="-342900" lvl="4" marL="2286000" algn="l">
              <a:lnSpc>
                <a:spcPct val="90000"/>
              </a:lnSpc>
              <a:spcBef>
                <a:spcPts val="375"/>
              </a:spcBef>
              <a:spcAft>
                <a:spcPts val="0"/>
              </a:spcAft>
              <a:buClr>
                <a:schemeClr val="dk2"/>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92" name="Google Shape;92;p14"/>
          <p:cNvSpPr txBox="1"/>
          <p:nvPr>
            <p:ph idx="5" type="body"/>
          </p:nvPr>
        </p:nvSpPr>
        <p:spPr>
          <a:xfrm>
            <a:off x="3200400" y="2838928"/>
            <a:ext cx="2743200" cy="1654500"/>
          </a:xfrm>
          <a:prstGeom prst="rect">
            <a:avLst/>
          </a:prstGeom>
          <a:noFill/>
          <a:ln>
            <a:noFill/>
          </a:ln>
        </p:spPr>
        <p:txBody>
          <a:bodyPr anchorCtr="0" anchor="t" bIns="45700" lIns="0" spcFirstLastPara="1" rIns="0" wrap="square" tIns="45700">
            <a:noAutofit/>
          </a:bodyPr>
          <a:lstStyle>
            <a:lvl1pPr indent="-228600" lvl="0" marL="457200" algn="l">
              <a:lnSpc>
                <a:spcPct val="90000"/>
              </a:lnSpc>
              <a:spcBef>
                <a:spcPts val="750"/>
              </a:spcBef>
              <a:spcAft>
                <a:spcPts val="0"/>
              </a:spcAft>
              <a:buClr>
                <a:schemeClr val="dk2"/>
              </a:buClr>
              <a:buSzPts val="1800"/>
              <a:buNone/>
              <a:defRPr b="0" sz="1800">
                <a:latin typeface="Calibri"/>
                <a:ea typeface="Calibri"/>
                <a:cs typeface="Calibri"/>
                <a:sym typeface="Calibri"/>
              </a:defRPr>
            </a:lvl1pPr>
            <a:lvl2pPr indent="-342900" lvl="1" marL="914400" algn="l">
              <a:lnSpc>
                <a:spcPct val="90000"/>
              </a:lnSpc>
              <a:spcBef>
                <a:spcPts val="375"/>
              </a:spcBef>
              <a:spcAft>
                <a:spcPts val="0"/>
              </a:spcAft>
              <a:buClr>
                <a:schemeClr val="dk2"/>
              </a:buClr>
              <a:buSzPts val="1800"/>
              <a:buChar char="•"/>
              <a:defRPr/>
            </a:lvl2pPr>
            <a:lvl3pPr indent="-342900" lvl="2" marL="1371600" algn="l">
              <a:lnSpc>
                <a:spcPct val="90000"/>
              </a:lnSpc>
              <a:spcBef>
                <a:spcPts val="375"/>
              </a:spcBef>
              <a:spcAft>
                <a:spcPts val="0"/>
              </a:spcAft>
              <a:buClr>
                <a:schemeClr val="dk2"/>
              </a:buClr>
              <a:buSzPts val="1800"/>
              <a:buChar char="•"/>
              <a:defRPr/>
            </a:lvl3pPr>
            <a:lvl4pPr indent="-342900" lvl="3" marL="1828800" algn="l">
              <a:lnSpc>
                <a:spcPct val="90000"/>
              </a:lnSpc>
              <a:spcBef>
                <a:spcPts val="375"/>
              </a:spcBef>
              <a:spcAft>
                <a:spcPts val="0"/>
              </a:spcAft>
              <a:buClr>
                <a:schemeClr val="dk2"/>
              </a:buClr>
              <a:buSzPts val="1800"/>
              <a:buChar char="•"/>
              <a:defRPr/>
            </a:lvl4pPr>
            <a:lvl5pPr indent="-342900" lvl="4" marL="2286000" algn="l">
              <a:lnSpc>
                <a:spcPct val="90000"/>
              </a:lnSpc>
              <a:spcBef>
                <a:spcPts val="375"/>
              </a:spcBef>
              <a:spcAft>
                <a:spcPts val="0"/>
              </a:spcAft>
              <a:buClr>
                <a:schemeClr val="dk2"/>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93" name="Google Shape;93;p14"/>
          <p:cNvSpPr txBox="1"/>
          <p:nvPr>
            <p:ph idx="6" type="body"/>
          </p:nvPr>
        </p:nvSpPr>
        <p:spPr>
          <a:xfrm>
            <a:off x="6080125" y="2838928"/>
            <a:ext cx="2743200" cy="1654500"/>
          </a:xfrm>
          <a:prstGeom prst="rect">
            <a:avLst/>
          </a:prstGeom>
          <a:noFill/>
          <a:ln>
            <a:noFill/>
          </a:ln>
        </p:spPr>
        <p:txBody>
          <a:bodyPr anchorCtr="0" anchor="t" bIns="45700" lIns="0" spcFirstLastPara="1" rIns="0" wrap="square" tIns="45700">
            <a:noAutofit/>
          </a:bodyPr>
          <a:lstStyle>
            <a:lvl1pPr indent="-228600" lvl="0" marL="457200" algn="l">
              <a:lnSpc>
                <a:spcPct val="90000"/>
              </a:lnSpc>
              <a:spcBef>
                <a:spcPts val="750"/>
              </a:spcBef>
              <a:spcAft>
                <a:spcPts val="0"/>
              </a:spcAft>
              <a:buClr>
                <a:schemeClr val="dk2"/>
              </a:buClr>
              <a:buSzPts val="1800"/>
              <a:buNone/>
              <a:defRPr b="0" sz="1800">
                <a:latin typeface="Calibri"/>
                <a:ea typeface="Calibri"/>
                <a:cs typeface="Calibri"/>
                <a:sym typeface="Calibri"/>
              </a:defRPr>
            </a:lvl1pPr>
            <a:lvl2pPr indent="-342900" lvl="1" marL="914400" algn="l">
              <a:lnSpc>
                <a:spcPct val="90000"/>
              </a:lnSpc>
              <a:spcBef>
                <a:spcPts val="375"/>
              </a:spcBef>
              <a:spcAft>
                <a:spcPts val="0"/>
              </a:spcAft>
              <a:buClr>
                <a:schemeClr val="dk2"/>
              </a:buClr>
              <a:buSzPts val="1800"/>
              <a:buChar char="•"/>
              <a:defRPr/>
            </a:lvl2pPr>
            <a:lvl3pPr indent="-342900" lvl="2" marL="1371600" algn="l">
              <a:lnSpc>
                <a:spcPct val="90000"/>
              </a:lnSpc>
              <a:spcBef>
                <a:spcPts val="375"/>
              </a:spcBef>
              <a:spcAft>
                <a:spcPts val="0"/>
              </a:spcAft>
              <a:buClr>
                <a:schemeClr val="dk2"/>
              </a:buClr>
              <a:buSzPts val="1800"/>
              <a:buChar char="•"/>
              <a:defRPr/>
            </a:lvl3pPr>
            <a:lvl4pPr indent="-342900" lvl="3" marL="1828800" algn="l">
              <a:lnSpc>
                <a:spcPct val="90000"/>
              </a:lnSpc>
              <a:spcBef>
                <a:spcPts val="375"/>
              </a:spcBef>
              <a:spcAft>
                <a:spcPts val="0"/>
              </a:spcAft>
              <a:buClr>
                <a:schemeClr val="dk2"/>
              </a:buClr>
              <a:buSzPts val="1800"/>
              <a:buChar char="•"/>
              <a:defRPr/>
            </a:lvl4pPr>
            <a:lvl5pPr indent="-342900" lvl="4" marL="2286000" algn="l">
              <a:lnSpc>
                <a:spcPct val="90000"/>
              </a:lnSpc>
              <a:spcBef>
                <a:spcPts val="375"/>
              </a:spcBef>
              <a:spcAft>
                <a:spcPts val="0"/>
              </a:spcAft>
              <a:buClr>
                <a:schemeClr val="dk2"/>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 inset w/images (Cardinal bkgd)">
  <p:cSld name="Three story inset w/images (Cardinal bkgd)">
    <p:bg>
      <p:bgPr>
        <a:solidFill>
          <a:schemeClr val="dk1"/>
        </a:solidFill>
      </p:bgPr>
    </p:bg>
    <p:spTree>
      <p:nvGrpSpPr>
        <p:cNvPr id="94" name="Shape 94"/>
        <p:cNvGrpSpPr/>
        <p:nvPr/>
      </p:nvGrpSpPr>
      <p:grpSpPr>
        <a:xfrm>
          <a:off x="0" y="0"/>
          <a:ext cx="0" cy="0"/>
          <a:chOff x="0" y="0"/>
          <a:chExt cx="0" cy="0"/>
        </a:xfrm>
      </p:grpSpPr>
      <p:sp>
        <p:nvSpPr>
          <p:cNvPr id="95" name="Google Shape;95;p15"/>
          <p:cNvSpPr txBox="1"/>
          <p:nvPr>
            <p:ph type="title"/>
          </p:nvPr>
        </p:nvSpPr>
        <p:spPr>
          <a:xfrm>
            <a:off x="320040" y="273844"/>
            <a:ext cx="8503800" cy="823500"/>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lt1"/>
              </a:buClr>
              <a:buSzPts val="3200"/>
              <a:buFont typeface="Georgia"/>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15"/>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15"/>
          <p:cNvSpPr txBox="1"/>
          <p:nvPr>
            <p:ph idx="12" type="sldNum"/>
          </p:nvPr>
        </p:nvSpPr>
        <p:spPr>
          <a:xfrm>
            <a:off x="676656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800">
                <a:solidFill>
                  <a:schemeClr val="lt1"/>
                </a:solidFill>
                <a:latin typeface="Calibri"/>
                <a:ea typeface="Calibri"/>
                <a:cs typeface="Calibri"/>
                <a:sym typeface="Calibri"/>
              </a:defRPr>
            </a:lvl1pPr>
            <a:lvl2pPr indent="0" lvl="1" marL="0" algn="r">
              <a:spcBef>
                <a:spcPts val="0"/>
              </a:spcBef>
              <a:buNone/>
              <a:defRPr sz="800">
                <a:solidFill>
                  <a:schemeClr val="lt1"/>
                </a:solidFill>
                <a:latin typeface="Calibri"/>
                <a:ea typeface="Calibri"/>
                <a:cs typeface="Calibri"/>
                <a:sym typeface="Calibri"/>
              </a:defRPr>
            </a:lvl2pPr>
            <a:lvl3pPr indent="0" lvl="2" marL="0" algn="r">
              <a:spcBef>
                <a:spcPts val="0"/>
              </a:spcBef>
              <a:buNone/>
              <a:defRPr sz="800">
                <a:solidFill>
                  <a:schemeClr val="lt1"/>
                </a:solidFill>
                <a:latin typeface="Calibri"/>
                <a:ea typeface="Calibri"/>
                <a:cs typeface="Calibri"/>
                <a:sym typeface="Calibri"/>
              </a:defRPr>
            </a:lvl3pPr>
            <a:lvl4pPr indent="0" lvl="3" marL="0" algn="r">
              <a:spcBef>
                <a:spcPts val="0"/>
              </a:spcBef>
              <a:buNone/>
              <a:defRPr sz="800">
                <a:solidFill>
                  <a:schemeClr val="lt1"/>
                </a:solidFill>
                <a:latin typeface="Calibri"/>
                <a:ea typeface="Calibri"/>
                <a:cs typeface="Calibri"/>
                <a:sym typeface="Calibri"/>
              </a:defRPr>
            </a:lvl4pPr>
            <a:lvl5pPr indent="0" lvl="4" marL="0" algn="r">
              <a:spcBef>
                <a:spcPts val="0"/>
              </a:spcBef>
              <a:buNone/>
              <a:defRPr sz="800">
                <a:solidFill>
                  <a:schemeClr val="lt1"/>
                </a:solidFill>
                <a:latin typeface="Calibri"/>
                <a:ea typeface="Calibri"/>
                <a:cs typeface="Calibri"/>
                <a:sym typeface="Calibri"/>
              </a:defRPr>
            </a:lvl5pPr>
            <a:lvl6pPr indent="0" lvl="5" marL="0" algn="r">
              <a:spcBef>
                <a:spcPts val="0"/>
              </a:spcBef>
              <a:buNone/>
              <a:defRPr sz="800">
                <a:solidFill>
                  <a:schemeClr val="lt1"/>
                </a:solidFill>
                <a:latin typeface="Calibri"/>
                <a:ea typeface="Calibri"/>
                <a:cs typeface="Calibri"/>
                <a:sym typeface="Calibri"/>
              </a:defRPr>
            </a:lvl6pPr>
            <a:lvl7pPr indent="0" lvl="6" marL="0" algn="r">
              <a:spcBef>
                <a:spcPts val="0"/>
              </a:spcBef>
              <a:buNone/>
              <a:defRPr sz="800">
                <a:solidFill>
                  <a:schemeClr val="lt1"/>
                </a:solidFill>
                <a:latin typeface="Calibri"/>
                <a:ea typeface="Calibri"/>
                <a:cs typeface="Calibri"/>
                <a:sym typeface="Calibri"/>
              </a:defRPr>
            </a:lvl7pPr>
            <a:lvl8pPr indent="0" lvl="7" marL="0" algn="r">
              <a:spcBef>
                <a:spcPts val="0"/>
              </a:spcBef>
              <a:buNone/>
              <a:defRPr sz="800">
                <a:solidFill>
                  <a:schemeClr val="lt1"/>
                </a:solidFill>
                <a:latin typeface="Calibri"/>
                <a:ea typeface="Calibri"/>
                <a:cs typeface="Calibri"/>
                <a:sym typeface="Calibri"/>
              </a:defRPr>
            </a:lvl8pPr>
            <a:lvl9pPr indent="0" lvl="8" marL="0" algn="r">
              <a:spcBef>
                <a:spcPts val="0"/>
              </a:spcBef>
              <a:buNone/>
              <a:defRPr sz="800">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cxnSp>
        <p:nvCxnSpPr>
          <p:cNvPr id="98" name="Google Shape;98;p15"/>
          <p:cNvCxnSpPr/>
          <p:nvPr/>
        </p:nvCxnSpPr>
        <p:spPr>
          <a:xfrm>
            <a:off x="320040" y="4767263"/>
            <a:ext cx="8503800" cy="0"/>
          </a:xfrm>
          <a:prstGeom prst="straightConnector1">
            <a:avLst/>
          </a:prstGeom>
          <a:noFill/>
          <a:ln cap="flat" cmpd="sng" w="9525">
            <a:solidFill>
              <a:schemeClr val="lt1"/>
            </a:solidFill>
            <a:prstDash val="solid"/>
            <a:miter lim="800000"/>
            <a:headEnd len="sm" w="sm" type="none"/>
            <a:tailEnd len="sm" w="sm" type="none"/>
          </a:ln>
        </p:spPr>
      </p:cxnSp>
      <p:sp>
        <p:nvSpPr>
          <p:cNvPr id="99" name="Google Shape;99;p15"/>
          <p:cNvSpPr/>
          <p:nvPr>
            <p:ph idx="2" type="pic"/>
          </p:nvPr>
        </p:nvSpPr>
        <p:spPr>
          <a:xfrm>
            <a:off x="320675" y="1231582"/>
            <a:ext cx="2743200" cy="1440300"/>
          </a:xfrm>
          <a:prstGeom prst="rect">
            <a:avLst/>
          </a:prstGeom>
          <a:solidFill>
            <a:schemeClr val="lt2"/>
          </a:solidFill>
          <a:ln>
            <a:noFill/>
          </a:ln>
        </p:spPr>
      </p:sp>
      <p:sp>
        <p:nvSpPr>
          <p:cNvPr id="100" name="Google Shape;100;p15"/>
          <p:cNvSpPr/>
          <p:nvPr>
            <p:ph idx="3" type="pic"/>
          </p:nvPr>
        </p:nvSpPr>
        <p:spPr>
          <a:xfrm>
            <a:off x="3200400" y="1231439"/>
            <a:ext cx="2743200" cy="1440300"/>
          </a:xfrm>
          <a:prstGeom prst="rect">
            <a:avLst/>
          </a:prstGeom>
          <a:solidFill>
            <a:schemeClr val="lt2"/>
          </a:solidFill>
          <a:ln>
            <a:noFill/>
          </a:ln>
        </p:spPr>
      </p:sp>
      <p:sp>
        <p:nvSpPr>
          <p:cNvPr id="101" name="Google Shape;101;p15"/>
          <p:cNvSpPr/>
          <p:nvPr>
            <p:ph idx="4" type="pic"/>
          </p:nvPr>
        </p:nvSpPr>
        <p:spPr>
          <a:xfrm>
            <a:off x="6080125" y="1231439"/>
            <a:ext cx="2743200" cy="1440300"/>
          </a:xfrm>
          <a:prstGeom prst="rect">
            <a:avLst/>
          </a:prstGeom>
          <a:solidFill>
            <a:schemeClr val="lt2"/>
          </a:solidFill>
          <a:ln>
            <a:noFill/>
          </a:ln>
        </p:spPr>
      </p:sp>
      <p:sp>
        <p:nvSpPr>
          <p:cNvPr id="102" name="Google Shape;102;p15"/>
          <p:cNvSpPr txBox="1"/>
          <p:nvPr>
            <p:ph idx="1" type="body"/>
          </p:nvPr>
        </p:nvSpPr>
        <p:spPr>
          <a:xfrm>
            <a:off x="320675" y="2838928"/>
            <a:ext cx="2743200" cy="1654500"/>
          </a:xfrm>
          <a:prstGeom prst="rect">
            <a:avLst/>
          </a:prstGeom>
          <a:noFill/>
          <a:ln>
            <a:noFill/>
          </a:ln>
        </p:spPr>
        <p:txBody>
          <a:bodyPr anchorCtr="0" anchor="t" bIns="45700" lIns="0" spcFirstLastPara="1" rIns="0" wrap="square" tIns="45700">
            <a:noAutofit/>
          </a:bodyPr>
          <a:lstStyle>
            <a:lvl1pPr indent="-228600" lvl="0" marL="457200" algn="l">
              <a:lnSpc>
                <a:spcPct val="90000"/>
              </a:lnSpc>
              <a:spcBef>
                <a:spcPts val="750"/>
              </a:spcBef>
              <a:spcAft>
                <a:spcPts val="0"/>
              </a:spcAft>
              <a:buClr>
                <a:schemeClr val="lt1"/>
              </a:buClr>
              <a:buSzPts val="1800"/>
              <a:buNone/>
              <a:defRPr b="0" sz="1800">
                <a:solidFill>
                  <a:schemeClr val="lt1"/>
                </a:solidFill>
                <a:latin typeface="Calibri"/>
                <a:ea typeface="Calibri"/>
                <a:cs typeface="Calibri"/>
                <a:sym typeface="Calibri"/>
              </a:defRPr>
            </a:lvl1pPr>
            <a:lvl2pPr indent="-342900" lvl="1" marL="914400" algn="l">
              <a:lnSpc>
                <a:spcPct val="90000"/>
              </a:lnSpc>
              <a:spcBef>
                <a:spcPts val="375"/>
              </a:spcBef>
              <a:spcAft>
                <a:spcPts val="0"/>
              </a:spcAft>
              <a:buClr>
                <a:schemeClr val="lt1"/>
              </a:buClr>
              <a:buSzPts val="1800"/>
              <a:buChar char="•"/>
              <a:defRPr>
                <a:solidFill>
                  <a:schemeClr val="lt1"/>
                </a:solidFill>
              </a:defRPr>
            </a:lvl2pPr>
            <a:lvl3pPr indent="-342900" lvl="2" marL="1371600" algn="l">
              <a:lnSpc>
                <a:spcPct val="90000"/>
              </a:lnSpc>
              <a:spcBef>
                <a:spcPts val="375"/>
              </a:spcBef>
              <a:spcAft>
                <a:spcPts val="0"/>
              </a:spcAft>
              <a:buClr>
                <a:schemeClr val="lt1"/>
              </a:buClr>
              <a:buSzPts val="1800"/>
              <a:buChar char="•"/>
              <a:defRPr>
                <a:solidFill>
                  <a:schemeClr val="lt1"/>
                </a:solidFill>
              </a:defRPr>
            </a:lvl3pPr>
            <a:lvl4pPr indent="-342900" lvl="3" marL="1828800" algn="l">
              <a:lnSpc>
                <a:spcPct val="90000"/>
              </a:lnSpc>
              <a:spcBef>
                <a:spcPts val="375"/>
              </a:spcBef>
              <a:spcAft>
                <a:spcPts val="0"/>
              </a:spcAft>
              <a:buClr>
                <a:schemeClr val="lt1"/>
              </a:buClr>
              <a:buSzPts val="1800"/>
              <a:buChar char="•"/>
              <a:defRPr>
                <a:solidFill>
                  <a:schemeClr val="lt1"/>
                </a:solidFill>
              </a:defRPr>
            </a:lvl4pPr>
            <a:lvl5pPr indent="-342900" lvl="4" marL="2286000" algn="l">
              <a:lnSpc>
                <a:spcPct val="90000"/>
              </a:lnSpc>
              <a:spcBef>
                <a:spcPts val="375"/>
              </a:spcBef>
              <a:spcAft>
                <a:spcPts val="0"/>
              </a:spcAft>
              <a:buClr>
                <a:schemeClr val="lt1"/>
              </a:buClr>
              <a:buSzPts val="1800"/>
              <a:buChar char="•"/>
              <a:defRPr>
                <a:solidFill>
                  <a:schemeClr val="lt1"/>
                </a:solidFill>
              </a:defRPr>
            </a:lvl5pPr>
            <a:lvl6pPr indent="-342900" lvl="5" marL="2743200" algn="l">
              <a:lnSpc>
                <a:spcPct val="90000"/>
              </a:lnSpc>
              <a:spcBef>
                <a:spcPts val="375"/>
              </a:spcBef>
              <a:spcAft>
                <a:spcPts val="0"/>
              </a:spcAft>
              <a:buClr>
                <a:schemeClr val="lt1"/>
              </a:buClr>
              <a:buSzPts val="1800"/>
              <a:buChar char="•"/>
              <a:defRPr>
                <a:solidFill>
                  <a:schemeClr val="lt1"/>
                </a:solidFill>
              </a:defRPr>
            </a:lvl6pPr>
            <a:lvl7pPr indent="-342900" lvl="6" marL="3200400" algn="l">
              <a:lnSpc>
                <a:spcPct val="90000"/>
              </a:lnSpc>
              <a:spcBef>
                <a:spcPts val="375"/>
              </a:spcBef>
              <a:spcAft>
                <a:spcPts val="0"/>
              </a:spcAft>
              <a:buClr>
                <a:schemeClr val="lt1"/>
              </a:buClr>
              <a:buSzPts val="1800"/>
              <a:buChar char="•"/>
              <a:defRPr>
                <a:solidFill>
                  <a:schemeClr val="lt1"/>
                </a:solidFill>
              </a:defRPr>
            </a:lvl7pPr>
            <a:lvl8pPr indent="-342900" lvl="7" marL="3657600" algn="l">
              <a:lnSpc>
                <a:spcPct val="90000"/>
              </a:lnSpc>
              <a:spcBef>
                <a:spcPts val="375"/>
              </a:spcBef>
              <a:spcAft>
                <a:spcPts val="0"/>
              </a:spcAft>
              <a:buClr>
                <a:schemeClr val="lt1"/>
              </a:buClr>
              <a:buSzPts val="1800"/>
              <a:buChar char="•"/>
              <a:defRPr>
                <a:solidFill>
                  <a:schemeClr val="lt1"/>
                </a:solidFill>
              </a:defRPr>
            </a:lvl8pPr>
            <a:lvl9pPr indent="-342900" lvl="8" marL="4114800" algn="l">
              <a:lnSpc>
                <a:spcPct val="90000"/>
              </a:lnSpc>
              <a:spcBef>
                <a:spcPts val="375"/>
              </a:spcBef>
              <a:spcAft>
                <a:spcPts val="0"/>
              </a:spcAft>
              <a:buClr>
                <a:schemeClr val="lt1"/>
              </a:buClr>
              <a:buSzPts val="1800"/>
              <a:buChar char="•"/>
              <a:defRPr>
                <a:solidFill>
                  <a:schemeClr val="lt1"/>
                </a:solidFill>
              </a:defRPr>
            </a:lvl9pPr>
          </a:lstStyle>
          <a:p/>
        </p:txBody>
      </p:sp>
      <p:sp>
        <p:nvSpPr>
          <p:cNvPr id="103" name="Google Shape;103;p15"/>
          <p:cNvSpPr txBox="1"/>
          <p:nvPr>
            <p:ph idx="5" type="body"/>
          </p:nvPr>
        </p:nvSpPr>
        <p:spPr>
          <a:xfrm>
            <a:off x="3200400" y="2838928"/>
            <a:ext cx="2743200" cy="1654500"/>
          </a:xfrm>
          <a:prstGeom prst="rect">
            <a:avLst/>
          </a:prstGeom>
          <a:noFill/>
          <a:ln>
            <a:noFill/>
          </a:ln>
        </p:spPr>
        <p:txBody>
          <a:bodyPr anchorCtr="0" anchor="t" bIns="45700" lIns="0" spcFirstLastPara="1" rIns="0" wrap="square" tIns="45700">
            <a:noAutofit/>
          </a:bodyPr>
          <a:lstStyle>
            <a:lvl1pPr indent="-228600" lvl="0" marL="457200" algn="l">
              <a:lnSpc>
                <a:spcPct val="90000"/>
              </a:lnSpc>
              <a:spcBef>
                <a:spcPts val="750"/>
              </a:spcBef>
              <a:spcAft>
                <a:spcPts val="0"/>
              </a:spcAft>
              <a:buClr>
                <a:schemeClr val="lt1"/>
              </a:buClr>
              <a:buSzPts val="1800"/>
              <a:buNone/>
              <a:defRPr b="0" sz="1800">
                <a:solidFill>
                  <a:schemeClr val="lt1"/>
                </a:solidFill>
                <a:latin typeface="Calibri"/>
                <a:ea typeface="Calibri"/>
                <a:cs typeface="Calibri"/>
                <a:sym typeface="Calibri"/>
              </a:defRPr>
            </a:lvl1pPr>
            <a:lvl2pPr indent="-342900" lvl="1" marL="914400" algn="l">
              <a:lnSpc>
                <a:spcPct val="90000"/>
              </a:lnSpc>
              <a:spcBef>
                <a:spcPts val="375"/>
              </a:spcBef>
              <a:spcAft>
                <a:spcPts val="0"/>
              </a:spcAft>
              <a:buClr>
                <a:schemeClr val="lt1"/>
              </a:buClr>
              <a:buSzPts val="1800"/>
              <a:buChar char="•"/>
              <a:defRPr>
                <a:solidFill>
                  <a:schemeClr val="lt1"/>
                </a:solidFill>
              </a:defRPr>
            </a:lvl2pPr>
            <a:lvl3pPr indent="-342900" lvl="2" marL="1371600" algn="l">
              <a:lnSpc>
                <a:spcPct val="90000"/>
              </a:lnSpc>
              <a:spcBef>
                <a:spcPts val="375"/>
              </a:spcBef>
              <a:spcAft>
                <a:spcPts val="0"/>
              </a:spcAft>
              <a:buClr>
                <a:schemeClr val="lt1"/>
              </a:buClr>
              <a:buSzPts val="1800"/>
              <a:buChar char="•"/>
              <a:defRPr>
                <a:solidFill>
                  <a:schemeClr val="lt1"/>
                </a:solidFill>
              </a:defRPr>
            </a:lvl3pPr>
            <a:lvl4pPr indent="-342900" lvl="3" marL="1828800" algn="l">
              <a:lnSpc>
                <a:spcPct val="90000"/>
              </a:lnSpc>
              <a:spcBef>
                <a:spcPts val="375"/>
              </a:spcBef>
              <a:spcAft>
                <a:spcPts val="0"/>
              </a:spcAft>
              <a:buClr>
                <a:schemeClr val="lt1"/>
              </a:buClr>
              <a:buSzPts val="1800"/>
              <a:buChar char="•"/>
              <a:defRPr>
                <a:solidFill>
                  <a:schemeClr val="lt1"/>
                </a:solidFill>
              </a:defRPr>
            </a:lvl4pPr>
            <a:lvl5pPr indent="-342900" lvl="4" marL="2286000" algn="l">
              <a:lnSpc>
                <a:spcPct val="90000"/>
              </a:lnSpc>
              <a:spcBef>
                <a:spcPts val="375"/>
              </a:spcBef>
              <a:spcAft>
                <a:spcPts val="0"/>
              </a:spcAft>
              <a:buClr>
                <a:schemeClr val="lt1"/>
              </a:buClr>
              <a:buSzPts val="1800"/>
              <a:buChar char="•"/>
              <a:defRPr>
                <a:solidFill>
                  <a:schemeClr val="lt1"/>
                </a:solidFill>
              </a:defRPr>
            </a:lvl5pPr>
            <a:lvl6pPr indent="-342900" lvl="5" marL="2743200" algn="l">
              <a:lnSpc>
                <a:spcPct val="90000"/>
              </a:lnSpc>
              <a:spcBef>
                <a:spcPts val="375"/>
              </a:spcBef>
              <a:spcAft>
                <a:spcPts val="0"/>
              </a:spcAft>
              <a:buClr>
                <a:schemeClr val="lt1"/>
              </a:buClr>
              <a:buSzPts val="1800"/>
              <a:buChar char="•"/>
              <a:defRPr>
                <a:solidFill>
                  <a:schemeClr val="lt1"/>
                </a:solidFill>
              </a:defRPr>
            </a:lvl6pPr>
            <a:lvl7pPr indent="-342900" lvl="6" marL="3200400" algn="l">
              <a:lnSpc>
                <a:spcPct val="90000"/>
              </a:lnSpc>
              <a:spcBef>
                <a:spcPts val="375"/>
              </a:spcBef>
              <a:spcAft>
                <a:spcPts val="0"/>
              </a:spcAft>
              <a:buClr>
                <a:schemeClr val="lt1"/>
              </a:buClr>
              <a:buSzPts val="1800"/>
              <a:buChar char="•"/>
              <a:defRPr>
                <a:solidFill>
                  <a:schemeClr val="lt1"/>
                </a:solidFill>
              </a:defRPr>
            </a:lvl7pPr>
            <a:lvl8pPr indent="-342900" lvl="7" marL="3657600" algn="l">
              <a:lnSpc>
                <a:spcPct val="90000"/>
              </a:lnSpc>
              <a:spcBef>
                <a:spcPts val="375"/>
              </a:spcBef>
              <a:spcAft>
                <a:spcPts val="0"/>
              </a:spcAft>
              <a:buClr>
                <a:schemeClr val="lt1"/>
              </a:buClr>
              <a:buSzPts val="1800"/>
              <a:buChar char="•"/>
              <a:defRPr>
                <a:solidFill>
                  <a:schemeClr val="lt1"/>
                </a:solidFill>
              </a:defRPr>
            </a:lvl8pPr>
            <a:lvl9pPr indent="-342900" lvl="8" marL="4114800" algn="l">
              <a:lnSpc>
                <a:spcPct val="90000"/>
              </a:lnSpc>
              <a:spcBef>
                <a:spcPts val="375"/>
              </a:spcBef>
              <a:spcAft>
                <a:spcPts val="0"/>
              </a:spcAft>
              <a:buClr>
                <a:schemeClr val="lt1"/>
              </a:buClr>
              <a:buSzPts val="1800"/>
              <a:buChar char="•"/>
              <a:defRPr>
                <a:solidFill>
                  <a:schemeClr val="lt1"/>
                </a:solidFill>
              </a:defRPr>
            </a:lvl9pPr>
          </a:lstStyle>
          <a:p/>
        </p:txBody>
      </p:sp>
      <p:sp>
        <p:nvSpPr>
          <p:cNvPr id="104" name="Google Shape;104;p15"/>
          <p:cNvSpPr txBox="1"/>
          <p:nvPr>
            <p:ph idx="6" type="body"/>
          </p:nvPr>
        </p:nvSpPr>
        <p:spPr>
          <a:xfrm>
            <a:off x="6080125" y="2838928"/>
            <a:ext cx="2743200" cy="1654500"/>
          </a:xfrm>
          <a:prstGeom prst="rect">
            <a:avLst/>
          </a:prstGeom>
          <a:noFill/>
          <a:ln>
            <a:noFill/>
          </a:ln>
        </p:spPr>
        <p:txBody>
          <a:bodyPr anchorCtr="0" anchor="t" bIns="45700" lIns="0" spcFirstLastPara="1" rIns="0" wrap="square" tIns="45700">
            <a:noAutofit/>
          </a:bodyPr>
          <a:lstStyle>
            <a:lvl1pPr indent="-228600" lvl="0" marL="457200" algn="l">
              <a:lnSpc>
                <a:spcPct val="90000"/>
              </a:lnSpc>
              <a:spcBef>
                <a:spcPts val="750"/>
              </a:spcBef>
              <a:spcAft>
                <a:spcPts val="0"/>
              </a:spcAft>
              <a:buClr>
                <a:schemeClr val="lt1"/>
              </a:buClr>
              <a:buSzPts val="1800"/>
              <a:buNone/>
              <a:defRPr b="0" sz="1800">
                <a:solidFill>
                  <a:schemeClr val="lt1"/>
                </a:solidFill>
                <a:latin typeface="Calibri"/>
                <a:ea typeface="Calibri"/>
                <a:cs typeface="Calibri"/>
                <a:sym typeface="Calibri"/>
              </a:defRPr>
            </a:lvl1pPr>
            <a:lvl2pPr indent="-342900" lvl="1" marL="914400" algn="l">
              <a:lnSpc>
                <a:spcPct val="90000"/>
              </a:lnSpc>
              <a:spcBef>
                <a:spcPts val="375"/>
              </a:spcBef>
              <a:spcAft>
                <a:spcPts val="0"/>
              </a:spcAft>
              <a:buClr>
                <a:schemeClr val="lt1"/>
              </a:buClr>
              <a:buSzPts val="1800"/>
              <a:buChar char="•"/>
              <a:defRPr>
                <a:solidFill>
                  <a:schemeClr val="lt1"/>
                </a:solidFill>
              </a:defRPr>
            </a:lvl2pPr>
            <a:lvl3pPr indent="-342900" lvl="2" marL="1371600" algn="l">
              <a:lnSpc>
                <a:spcPct val="90000"/>
              </a:lnSpc>
              <a:spcBef>
                <a:spcPts val="375"/>
              </a:spcBef>
              <a:spcAft>
                <a:spcPts val="0"/>
              </a:spcAft>
              <a:buClr>
                <a:schemeClr val="lt1"/>
              </a:buClr>
              <a:buSzPts val="1800"/>
              <a:buChar char="•"/>
              <a:defRPr>
                <a:solidFill>
                  <a:schemeClr val="lt1"/>
                </a:solidFill>
              </a:defRPr>
            </a:lvl3pPr>
            <a:lvl4pPr indent="-342900" lvl="3" marL="1828800" algn="l">
              <a:lnSpc>
                <a:spcPct val="90000"/>
              </a:lnSpc>
              <a:spcBef>
                <a:spcPts val="375"/>
              </a:spcBef>
              <a:spcAft>
                <a:spcPts val="0"/>
              </a:spcAft>
              <a:buClr>
                <a:schemeClr val="lt1"/>
              </a:buClr>
              <a:buSzPts val="1800"/>
              <a:buChar char="•"/>
              <a:defRPr>
                <a:solidFill>
                  <a:schemeClr val="lt1"/>
                </a:solidFill>
              </a:defRPr>
            </a:lvl4pPr>
            <a:lvl5pPr indent="-342900" lvl="4" marL="2286000" algn="l">
              <a:lnSpc>
                <a:spcPct val="90000"/>
              </a:lnSpc>
              <a:spcBef>
                <a:spcPts val="375"/>
              </a:spcBef>
              <a:spcAft>
                <a:spcPts val="0"/>
              </a:spcAft>
              <a:buClr>
                <a:schemeClr val="lt1"/>
              </a:buClr>
              <a:buSzPts val="1800"/>
              <a:buChar char="•"/>
              <a:defRPr>
                <a:solidFill>
                  <a:schemeClr val="lt1"/>
                </a:solidFill>
              </a:defRPr>
            </a:lvl5pPr>
            <a:lvl6pPr indent="-342900" lvl="5" marL="2743200" algn="l">
              <a:lnSpc>
                <a:spcPct val="90000"/>
              </a:lnSpc>
              <a:spcBef>
                <a:spcPts val="375"/>
              </a:spcBef>
              <a:spcAft>
                <a:spcPts val="0"/>
              </a:spcAft>
              <a:buClr>
                <a:schemeClr val="lt1"/>
              </a:buClr>
              <a:buSzPts val="1800"/>
              <a:buChar char="•"/>
              <a:defRPr>
                <a:solidFill>
                  <a:schemeClr val="lt1"/>
                </a:solidFill>
              </a:defRPr>
            </a:lvl6pPr>
            <a:lvl7pPr indent="-342900" lvl="6" marL="3200400" algn="l">
              <a:lnSpc>
                <a:spcPct val="90000"/>
              </a:lnSpc>
              <a:spcBef>
                <a:spcPts val="375"/>
              </a:spcBef>
              <a:spcAft>
                <a:spcPts val="0"/>
              </a:spcAft>
              <a:buClr>
                <a:schemeClr val="lt1"/>
              </a:buClr>
              <a:buSzPts val="1800"/>
              <a:buChar char="•"/>
              <a:defRPr>
                <a:solidFill>
                  <a:schemeClr val="lt1"/>
                </a:solidFill>
              </a:defRPr>
            </a:lvl7pPr>
            <a:lvl8pPr indent="-342900" lvl="7" marL="3657600" algn="l">
              <a:lnSpc>
                <a:spcPct val="90000"/>
              </a:lnSpc>
              <a:spcBef>
                <a:spcPts val="375"/>
              </a:spcBef>
              <a:spcAft>
                <a:spcPts val="0"/>
              </a:spcAft>
              <a:buClr>
                <a:schemeClr val="lt1"/>
              </a:buClr>
              <a:buSzPts val="1800"/>
              <a:buChar char="•"/>
              <a:defRPr>
                <a:solidFill>
                  <a:schemeClr val="lt1"/>
                </a:solidFill>
              </a:defRPr>
            </a:lvl8pPr>
            <a:lvl9pPr indent="-342900" lvl="8" marL="4114800" algn="l">
              <a:lnSpc>
                <a:spcPct val="90000"/>
              </a:lnSpc>
              <a:spcBef>
                <a:spcPts val="375"/>
              </a:spcBef>
              <a:spcAft>
                <a:spcPts val="0"/>
              </a:spcAft>
              <a:buClr>
                <a:schemeClr val="lt1"/>
              </a:buClr>
              <a:buSzPts val="1800"/>
              <a:buChar char="•"/>
              <a:defRPr>
                <a:solidFill>
                  <a:schemeClr val="lt1"/>
                </a:solidFill>
              </a:defRPr>
            </a:lvl9pPr>
          </a:lstStyle>
          <a:p/>
        </p:txBody>
      </p:sp>
      <p:pic>
        <p:nvPicPr>
          <p:cNvPr id="105" name="Google Shape;105;p15"/>
          <p:cNvPicPr preferRelativeResize="0"/>
          <p:nvPr/>
        </p:nvPicPr>
        <p:blipFill rotWithShape="1">
          <a:blip r:embed="rId2">
            <a:alphaModFix/>
          </a:blip>
          <a:srcRect b="0" l="0" r="0" t="0"/>
          <a:stretch/>
        </p:blipFill>
        <p:spPr>
          <a:xfrm>
            <a:off x="313316" y="4850851"/>
            <a:ext cx="1283818" cy="154634"/>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Poppy" showMasterSp="0">
  <p:cSld name="Divider - Poppy">
    <p:bg>
      <p:bgPr>
        <a:solidFill>
          <a:schemeClr val="accent5"/>
        </a:solidFill>
      </p:bgPr>
    </p:bg>
    <p:spTree>
      <p:nvGrpSpPr>
        <p:cNvPr id="106" name="Shape 106"/>
        <p:cNvGrpSpPr/>
        <p:nvPr/>
      </p:nvGrpSpPr>
      <p:grpSpPr>
        <a:xfrm>
          <a:off x="0" y="0"/>
          <a:ext cx="0" cy="0"/>
          <a:chOff x="0" y="0"/>
          <a:chExt cx="0" cy="0"/>
        </a:xfrm>
      </p:grpSpPr>
      <p:pic>
        <p:nvPicPr>
          <p:cNvPr id="107" name="Google Shape;107;p16"/>
          <p:cNvPicPr preferRelativeResize="0"/>
          <p:nvPr/>
        </p:nvPicPr>
        <p:blipFill rotWithShape="1">
          <a:blip r:embed="rId2">
            <a:alphaModFix amt="85000"/>
          </a:blip>
          <a:srcRect b="0" l="0" r="0" t="0"/>
          <a:stretch/>
        </p:blipFill>
        <p:spPr>
          <a:xfrm>
            <a:off x="0" y="0"/>
            <a:ext cx="2893735" cy="5143500"/>
          </a:xfrm>
          <a:prstGeom prst="rect">
            <a:avLst/>
          </a:prstGeom>
          <a:noFill/>
          <a:ln>
            <a:noFill/>
          </a:ln>
        </p:spPr>
      </p:pic>
      <p:sp>
        <p:nvSpPr>
          <p:cNvPr id="108" name="Google Shape;108;p16"/>
          <p:cNvSpPr txBox="1"/>
          <p:nvPr>
            <p:ph idx="12" type="sldNum"/>
          </p:nvPr>
        </p:nvSpPr>
        <p:spPr>
          <a:xfrm>
            <a:off x="676656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800">
                <a:solidFill>
                  <a:schemeClr val="lt1"/>
                </a:solidFill>
                <a:latin typeface="Calibri"/>
                <a:ea typeface="Calibri"/>
                <a:cs typeface="Calibri"/>
                <a:sym typeface="Calibri"/>
              </a:defRPr>
            </a:lvl1pPr>
            <a:lvl2pPr indent="0" lvl="1" marL="0" algn="r">
              <a:spcBef>
                <a:spcPts val="0"/>
              </a:spcBef>
              <a:buNone/>
              <a:defRPr sz="800">
                <a:solidFill>
                  <a:schemeClr val="lt1"/>
                </a:solidFill>
                <a:latin typeface="Calibri"/>
                <a:ea typeface="Calibri"/>
                <a:cs typeface="Calibri"/>
                <a:sym typeface="Calibri"/>
              </a:defRPr>
            </a:lvl2pPr>
            <a:lvl3pPr indent="0" lvl="2" marL="0" algn="r">
              <a:spcBef>
                <a:spcPts val="0"/>
              </a:spcBef>
              <a:buNone/>
              <a:defRPr sz="800">
                <a:solidFill>
                  <a:schemeClr val="lt1"/>
                </a:solidFill>
                <a:latin typeface="Calibri"/>
                <a:ea typeface="Calibri"/>
                <a:cs typeface="Calibri"/>
                <a:sym typeface="Calibri"/>
              </a:defRPr>
            </a:lvl3pPr>
            <a:lvl4pPr indent="0" lvl="3" marL="0" algn="r">
              <a:spcBef>
                <a:spcPts val="0"/>
              </a:spcBef>
              <a:buNone/>
              <a:defRPr sz="800">
                <a:solidFill>
                  <a:schemeClr val="lt1"/>
                </a:solidFill>
                <a:latin typeface="Calibri"/>
                <a:ea typeface="Calibri"/>
                <a:cs typeface="Calibri"/>
                <a:sym typeface="Calibri"/>
              </a:defRPr>
            </a:lvl4pPr>
            <a:lvl5pPr indent="0" lvl="4" marL="0" algn="r">
              <a:spcBef>
                <a:spcPts val="0"/>
              </a:spcBef>
              <a:buNone/>
              <a:defRPr sz="800">
                <a:solidFill>
                  <a:schemeClr val="lt1"/>
                </a:solidFill>
                <a:latin typeface="Calibri"/>
                <a:ea typeface="Calibri"/>
                <a:cs typeface="Calibri"/>
                <a:sym typeface="Calibri"/>
              </a:defRPr>
            </a:lvl5pPr>
            <a:lvl6pPr indent="0" lvl="5" marL="0" algn="r">
              <a:spcBef>
                <a:spcPts val="0"/>
              </a:spcBef>
              <a:buNone/>
              <a:defRPr sz="800">
                <a:solidFill>
                  <a:schemeClr val="lt1"/>
                </a:solidFill>
                <a:latin typeface="Calibri"/>
                <a:ea typeface="Calibri"/>
                <a:cs typeface="Calibri"/>
                <a:sym typeface="Calibri"/>
              </a:defRPr>
            </a:lvl6pPr>
            <a:lvl7pPr indent="0" lvl="6" marL="0" algn="r">
              <a:spcBef>
                <a:spcPts val="0"/>
              </a:spcBef>
              <a:buNone/>
              <a:defRPr sz="800">
                <a:solidFill>
                  <a:schemeClr val="lt1"/>
                </a:solidFill>
                <a:latin typeface="Calibri"/>
                <a:ea typeface="Calibri"/>
                <a:cs typeface="Calibri"/>
                <a:sym typeface="Calibri"/>
              </a:defRPr>
            </a:lvl7pPr>
            <a:lvl8pPr indent="0" lvl="7" marL="0" algn="r">
              <a:spcBef>
                <a:spcPts val="0"/>
              </a:spcBef>
              <a:buNone/>
              <a:defRPr sz="800">
                <a:solidFill>
                  <a:schemeClr val="lt1"/>
                </a:solidFill>
                <a:latin typeface="Calibri"/>
                <a:ea typeface="Calibri"/>
                <a:cs typeface="Calibri"/>
                <a:sym typeface="Calibri"/>
              </a:defRPr>
            </a:lvl8pPr>
            <a:lvl9pPr indent="0" lvl="8" marL="0" algn="r">
              <a:spcBef>
                <a:spcPts val="0"/>
              </a:spcBef>
              <a:buNone/>
              <a:defRPr sz="800">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109" name="Google Shape;109;p16"/>
          <p:cNvSpPr txBox="1"/>
          <p:nvPr>
            <p:ph type="ctrTitle"/>
          </p:nvPr>
        </p:nvSpPr>
        <p:spPr>
          <a:xfrm>
            <a:off x="1363132" y="1760219"/>
            <a:ext cx="7479900" cy="1660500"/>
          </a:xfrm>
          <a:prstGeom prst="rect">
            <a:avLst/>
          </a:prstGeom>
          <a:noFill/>
          <a:ln>
            <a:noFill/>
          </a:ln>
        </p:spPr>
        <p:txBody>
          <a:bodyPr anchorCtr="0" anchor="t" bIns="45700" lIns="0" spcFirstLastPara="1" rIns="0" wrap="square" tIns="45700">
            <a:normAutofit/>
          </a:bodyPr>
          <a:lstStyle>
            <a:lvl1pPr lvl="0" algn="l">
              <a:lnSpc>
                <a:spcPct val="90000"/>
              </a:lnSpc>
              <a:spcBef>
                <a:spcPts val="0"/>
              </a:spcBef>
              <a:spcAft>
                <a:spcPts val="0"/>
              </a:spcAft>
              <a:buClr>
                <a:schemeClr val="lt1"/>
              </a:buClr>
              <a:buSzPts val="4500"/>
              <a:buFont typeface="Georgia"/>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10" name="Google Shape;110;p16"/>
          <p:cNvCxnSpPr/>
          <p:nvPr/>
        </p:nvCxnSpPr>
        <p:spPr>
          <a:xfrm>
            <a:off x="320040" y="4767263"/>
            <a:ext cx="8503800" cy="0"/>
          </a:xfrm>
          <a:prstGeom prst="straightConnector1">
            <a:avLst/>
          </a:prstGeom>
          <a:noFill/>
          <a:ln cap="flat" cmpd="sng" w="9525">
            <a:solidFill>
              <a:schemeClr val="lt1"/>
            </a:solidFill>
            <a:prstDash val="solid"/>
            <a:miter lim="800000"/>
            <a:headEnd len="sm" w="sm" type="none"/>
            <a:tailEnd len="sm" w="sm" type="none"/>
          </a:ln>
        </p:spPr>
      </p:cxnSp>
      <p:sp>
        <p:nvSpPr>
          <p:cNvPr id="111" name="Google Shape;111;p16"/>
          <p:cNvSpPr txBox="1"/>
          <p:nvPr>
            <p:ph idx="1" type="subTitle"/>
          </p:nvPr>
        </p:nvSpPr>
        <p:spPr>
          <a:xfrm>
            <a:off x="1363125" y="3500618"/>
            <a:ext cx="6202200" cy="943500"/>
          </a:xfrm>
          <a:prstGeom prst="rect">
            <a:avLst/>
          </a:prstGeom>
        </p:spPr>
        <p:txBody>
          <a:bodyPr anchorCtr="0" anchor="t" bIns="45700" lIns="0" spcFirstLastPara="1" rIns="0" wrap="square" tIns="45700">
            <a:normAutofit/>
          </a:bodyPr>
          <a:lstStyle>
            <a:lvl1pPr lvl="0" rtl="0">
              <a:spcBef>
                <a:spcPts val="750"/>
              </a:spcBef>
              <a:spcAft>
                <a:spcPts val="0"/>
              </a:spcAft>
              <a:buClr>
                <a:schemeClr val="lt1"/>
              </a:buClr>
              <a:buSzPts val="2300"/>
              <a:buNone/>
              <a:defRPr>
                <a:solidFill>
                  <a:schemeClr val="lt1"/>
                </a:solidFill>
              </a:defRPr>
            </a:lvl1pPr>
            <a:lvl2pPr lvl="1" rtl="0">
              <a:spcBef>
                <a:spcPts val="375"/>
              </a:spcBef>
              <a:spcAft>
                <a:spcPts val="0"/>
              </a:spcAft>
              <a:buSzPts val="1800"/>
              <a:buNone/>
              <a:defRPr/>
            </a:lvl2pPr>
            <a:lvl3pPr lvl="2" rtl="0">
              <a:spcBef>
                <a:spcPts val="375"/>
              </a:spcBef>
              <a:spcAft>
                <a:spcPts val="0"/>
              </a:spcAft>
              <a:buSzPts val="1800"/>
              <a:buNone/>
              <a:defRPr/>
            </a:lvl3pPr>
            <a:lvl4pPr lvl="3" rtl="0">
              <a:spcBef>
                <a:spcPts val="375"/>
              </a:spcBef>
              <a:spcAft>
                <a:spcPts val="0"/>
              </a:spcAft>
              <a:buSzPts val="1800"/>
              <a:buNone/>
              <a:defRPr/>
            </a:lvl4pPr>
            <a:lvl5pPr lvl="4" rtl="0">
              <a:spcBef>
                <a:spcPts val="375"/>
              </a:spcBef>
              <a:spcAft>
                <a:spcPts val="0"/>
              </a:spcAft>
              <a:buSzPts val="1800"/>
              <a:buNone/>
              <a:defRPr/>
            </a:lvl5pPr>
            <a:lvl6pPr lvl="5" rtl="0">
              <a:spcBef>
                <a:spcPts val="375"/>
              </a:spcBef>
              <a:spcAft>
                <a:spcPts val="0"/>
              </a:spcAft>
              <a:buSzPts val="1350"/>
              <a:buNone/>
              <a:defRPr/>
            </a:lvl6pPr>
            <a:lvl7pPr lvl="6" rtl="0">
              <a:spcBef>
                <a:spcPts val="375"/>
              </a:spcBef>
              <a:spcAft>
                <a:spcPts val="0"/>
              </a:spcAft>
              <a:buSzPts val="1350"/>
              <a:buNone/>
              <a:defRPr/>
            </a:lvl7pPr>
            <a:lvl8pPr lvl="7" rtl="0">
              <a:spcBef>
                <a:spcPts val="375"/>
              </a:spcBef>
              <a:spcAft>
                <a:spcPts val="0"/>
              </a:spcAft>
              <a:buSzPts val="1350"/>
              <a:buNone/>
              <a:defRPr/>
            </a:lvl8pPr>
            <a:lvl9pPr lvl="8" rtl="0">
              <a:spcBef>
                <a:spcPts val="375"/>
              </a:spcBef>
              <a:spcAft>
                <a:spcPts val="0"/>
              </a:spcAft>
              <a:buSzPts val="135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Illuminating (Dark)" showMasterSp="0">
  <p:cSld name="Divider - Illuminating (Dark)">
    <p:bg>
      <p:bgPr>
        <a:solidFill>
          <a:srgbClr val="FEC51D"/>
        </a:solidFill>
      </p:bgPr>
    </p:bg>
    <p:spTree>
      <p:nvGrpSpPr>
        <p:cNvPr id="112" name="Shape 112"/>
        <p:cNvGrpSpPr/>
        <p:nvPr/>
      </p:nvGrpSpPr>
      <p:grpSpPr>
        <a:xfrm>
          <a:off x="0" y="0"/>
          <a:ext cx="0" cy="0"/>
          <a:chOff x="0" y="0"/>
          <a:chExt cx="0" cy="0"/>
        </a:xfrm>
      </p:grpSpPr>
      <p:pic>
        <p:nvPicPr>
          <p:cNvPr id="113" name="Google Shape;113;p17"/>
          <p:cNvPicPr preferRelativeResize="0"/>
          <p:nvPr/>
        </p:nvPicPr>
        <p:blipFill rotWithShape="1">
          <a:blip r:embed="rId2">
            <a:alphaModFix amt="70000"/>
          </a:blip>
          <a:srcRect b="0" l="0" r="0" t="0"/>
          <a:stretch/>
        </p:blipFill>
        <p:spPr>
          <a:xfrm>
            <a:off x="0" y="0"/>
            <a:ext cx="2893733" cy="5143500"/>
          </a:xfrm>
          <a:prstGeom prst="rect">
            <a:avLst/>
          </a:prstGeom>
          <a:noFill/>
          <a:ln>
            <a:noFill/>
          </a:ln>
        </p:spPr>
      </p:pic>
      <p:sp>
        <p:nvSpPr>
          <p:cNvPr id="114" name="Google Shape;114;p17"/>
          <p:cNvSpPr txBox="1"/>
          <p:nvPr>
            <p:ph idx="12" type="sldNum"/>
          </p:nvPr>
        </p:nvSpPr>
        <p:spPr>
          <a:xfrm>
            <a:off x="676656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800">
                <a:solidFill>
                  <a:schemeClr val="lt1"/>
                </a:solidFill>
                <a:latin typeface="Calibri"/>
                <a:ea typeface="Calibri"/>
                <a:cs typeface="Calibri"/>
                <a:sym typeface="Calibri"/>
              </a:defRPr>
            </a:lvl1pPr>
            <a:lvl2pPr indent="0" lvl="1" marL="0" algn="r">
              <a:spcBef>
                <a:spcPts val="0"/>
              </a:spcBef>
              <a:buNone/>
              <a:defRPr sz="800">
                <a:solidFill>
                  <a:schemeClr val="lt1"/>
                </a:solidFill>
                <a:latin typeface="Calibri"/>
                <a:ea typeface="Calibri"/>
                <a:cs typeface="Calibri"/>
                <a:sym typeface="Calibri"/>
              </a:defRPr>
            </a:lvl2pPr>
            <a:lvl3pPr indent="0" lvl="2" marL="0" algn="r">
              <a:spcBef>
                <a:spcPts val="0"/>
              </a:spcBef>
              <a:buNone/>
              <a:defRPr sz="800">
                <a:solidFill>
                  <a:schemeClr val="lt1"/>
                </a:solidFill>
                <a:latin typeface="Calibri"/>
                <a:ea typeface="Calibri"/>
                <a:cs typeface="Calibri"/>
                <a:sym typeface="Calibri"/>
              </a:defRPr>
            </a:lvl3pPr>
            <a:lvl4pPr indent="0" lvl="3" marL="0" algn="r">
              <a:spcBef>
                <a:spcPts val="0"/>
              </a:spcBef>
              <a:buNone/>
              <a:defRPr sz="800">
                <a:solidFill>
                  <a:schemeClr val="lt1"/>
                </a:solidFill>
                <a:latin typeface="Calibri"/>
                <a:ea typeface="Calibri"/>
                <a:cs typeface="Calibri"/>
                <a:sym typeface="Calibri"/>
              </a:defRPr>
            </a:lvl4pPr>
            <a:lvl5pPr indent="0" lvl="4" marL="0" algn="r">
              <a:spcBef>
                <a:spcPts val="0"/>
              </a:spcBef>
              <a:buNone/>
              <a:defRPr sz="800">
                <a:solidFill>
                  <a:schemeClr val="lt1"/>
                </a:solidFill>
                <a:latin typeface="Calibri"/>
                <a:ea typeface="Calibri"/>
                <a:cs typeface="Calibri"/>
                <a:sym typeface="Calibri"/>
              </a:defRPr>
            </a:lvl5pPr>
            <a:lvl6pPr indent="0" lvl="5" marL="0" algn="r">
              <a:spcBef>
                <a:spcPts val="0"/>
              </a:spcBef>
              <a:buNone/>
              <a:defRPr sz="800">
                <a:solidFill>
                  <a:schemeClr val="lt1"/>
                </a:solidFill>
                <a:latin typeface="Calibri"/>
                <a:ea typeface="Calibri"/>
                <a:cs typeface="Calibri"/>
                <a:sym typeface="Calibri"/>
              </a:defRPr>
            </a:lvl6pPr>
            <a:lvl7pPr indent="0" lvl="6" marL="0" algn="r">
              <a:spcBef>
                <a:spcPts val="0"/>
              </a:spcBef>
              <a:buNone/>
              <a:defRPr sz="800">
                <a:solidFill>
                  <a:schemeClr val="lt1"/>
                </a:solidFill>
                <a:latin typeface="Calibri"/>
                <a:ea typeface="Calibri"/>
                <a:cs typeface="Calibri"/>
                <a:sym typeface="Calibri"/>
              </a:defRPr>
            </a:lvl7pPr>
            <a:lvl8pPr indent="0" lvl="7" marL="0" algn="r">
              <a:spcBef>
                <a:spcPts val="0"/>
              </a:spcBef>
              <a:buNone/>
              <a:defRPr sz="800">
                <a:solidFill>
                  <a:schemeClr val="lt1"/>
                </a:solidFill>
                <a:latin typeface="Calibri"/>
                <a:ea typeface="Calibri"/>
                <a:cs typeface="Calibri"/>
                <a:sym typeface="Calibri"/>
              </a:defRPr>
            </a:lvl8pPr>
            <a:lvl9pPr indent="0" lvl="8" marL="0" algn="r">
              <a:spcBef>
                <a:spcPts val="0"/>
              </a:spcBef>
              <a:buNone/>
              <a:defRPr sz="800">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115" name="Google Shape;115;p17"/>
          <p:cNvSpPr txBox="1"/>
          <p:nvPr>
            <p:ph type="ctrTitle"/>
          </p:nvPr>
        </p:nvSpPr>
        <p:spPr>
          <a:xfrm>
            <a:off x="1363132" y="1760219"/>
            <a:ext cx="7479900" cy="1660500"/>
          </a:xfrm>
          <a:prstGeom prst="rect">
            <a:avLst/>
          </a:prstGeom>
          <a:noFill/>
          <a:ln>
            <a:noFill/>
          </a:ln>
        </p:spPr>
        <p:txBody>
          <a:bodyPr anchorCtr="0" anchor="t" bIns="45700" lIns="0" spcFirstLastPara="1" rIns="0" wrap="square" tIns="45700">
            <a:normAutofit/>
          </a:bodyPr>
          <a:lstStyle>
            <a:lvl1pPr lvl="0" algn="l">
              <a:lnSpc>
                <a:spcPct val="90000"/>
              </a:lnSpc>
              <a:spcBef>
                <a:spcPts val="0"/>
              </a:spcBef>
              <a:spcAft>
                <a:spcPts val="0"/>
              </a:spcAft>
              <a:buClr>
                <a:schemeClr val="lt1"/>
              </a:buClr>
              <a:buSzPts val="4500"/>
              <a:buFont typeface="Georgia"/>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16" name="Google Shape;116;p17"/>
          <p:cNvCxnSpPr/>
          <p:nvPr/>
        </p:nvCxnSpPr>
        <p:spPr>
          <a:xfrm>
            <a:off x="320040" y="4767263"/>
            <a:ext cx="8503800" cy="0"/>
          </a:xfrm>
          <a:prstGeom prst="straightConnector1">
            <a:avLst/>
          </a:prstGeom>
          <a:noFill/>
          <a:ln cap="flat" cmpd="sng" w="9525">
            <a:solidFill>
              <a:schemeClr val="lt1"/>
            </a:solidFill>
            <a:prstDash val="solid"/>
            <a:miter lim="800000"/>
            <a:headEnd len="sm" w="sm" type="none"/>
            <a:tailEnd len="sm" w="sm" type="none"/>
          </a:ln>
        </p:spPr>
      </p:cxnSp>
      <p:sp>
        <p:nvSpPr>
          <p:cNvPr id="117" name="Google Shape;117;p17"/>
          <p:cNvSpPr txBox="1"/>
          <p:nvPr>
            <p:ph idx="1" type="subTitle"/>
          </p:nvPr>
        </p:nvSpPr>
        <p:spPr>
          <a:xfrm>
            <a:off x="1363125" y="3500618"/>
            <a:ext cx="6202200" cy="943500"/>
          </a:xfrm>
          <a:prstGeom prst="rect">
            <a:avLst/>
          </a:prstGeom>
        </p:spPr>
        <p:txBody>
          <a:bodyPr anchorCtr="0" anchor="t" bIns="45700" lIns="0" spcFirstLastPara="1" rIns="0" wrap="square" tIns="45700">
            <a:normAutofit/>
          </a:bodyPr>
          <a:lstStyle>
            <a:lvl1pPr lvl="0" rtl="0">
              <a:spcBef>
                <a:spcPts val="750"/>
              </a:spcBef>
              <a:spcAft>
                <a:spcPts val="0"/>
              </a:spcAft>
              <a:buClr>
                <a:schemeClr val="lt1"/>
              </a:buClr>
              <a:buSzPts val="2300"/>
              <a:buNone/>
              <a:defRPr>
                <a:solidFill>
                  <a:schemeClr val="lt1"/>
                </a:solidFill>
              </a:defRPr>
            </a:lvl1pPr>
            <a:lvl2pPr lvl="1" rtl="0">
              <a:spcBef>
                <a:spcPts val="375"/>
              </a:spcBef>
              <a:spcAft>
                <a:spcPts val="0"/>
              </a:spcAft>
              <a:buSzPts val="1800"/>
              <a:buNone/>
              <a:defRPr/>
            </a:lvl2pPr>
            <a:lvl3pPr lvl="2" rtl="0">
              <a:spcBef>
                <a:spcPts val="375"/>
              </a:spcBef>
              <a:spcAft>
                <a:spcPts val="0"/>
              </a:spcAft>
              <a:buSzPts val="1800"/>
              <a:buNone/>
              <a:defRPr/>
            </a:lvl3pPr>
            <a:lvl4pPr lvl="3" rtl="0">
              <a:spcBef>
                <a:spcPts val="375"/>
              </a:spcBef>
              <a:spcAft>
                <a:spcPts val="0"/>
              </a:spcAft>
              <a:buSzPts val="1800"/>
              <a:buNone/>
              <a:defRPr/>
            </a:lvl4pPr>
            <a:lvl5pPr lvl="4" rtl="0">
              <a:spcBef>
                <a:spcPts val="375"/>
              </a:spcBef>
              <a:spcAft>
                <a:spcPts val="0"/>
              </a:spcAft>
              <a:buSzPts val="1800"/>
              <a:buNone/>
              <a:defRPr/>
            </a:lvl5pPr>
            <a:lvl6pPr lvl="5" rtl="0">
              <a:spcBef>
                <a:spcPts val="375"/>
              </a:spcBef>
              <a:spcAft>
                <a:spcPts val="0"/>
              </a:spcAft>
              <a:buSzPts val="1350"/>
              <a:buNone/>
              <a:defRPr/>
            </a:lvl6pPr>
            <a:lvl7pPr lvl="6" rtl="0">
              <a:spcBef>
                <a:spcPts val="375"/>
              </a:spcBef>
              <a:spcAft>
                <a:spcPts val="0"/>
              </a:spcAft>
              <a:buSzPts val="1350"/>
              <a:buNone/>
              <a:defRPr/>
            </a:lvl7pPr>
            <a:lvl8pPr lvl="7" rtl="0">
              <a:spcBef>
                <a:spcPts val="375"/>
              </a:spcBef>
              <a:spcAft>
                <a:spcPts val="0"/>
              </a:spcAft>
              <a:buSzPts val="1350"/>
              <a:buNone/>
              <a:defRPr/>
            </a:lvl8pPr>
            <a:lvl9pPr lvl="8" rtl="0">
              <a:spcBef>
                <a:spcPts val="375"/>
              </a:spcBef>
              <a:spcAft>
                <a:spcPts val="0"/>
              </a:spcAft>
              <a:buSzPts val="135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Palo Verde" showMasterSp="0">
  <p:cSld name="Divider - Palo Verde">
    <p:bg>
      <p:bgPr>
        <a:solidFill>
          <a:schemeClr val="accent4"/>
        </a:solidFill>
      </p:bgPr>
    </p:bg>
    <p:spTree>
      <p:nvGrpSpPr>
        <p:cNvPr id="118" name="Shape 118"/>
        <p:cNvGrpSpPr/>
        <p:nvPr/>
      </p:nvGrpSpPr>
      <p:grpSpPr>
        <a:xfrm>
          <a:off x="0" y="0"/>
          <a:ext cx="0" cy="0"/>
          <a:chOff x="0" y="0"/>
          <a:chExt cx="0" cy="0"/>
        </a:xfrm>
      </p:grpSpPr>
      <p:pic>
        <p:nvPicPr>
          <p:cNvPr descr="Background pattern&#10;&#10;Description automatically generated" id="119" name="Google Shape;119;p18"/>
          <p:cNvPicPr preferRelativeResize="0"/>
          <p:nvPr/>
        </p:nvPicPr>
        <p:blipFill rotWithShape="1">
          <a:blip r:embed="rId2">
            <a:alphaModFix amt="70000"/>
          </a:blip>
          <a:srcRect b="0" l="0" r="0" t="0"/>
          <a:stretch/>
        </p:blipFill>
        <p:spPr>
          <a:xfrm>
            <a:off x="0" y="0"/>
            <a:ext cx="2893735" cy="5143500"/>
          </a:xfrm>
          <a:prstGeom prst="rect">
            <a:avLst/>
          </a:prstGeom>
          <a:noFill/>
          <a:ln>
            <a:noFill/>
          </a:ln>
        </p:spPr>
      </p:pic>
      <p:sp>
        <p:nvSpPr>
          <p:cNvPr id="120" name="Google Shape;120;p18"/>
          <p:cNvSpPr txBox="1"/>
          <p:nvPr>
            <p:ph idx="12" type="sldNum"/>
          </p:nvPr>
        </p:nvSpPr>
        <p:spPr>
          <a:xfrm>
            <a:off x="676656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800">
                <a:solidFill>
                  <a:schemeClr val="lt1"/>
                </a:solidFill>
                <a:latin typeface="Calibri"/>
                <a:ea typeface="Calibri"/>
                <a:cs typeface="Calibri"/>
                <a:sym typeface="Calibri"/>
              </a:defRPr>
            </a:lvl1pPr>
            <a:lvl2pPr indent="0" lvl="1" marL="0" algn="r">
              <a:spcBef>
                <a:spcPts val="0"/>
              </a:spcBef>
              <a:buNone/>
              <a:defRPr sz="800">
                <a:solidFill>
                  <a:schemeClr val="lt1"/>
                </a:solidFill>
                <a:latin typeface="Calibri"/>
                <a:ea typeface="Calibri"/>
                <a:cs typeface="Calibri"/>
                <a:sym typeface="Calibri"/>
              </a:defRPr>
            </a:lvl2pPr>
            <a:lvl3pPr indent="0" lvl="2" marL="0" algn="r">
              <a:spcBef>
                <a:spcPts val="0"/>
              </a:spcBef>
              <a:buNone/>
              <a:defRPr sz="800">
                <a:solidFill>
                  <a:schemeClr val="lt1"/>
                </a:solidFill>
                <a:latin typeface="Calibri"/>
                <a:ea typeface="Calibri"/>
                <a:cs typeface="Calibri"/>
                <a:sym typeface="Calibri"/>
              </a:defRPr>
            </a:lvl3pPr>
            <a:lvl4pPr indent="0" lvl="3" marL="0" algn="r">
              <a:spcBef>
                <a:spcPts val="0"/>
              </a:spcBef>
              <a:buNone/>
              <a:defRPr sz="800">
                <a:solidFill>
                  <a:schemeClr val="lt1"/>
                </a:solidFill>
                <a:latin typeface="Calibri"/>
                <a:ea typeface="Calibri"/>
                <a:cs typeface="Calibri"/>
                <a:sym typeface="Calibri"/>
              </a:defRPr>
            </a:lvl4pPr>
            <a:lvl5pPr indent="0" lvl="4" marL="0" algn="r">
              <a:spcBef>
                <a:spcPts val="0"/>
              </a:spcBef>
              <a:buNone/>
              <a:defRPr sz="800">
                <a:solidFill>
                  <a:schemeClr val="lt1"/>
                </a:solidFill>
                <a:latin typeface="Calibri"/>
                <a:ea typeface="Calibri"/>
                <a:cs typeface="Calibri"/>
                <a:sym typeface="Calibri"/>
              </a:defRPr>
            </a:lvl5pPr>
            <a:lvl6pPr indent="0" lvl="5" marL="0" algn="r">
              <a:spcBef>
                <a:spcPts val="0"/>
              </a:spcBef>
              <a:buNone/>
              <a:defRPr sz="800">
                <a:solidFill>
                  <a:schemeClr val="lt1"/>
                </a:solidFill>
                <a:latin typeface="Calibri"/>
                <a:ea typeface="Calibri"/>
                <a:cs typeface="Calibri"/>
                <a:sym typeface="Calibri"/>
              </a:defRPr>
            </a:lvl6pPr>
            <a:lvl7pPr indent="0" lvl="6" marL="0" algn="r">
              <a:spcBef>
                <a:spcPts val="0"/>
              </a:spcBef>
              <a:buNone/>
              <a:defRPr sz="800">
                <a:solidFill>
                  <a:schemeClr val="lt1"/>
                </a:solidFill>
                <a:latin typeface="Calibri"/>
                <a:ea typeface="Calibri"/>
                <a:cs typeface="Calibri"/>
                <a:sym typeface="Calibri"/>
              </a:defRPr>
            </a:lvl7pPr>
            <a:lvl8pPr indent="0" lvl="7" marL="0" algn="r">
              <a:spcBef>
                <a:spcPts val="0"/>
              </a:spcBef>
              <a:buNone/>
              <a:defRPr sz="800">
                <a:solidFill>
                  <a:schemeClr val="lt1"/>
                </a:solidFill>
                <a:latin typeface="Calibri"/>
                <a:ea typeface="Calibri"/>
                <a:cs typeface="Calibri"/>
                <a:sym typeface="Calibri"/>
              </a:defRPr>
            </a:lvl8pPr>
            <a:lvl9pPr indent="0" lvl="8" marL="0" algn="r">
              <a:spcBef>
                <a:spcPts val="0"/>
              </a:spcBef>
              <a:buNone/>
              <a:defRPr sz="800">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18"/>
          <p:cNvSpPr txBox="1"/>
          <p:nvPr>
            <p:ph type="ctrTitle"/>
          </p:nvPr>
        </p:nvSpPr>
        <p:spPr>
          <a:xfrm>
            <a:off x="1363132" y="1760219"/>
            <a:ext cx="7479900" cy="1660500"/>
          </a:xfrm>
          <a:prstGeom prst="rect">
            <a:avLst/>
          </a:prstGeom>
          <a:noFill/>
          <a:ln>
            <a:noFill/>
          </a:ln>
        </p:spPr>
        <p:txBody>
          <a:bodyPr anchorCtr="0" anchor="t" bIns="45700" lIns="0" spcFirstLastPara="1" rIns="0" wrap="square" tIns="45700">
            <a:normAutofit/>
          </a:bodyPr>
          <a:lstStyle>
            <a:lvl1pPr lvl="0" algn="l">
              <a:lnSpc>
                <a:spcPct val="90000"/>
              </a:lnSpc>
              <a:spcBef>
                <a:spcPts val="0"/>
              </a:spcBef>
              <a:spcAft>
                <a:spcPts val="0"/>
              </a:spcAft>
              <a:buClr>
                <a:schemeClr val="lt1"/>
              </a:buClr>
              <a:buSzPts val="4500"/>
              <a:buFont typeface="Georgia"/>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22" name="Google Shape;122;p18"/>
          <p:cNvCxnSpPr/>
          <p:nvPr/>
        </p:nvCxnSpPr>
        <p:spPr>
          <a:xfrm>
            <a:off x="320040" y="4767263"/>
            <a:ext cx="8503800" cy="0"/>
          </a:xfrm>
          <a:prstGeom prst="straightConnector1">
            <a:avLst/>
          </a:prstGeom>
          <a:noFill/>
          <a:ln cap="flat" cmpd="sng" w="9525">
            <a:solidFill>
              <a:schemeClr val="lt1"/>
            </a:solidFill>
            <a:prstDash val="solid"/>
            <a:miter lim="800000"/>
            <a:headEnd len="sm" w="sm" type="none"/>
            <a:tailEnd len="sm" w="sm" type="none"/>
          </a:ln>
        </p:spPr>
      </p:cxnSp>
      <p:sp>
        <p:nvSpPr>
          <p:cNvPr id="123" name="Google Shape;123;p18"/>
          <p:cNvSpPr txBox="1"/>
          <p:nvPr>
            <p:ph idx="1" type="subTitle"/>
          </p:nvPr>
        </p:nvSpPr>
        <p:spPr>
          <a:xfrm>
            <a:off x="1363125" y="3500618"/>
            <a:ext cx="6202200" cy="943500"/>
          </a:xfrm>
          <a:prstGeom prst="rect">
            <a:avLst/>
          </a:prstGeom>
        </p:spPr>
        <p:txBody>
          <a:bodyPr anchorCtr="0" anchor="t" bIns="45700" lIns="0" spcFirstLastPara="1" rIns="0" wrap="square" tIns="45700">
            <a:normAutofit/>
          </a:bodyPr>
          <a:lstStyle>
            <a:lvl1pPr lvl="0" rtl="0">
              <a:spcBef>
                <a:spcPts val="750"/>
              </a:spcBef>
              <a:spcAft>
                <a:spcPts val="0"/>
              </a:spcAft>
              <a:buClr>
                <a:schemeClr val="lt1"/>
              </a:buClr>
              <a:buSzPts val="2300"/>
              <a:buNone/>
              <a:defRPr>
                <a:solidFill>
                  <a:schemeClr val="lt1"/>
                </a:solidFill>
              </a:defRPr>
            </a:lvl1pPr>
            <a:lvl2pPr lvl="1" rtl="0">
              <a:spcBef>
                <a:spcPts val="375"/>
              </a:spcBef>
              <a:spcAft>
                <a:spcPts val="0"/>
              </a:spcAft>
              <a:buSzPts val="1800"/>
              <a:buNone/>
              <a:defRPr/>
            </a:lvl2pPr>
            <a:lvl3pPr lvl="2" rtl="0">
              <a:spcBef>
                <a:spcPts val="375"/>
              </a:spcBef>
              <a:spcAft>
                <a:spcPts val="0"/>
              </a:spcAft>
              <a:buSzPts val="1800"/>
              <a:buNone/>
              <a:defRPr/>
            </a:lvl3pPr>
            <a:lvl4pPr lvl="3" rtl="0">
              <a:spcBef>
                <a:spcPts val="375"/>
              </a:spcBef>
              <a:spcAft>
                <a:spcPts val="0"/>
              </a:spcAft>
              <a:buSzPts val="1800"/>
              <a:buNone/>
              <a:defRPr/>
            </a:lvl4pPr>
            <a:lvl5pPr lvl="4" rtl="0">
              <a:spcBef>
                <a:spcPts val="375"/>
              </a:spcBef>
              <a:spcAft>
                <a:spcPts val="0"/>
              </a:spcAft>
              <a:buSzPts val="1800"/>
              <a:buNone/>
              <a:defRPr/>
            </a:lvl5pPr>
            <a:lvl6pPr lvl="5" rtl="0">
              <a:spcBef>
                <a:spcPts val="375"/>
              </a:spcBef>
              <a:spcAft>
                <a:spcPts val="0"/>
              </a:spcAft>
              <a:buSzPts val="1350"/>
              <a:buNone/>
              <a:defRPr/>
            </a:lvl6pPr>
            <a:lvl7pPr lvl="6" rtl="0">
              <a:spcBef>
                <a:spcPts val="375"/>
              </a:spcBef>
              <a:spcAft>
                <a:spcPts val="0"/>
              </a:spcAft>
              <a:buSzPts val="1350"/>
              <a:buNone/>
              <a:defRPr/>
            </a:lvl7pPr>
            <a:lvl8pPr lvl="7" rtl="0">
              <a:spcBef>
                <a:spcPts val="375"/>
              </a:spcBef>
              <a:spcAft>
                <a:spcPts val="0"/>
              </a:spcAft>
              <a:buSzPts val="1350"/>
              <a:buNone/>
              <a:defRPr/>
            </a:lvl8pPr>
            <a:lvl9pPr lvl="8" rtl="0">
              <a:spcBef>
                <a:spcPts val="375"/>
              </a:spcBef>
              <a:spcAft>
                <a:spcPts val="0"/>
              </a:spcAft>
              <a:buSzPts val="135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Plum" showMasterSp="0">
  <p:cSld name="Divider - Plum">
    <p:bg>
      <p:bgPr>
        <a:solidFill>
          <a:schemeClr val="accent3"/>
        </a:solidFill>
      </p:bgPr>
    </p:bg>
    <p:spTree>
      <p:nvGrpSpPr>
        <p:cNvPr id="124" name="Shape 124"/>
        <p:cNvGrpSpPr/>
        <p:nvPr/>
      </p:nvGrpSpPr>
      <p:grpSpPr>
        <a:xfrm>
          <a:off x="0" y="0"/>
          <a:ext cx="0" cy="0"/>
          <a:chOff x="0" y="0"/>
          <a:chExt cx="0" cy="0"/>
        </a:xfrm>
      </p:grpSpPr>
      <p:pic>
        <p:nvPicPr>
          <p:cNvPr id="125" name="Google Shape;125;p19"/>
          <p:cNvPicPr preferRelativeResize="0"/>
          <p:nvPr/>
        </p:nvPicPr>
        <p:blipFill rotWithShape="1">
          <a:blip r:embed="rId2">
            <a:alphaModFix/>
          </a:blip>
          <a:srcRect b="0" l="0" r="0" t="0"/>
          <a:stretch/>
        </p:blipFill>
        <p:spPr>
          <a:xfrm>
            <a:off x="0" y="0"/>
            <a:ext cx="2893733" cy="5143500"/>
          </a:xfrm>
          <a:prstGeom prst="rect">
            <a:avLst/>
          </a:prstGeom>
          <a:noFill/>
          <a:ln>
            <a:noFill/>
          </a:ln>
        </p:spPr>
      </p:pic>
      <p:sp>
        <p:nvSpPr>
          <p:cNvPr id="126" name="Google Shape;126;p19"/>
          <p:cNvSpPr txBox="1"/>
          <p:nvPr>
            <p:ph idx="12" type="sldNum"/>
          </p:nvPr>
        </p:nvSpPr>
        <p:spPr>
          <a:xfrm>
            <a:off x="676656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800">
                <a:solidFill>
                  <a:schemeClr val="lt1"/>
                </a:solidFill>
                <a:latin typeface="Calibri"/>
                <a:ea typeface="Calibri"/>
                <a:cs typeface="Calibri"/>
                <a:sym typeface="Calibri"/>
              </a:defRPr>
            </a:lvl1pPr>
            <a:lvl2pPr indent="0" lvl="1" marL="0" algn="r">
              <a:spcBef>
                <a:spcPts val="0"/>
              </a:spcBef>
              <a:buNone/>
              <a:defRPr sz="800">
                <a:solidFill>
                  <a:schemeClr val="lt1"/>
                </a:solidFill>
                <a:latin typeface="Calibri"/>
                <a:ea typeface="Calibri"/>
                <a:cs typeface="Calibri"/>
                <a:sym typeface="Calibri"/>
              </a:defRPr>
            </a:lvl2pPr>
            <a:lvl3pPr indent="0" lvl="2" marL="0" algn="r">
              <a:spcBef>
                <a:spcPts val="0"/>
              </a:spcBef>
              <a:buNone/>
              <a:defRPr sz="800">
                <a:solidFill>
                  <a:schemeClr val="lt1"/>
                </a:solidFill>
                <a:latin typeface="Calibri"/>
                <a:ea typeface="Calibri"/>
                <a:cs typeface="Calibri"/>
                <a:sym typeface="Calibri"/>
              </a:defRPr>
            </a:lvl3pPr>
            <a:lvl4pPr indent="0" lvl="3" marL="0" algn="r">
              <a:spcBef>
                <a:spcPts val="0"/>
              </a:spcBef>
              <a:buNone/>
              <a:defRPr sz="800">
                <a:solidFill>
                  <a:schemeClr val="lt1"/>
                </a:solidFill>
                <a:latin typeface="Calibri"/>
                <a:ea typeface="Calibri"/>
                <a:cs typeface="Calibri"/>
                <a:sym typeface="Calibri"/>
              </a:defRPr>
            </a:lvl4pPr>
            <a:lvl5pPr indent="0" lvl="4" marL="0" algn="r">
              <a:spcBef>
                <a:spcPts val="0"/>
              </a:spcBef>
              <a:buNone/>
              <a:defRPr sz="800">
                <a:solidFill>
                  <a:schemeClr val="lt1"/>
                </a:solidFill>
                <a:latin typeface="Calibri"/>
                <a:ea typeface="Calibri"/>
                <a:cs typeface="Calibri"/>
                <a:sym typeface="Calibri"/>
              </a:defRPr>
            </a:lvl5pPr>
            <a:lvl6pPr indent="0" lvl="5" marL="0" algn="r">
              <a:spcBef>
                <a:spcPts val="0"/>
              </a:spcBef>
              <a:buNone/>
              <a:defRPr sz="800">
                <a:solidFill>
                  <a:schemeClr val="lt1"/>
                </a:solidFill>
                <a:latin typeface="Calibri"/>
                <a:ea typeface="Calibri"/>
                <a:cs typeface="Calibri"/>
                <a:sym typeface="Calibri"/>
              </a:defRPr>
            </a:lvl6pPr>
            <a:lvl7pPr indent="0" lvl="6" marL="0" algn="r">
              <a:spcBef>
                <a:spcPts val="0"/>
              </a:spcBef>
              <a:buNone/>
              <a:defRPr sz="800">
                <a:solidFill>
                  <a:schemeClr val="lt1"/>
                </a:solidFill>
                <a:latin typeface="Calibri"/>
                <a:ea typeface="Calibri"/>
                <a:cs typeface="Calibri"/>
                <a:sym typeface="Calibri"/>
              </a:defRPr>
            </a:lvl7pPr>
            <a:lvl8pPr indent="0" lvl="7" marL="0" algn="r">
              <a:spcBef>
                <a:spcPts val="0"/>
              </a:spcBef>
              <a:buNone/>
              <a:defRPr sz="800">
                <a:solidFill>
                  <a:schemeClr val="lt1"/>
                </a:solidFill>
                <a:latin typeface="Calibri"/>
                <a:ea typeface="Calibri"/>
                <a:cs typeface="Calibri"/>
                <a:sym typeface="Calibri"/>
              </a:defRPr>
            </a:lvl8pPr>
            <a:lvl9pPr indent="0" lvl="8" marL="0" algn="r">
              <a:spcBef>
                <a:spcPts val="0"/>
              </a:spcBef>
              <a:buNone/>
              <a:defRPr sz="800">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127" name="Google Shape;127;p19"/>
          <p:cNvSpPr txBox="1"/>
          <p:nvPr>
            <p:ph type="ctrTitle"/>
          </p:nvPr>
        </p:nvSpPr>
        <p:spPr>
          <a:xfrm>
            <a:off x="1363132" y="1760219"/>
            <a:ext cx="7479900" cy="1660500"/>
          </a:xfrm>
          <a:prstGeom prst="rect">
            <a:avLst/>
          </a:prstGeom>
          <a:noFill/>
          <a:ln>
            <a:noFill/>
          </a:ln>
        </p:spPr>
        <p:txBody>
          <a:bodyPr anchorCtr="0" anchor="t" bIns="45700" lIns="0" spcFirstLastPara="1" rIns="0" wrap="square" tIns="45700">
            <a:normAutofit/>
          </a:bodyPr>
          <a:lstStyle>
            <a:lvl1pPr lvl="0" algn="l">
              <a:lnSpc>
                <a:spcPct val="90000"/>
              </a:lnSpc>
              <a:spcBef>
                <a:spcPts val="0"/>
              </a:spcBef>
              <a:spcAft>
                <a:spcPts val="0"/>
              </a:spcAft>
              <a:buClr>
                <a:schemeClr val="lt1"/>
              </a:buClr>
              <a:buSzPts val="4500"/>
              <a:buFont typeface="Georgia"/>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28" name="Google Shape;128;p19"/>
          <p:cNvCxnSpPr/>
          <p:nvPr/>
        </p:nvCxnSpPr>
        <p:spPr>
          <a:xfrm>
            <a:off x="320040" y="4767263"/>
            <a:ext cx="8503800" cy="0"/>
          </a:xfrm>
          <a:prstGeom prst="straightConnector1">
            <a:avLst/>
          </a:prstGeom>
          <a:noFill/>
          <a:ln cap="flat" cmpd="sng" w="9525">
            <a:solidFill>
              <a:schemeClr val="lt1"/>
            </a:solidFill>
            <a:prstDash val="solid"/>
            <a:miter lim="800000"/>
            <a:headEnd len="sm" w="sm" type="none"/>
            <a:tailEnd len="sm" w="sm" type="none"/>
          </a:ln>
        </p:spPr>
      </p:cxnSp>
      <p:sp>
        <p:nvSpPr>
          <p:cNvPr id="129" name="Google Shape;129;p19"/>
          <p:cNvSpPr txBox="1"/>
          <p:nvPr>
            <p:ph idx="1" type="subTitle"/>
          </p:nvPr>
        </p:nvSpPr>
        <p:spPr>
          <a:xfrm>
            <a:off x="1363125" y="3500618"/>
            <a:ext cx="6202200" cy="943500"/>
          </a:xfrm>
          <a:prstGeom prst="rect">
            <a:avLst/>
          </a:prstGeom>
        </p:spPr>
        <p:txBody>
          <a:bodyPr anchorCtr="0" anchor="t" bIns="45700" lIns="0" spcFirstLastPara="1" rIns="0" wrap="square" tIns="45700">
            <a:normAutofit/>
          </a:bodyPr>
          <a:lstStyle>
            <a:lvl1pPr lvl="0" rtl="0">
              <a:spcBef>
                <a:spcPts val="750"/>
              </a:spcBef>
              <a:spcAft>
                <a:spcPts val="0"/>
              </a:spcAft>
              <a:buClr>
                <a:schemeClr val="lt1"/>
              </a:buClr>
              <a:buSzPts val="2300"/>
              <a:buNone/>
              <a:defRPr>
                <a:solidFill>
                  <a:schemeClr val="lt1"/>
                </a:solidFill>
              </a:defRPr>
            </a:lvl1pPr>
            <a:lvl2pPr lvl="1" rtl="0">
              <a:spcBef>
                <a:spcPts val="375"/>
              </a:spcBef>
              <a:spcAft>
                <a:spcPts val="0"/>
              </a:spcAft>
              <a:buSzPts val="1800"/>
              <a:buNone/>
              <a:defRPr/>
            </a:lvl2pPr>
            <a:lvl3pPr lvl="2" rtl="0">
              <a:spcBef>
                <a:spcPts val="375"/>
              </a:spcBef>
              <a:spcAft>
                <a:spcPts val="0"/>
              </a:spcAft>
              <a:buSzPts val="1800"/>
              <a:buNone/>
              <a:defRPr/>
            </a:lvl3pPr>
            <a:lvl4pPr lvl="3" rtl="0">
              <a:spcBef>
                <a:spcPts val="375"/>
              </a:spcBef>
              <a:spcAft>
                <a:spcPts val="0"/>
              </a:spcAft>
              <a:buSzPts val="1800"/>
              <a:buNone/>
              <a:defRPr/>
            </a:lvl4pPr>
            <a:lvl5pPr lvl="4" rtl="0">
              <a:spcBef>
                <a:spcPts val="375"/>
              </a:spcBef>
              <a:spcAft>
                <a:spcPts val="0"/>
              </a:spcAft>
              <a:buSzPts val="1800"/>
              <a:buNone/>
              <a:defRPr/>
            </a:lvl5pPr>
            <a:lvl6pPr lvl="5" rtl="0">
              <a:spcBef>
                <a:spcPts val="375"/>
              </a:spcBef>
              <a:spcAft>
                <a:spcPts val="0"/>
              </a:spcAft>
              <a:buSzPts val="1350"/>
              <a:buNone/>
              <a:defRPr/>
            </a:lvl6pPr>
            <a:lvl7pPr lvl="6" rtl="0">
              <a:spcBef>
                <a:spcPts val="375"/>
              </a:spcBef>
              <a:spcAft>
                <a:spcPts val="0"/>
              </a:spcAft>
              <a:buSzPts val="1350"/>
              <a:buNone/>
              <a:defRPr/>
            </a:lvl7pPr>
            <a:lvl8pPr lvl="7" rtl="0">
              <a:spcBef>
                <a:spcPts val="375"/>
              </a:spcBef>
              <a:spcAft>
                <a:spcPts val="0"/>
              </a:spcAft>
              <a:buSzPts val="1350"/>
              <a:buNone/>
              <a:defRPr/>
            </a:lvl8pPr>
            <a:lvl9pPr lvl="8" rtl="0">
              <a:spcBef>
                <a:spcPts val="375"/>
              </a:spcBef>
              <a:spcAft>
                <a:spcPts val="0"/>
              </a:spcAft>
              <a:buSzPts val="135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0" name="Shape 130"/>
        <p:cNvGrpSpPr/>
        <p:nvPr/>
      </p:nvGrpSpPr>
      <p:grpSpPr>
        <a:xfrm>
          <a:off x="0" y="0"/>
          <a:ext cx="0" cy="0"/>
          <a:chOff x="0" y="0"/>
          <a:chExt cx="0" cy="0"/>
        </a:xfrm>
      </p:grpSpPr>
      <p:sp>
        <p:nvSpPr>
          <p:cNvPr id="131" name="Google Shape;131;p20"/>
          <p:cNvSpPr txBox="1"/>
          <p:nvPr>
            <p:ph type="title"/>
          </p:nvPr>
        </p:nvSpPr>
        <p:spPr>
          <a:xfrm>
            <a:off x="320040" y="273844"/>
            <a:ext cx="8503800" cy="823500"/>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2" name="Google Shape;132;p20"/>
          <p:cNvSpPr txBox="1"/>
          <p:nvPr>
            <p:ph idx="12" type="sldNum"/>
          </p:nvPr>
        </p:nvSpPr>
        <p:spPr>
          <a:xfrm>
            <a:off x="676656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3" name="Shape 133"/>
        <p:cNvGrpSpPr/>
        <p:nvPr/>
      </p:nvGrpSpPr>
      <p:grpSpPr>
        <a:xfrm>
          <a:off x="0" y="0"/>
          <a:ext cx="0" cy="0"/>
          <a:chOff x="0" y="0"/>
          <a:chExt cx="0" cy="0"/>
        </a:xfrm>
      </p:grpSpPr>
      <p:sp>
        <p:nvSpPr>
          <p:cNvPr id="134" name="Google Shape;134;p21"/>
          <p:cNvSpPr/>
          <p:nvPr/>
        </p:nvSpPr>
        <p:spPr>
          <a:xfrm>
            <a:off x="0" y="4759290"/>
            <a:ext cx="2210700" cy="38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5" name="Shape 135"/>
        <p:cNvGrpSpPr/>
        <p:nvPr/>
      </p:nvGrpSpPr>
      <p:grpSpPr>
        <a:xfrm>
          <a:off x="0" y="0"/>
          <a:ext cx="0" cy="0"/>
          <a:chOff x="0" y="0"/>
          <a:chExt cx="0" cy="0"/>
        </a:xfrm>
      </p:grpSpPr>
      <p:cxnSp>
        <p:nvCxnSpPr>
          <p:cNvPr id="136" name="Google Shape;136;p2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37" name="Google Shape;137;p2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38" name="Google Shape;138;p22"/>
          <p:cNvGrpSpPr/>
          <p:nvPr/>
        </p:nvGrpSpPr>
        <p:grpSpPr>
          <a:xfrm>
            <a:off x="1004144" y="1022025"/>
            <a:ext cx="7136668" cy="152400"/>
            <a:chOff x="1346429" y="1011300"/>
            <a:chExt cx="6452100" cy="152400"/>
          </a:xfrm>
        </p:grpSpPr>
        <p:cxnSp>
          <p:nvCxnSpPr>
            <p:cNvPr id="139" name="Google Shape;139;p2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0" name="Google Shape;140;p2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41" name="Google Shape;141;p22"/>
          <p:cNvGrpSpPr/>
          <p:nvPr/>
        </p:nvGrpSpPr>
        <p:grpSpPr>
          <a:xfrm>
            <a:off x="1004151" y="3969100"/>
            <a:ext cx="7136668" cy="152400"/>
            <a:chOff x="1346435" y="3969088"/>
            <a:chExt cx="6452100" cy="152400"/>
          </a:xfrm>
        </p:grpSpPr>
        <p:cxnSp>
          <p:nvCxnSpPr>
            <p:cNvPr id="142" name="Google Shape;142;p2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3" name="Google Shape;143;p2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44" name="Google Shape;144;p22"/>
          <p:cNvSpPr txBox="1"/>
          <p:nvPr>
            <p:ph type="ctrTitle"/>
          </p:nvPr>
        </p:nvSpPr>
        <p:spPr>
          <a:xfrm>
            <a:off x="1004150" y="1751764"/>
            <a:ext cx="7136700" cy="1022400"/>
          </a:xfrm>
          <a:prstGeom prst="rect">
            <a:avLst/>
          </a:prstGeom>
        </p:spPr>
        <p:txBody>
          <a:bodyPr anchorCtr="0" anchor="b" bIns="45700" lIns="0" spcFirstLastPara="1" rIns="0" wrap="square" tIns="45700">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45" name="Google Shape;145;p22"/>
          <p:cNvSpPr txBox="1"/>
          <p:nvPr>
            <p:ph idx="1" type="subTitle"/>
          </p:nvPr>
        </p:nvSpPr>
        <p:spPr>
          <a:xfrm>
            <a:off x="2137225" y="2850039"/>
            <a:ext cx="4870500" cy="792600"/>
          </a:xfrm>
          <a:prstGeom prst="rect">
            <a:avLst/>
          </a:prstGeom>
        </p:spPr>
        <p:txBody>
          <a:bodyPr anchorCtr="0" anchor="t" bIns="45700" lIns="0" spcFirstLastPara="1" rIns="0" wrap="square" tIns="45700">
            <a:normAutofit/>
          </a:bodyPr>
          <a:lstStyle>
            <a:lvl1pPr lvl="0" algn="ctr">
              <a:lnSpc>
                <a:spcPct val="100000"/>
              </a:lnSpc>
              <a:spcBef>
                <a:spcPts val="750"/>
              </a:spcBef>
              <a:spcAft>
                <a:spcPts val="0"/>
              </a:spcAft>
              <a:buSzPts val="2400"/>
              <a:buNone/>
              <a:defRPr sz="2400"/>
            </a:lvl1pPr>
            <a:lvl2pPr lvl="1" algn="ctr">
              <a:lnSpc>
                <a:spcPct val="100000"/>
              </a:lnSpc>
              <a:spcBef>
                <a:spcPts val="375"/>
              </a:spcBef>
              <a:spcAft>
                <a:spcPts val="0"/>
              </a:spcAft>
              <a:buSzPts val="2400"/>
              <a:buNone/>
              <a:defRPr sz="2400"/>
            </a:lvl2pPr>
            <a:lvl3pPr lvl="2" algn="ctr">
              <a:lnSpc>
                <a:spcPct val="100000"/>
              </a:lnSpc>
              <a:spcBef>
                <a:spcPts val="375"/>
              </a:spcBef>
              <a:spcAft>
                <a:spcPts val="0"/>
              </a:spcAft>
              <a:buSzPts val="2400"/>
              <a:buNone/>
              <a:defRPr sz="2400"/>
            </a:lvl3pPr>
            <a:lvl4pPr lvl="3" algn="ctr">
              <a:lnSpc>
                <a:spcPct val="100000"/>
              </a:lnSpc>
              <a:spcBef>
                <a:spcPts val="375"/>
              </a:spcBef>
              <a:spcAft>
                <a:spcPts val="0"/>
              </a:spcAft>
              <a:buSzPts val="2400"/>
              <a:buNone/>
              <a:defRPr sz="2400"/>
            </a:lvl4pPr>
            <a:lvl5pPr lvl="4" algn="ctr">
              <a:lnSpc>
                <a:spcPct val="100000"/>
              </a:lnSpc>
              <a:spcBef>
                <a:spcPts val="375"/>
              </a:spcBef>
              <a:spcAft>
                <a:spcPts val="0"/>
              </a:spcAft>
              <a:buSzPts val="2400"/>
              <a:buNone/>
              <a:defRPr sz="2400"/>
            </a:lvl5pPr>
            <a:lvl6pPr lvl="5" algn="ctr">
              <a:lnSpc>
                <a:spcPct val="100000"/>
              </a:lnSpc>
              <a:spcBef>
                <a:spcPts val="375"/>
              </a:spcBef>
              <a:spcAft>
                <a:spcPts val="0"/>
              </a:spcAft>
              <a:buSzPts val="2400"/>
              <a:buNone/>
              <a:defRPr sz="2400"/>
            </a:lvl6pPr>
            <a:lvl7pPr lvl="6" algn="ctr">
              <a:lnSpc>
                <a:spcPct val="100000"/>
              </a:lnSpc>
              <a:spcBef>
                <a:spcPts val="375"/>
              </a:spcBef>
              <a:spcAft>
                <a:spcPts val="0"/>
              </a:spcAft>
              <a:buSzPts val="2400"/>
              <a:buNone/>
              <a:defRPr sz="2400"/>
            </a:lvl7pPr>
            <a:lvl8pPr lvl="7" algn="ctr">
              <a:lnSpc>
                <a:spcPct val="100000"/>
              </a:lnSpc>
              <a:spcBef>
                <a:spcPts val="375"/>
              </a:spcBef>
              <a:spcAft>
                <a:spcPts val="0"/>
              </a:spcAft>
              <a:buSzPts val="2400"/>
              <a:buNone/>
              <a:defRPr sz="2400"/>
            </a:lvl8pPr>
            <a:lvl9pPr lvl="8" algn="ctr">
              <a:lnSpc>
                <a:spcPct val="100000"/>
              </a:lnSpc>
              <a:spcBef>
                <a:spcPts val="375"/>
              </a:spcBef>
              <a:spcAft>
                <a:spcPts val="0"/>
              </a:spcAft>
              <a:buSzPts val="2400"/>
              <a:buNone/>
              <a:defRPr sz="2400"/>
            </a:lvl9pPr>
          </a:lstStyle>
          <a:p/>
        </p:txBody>
      </p:sp>
      <p:sp>
        <p:nvSpPr>
          <p:cNvPr id="146" name="Google Shape;146;p22"/>
          <p:cNvSpPr txBox="1"/>
          <p:nvPr>
            <p:ph idx="12" type="sldNum"/>
          </p:nvPr>
        </p:nvSpPr>
        <p:spPr>
          <a:xfrm>
            <a:off x="8472458" y="4663217"/>
            <a:ext cx="548700" cy="393600"/>
          </a:xfrm>
          <a:prstGeom prst="rect">
            <a:avLst/>
          </a:prstGeom>
        </p:spPr>
        <p:txBody>
          <a:bodyPr anchorCtr="0" anchor="ctr"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75ddcce462adc3fe_27_0)">
  <p:cSld name="Generated (h75ddcce462adc3fe_27_0)">
    <p:spTree>
      <p:nvGrpSpPr>
        <p:cNvPr id="147" name="Shape 147"/>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bkgd 1">
  <p:cSld name="Title and Content w/bkgd (h1ef1bbbdac1b0fcf_37_0)">
    <p:spTree>
      <p:nvGrpSpPr>
        <p:cNvPr id="148" name="Shape 148"/>
        <p:cNvGrpSpPr/>
        <p:nvPr/>
      </p:nvGrpSpPr>
      <p:grpSpPr>
        <a:xfrm>
          <a:off x="0" y="0"/>
          <a:ext cx="0" cy="0"/>
          <a:chOff x="0" y="0"/>
          <a:chExt cx="0" cy="0"/>
        </a:xfrm>
      </p:grpSpPr>
      <p:sp>
        <p:nvSpPr>
          <p:cNvPr id="149" name="Google Shape;149;p24"/>
          <p:cNvSpPr txBox="1"/>
          <p:nvPr>
            <p:ph type="title"/>
          </p:nvPr>
        </p:nvSpPr>
        <p:spPr>
          <a:xfrm>
            <a:off x="320040" y="273844"/>
            <a:ext cx="8503800" cy="823500"/>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24"/>
          <p:cNvSpPr txBox="1"/>
          <p:nvPr>
            <p:ph idx="12" type="sldNum"/>
          </p:nvPr>
        </p:nvSpPr>
        <p:spPr>
          <a:xfrm>
            <a:off x="676656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u="none" cap="none" strike="noStrike">
                <a:solidFill>
                  <a:schemeClr val="dk2"/>
                </a:solidFill>
                <a:latin typeface="Calibri"/>
                <a:ea typeface="Calibri"/>
                <a:cs typeface="Calibri"/>
                <a:sym typeface="Calibri"/>
              </a:defRPr>
            </a:lvl1pPr>
            <a:lvl2pPr indent="0" lvl="1" marL="0" algn="r">
              <a:spcBef>
                <a:spcPts val="0"/>
              </a:spcBef>
              <a:buNone/>
              <a:defRPr b="0" i="0" sz="800" u="none" cap="none" strike="noStrike">
                <a:solidFill>
                  <a:schemeClr val="dk2"/>
                </a:solidFill>
                <a:latin typeface="Calibri"/>
                <a:ea typeface="Calibri"/>
                <a:cs typeface="Calibri"/>
                <a:sym typeface="Calibri"/>
              </a:defRPr>
            </a:lvl2pPr>
            <a:lvl3pPr indent="0" lvl="2" marL="0" algn="r">
              <a:spcBef>
                <a:spcPts val="0"/>
              </a:spcBef>
              <a:buNone/>
              <a:defRPr b="0" i="0" sz="800" u="none" cap="none" strike="noStrike">
                <a:solidFill>
                  <a:schemeClr val="dk2"/>
                </a:solidFill>
                <a:latin typeface="Calibri"/>
                <a:ea typeface="Calibri"/>
                <a:cs typeface="Calibri"/>
                <a:sym typeface="Calibri"/>
              </a:defRPr>
            </a:lvl3pPr>
            <a:lvl4pPr indent="0" lvl="3" marL="0" algn="r">
              <a:spcBef>
                <a:spcPts val="0"/>
              </a:spcBef>
              <a:buNone/>
              <a:defRPr b="0" i="0" sz="800" u="none" cap="none" strike="noStrike">
                <a:solidFill>
                  <a:schemeClr val="dk2"/>
                </a:solidFill>
                <a:latin typeface="Calibri"/>
                <a:ea typeface="Calibri"/>
                <a:cs typeface="Calibri"/>
                <a:sym typeface="Calibri"/>
              </a:defRPr>
            </a:lvl4pPr>
            <a:lvl5pPr indent="0" lvl="4" marL="0" algn="r">
              <a:spcBef>
                <a:spcPts val="0"/>
              </a:spcBef>
              <a:buNone/>
              <a:defRPr b="0" i="0" sz="800" u="none" cap="none" strike="noStrike">
                <a:solidFill>
                  <a:schemeClr val="dk2"/>
                </a:solidFill>
                <a:latin typeface="Calibri"/>
                <a:ea typeface="Calibri"/>
                <a:cs typeface="Calibri"/>
                <a:sym typeface="Calibri"/>
              </a:defRPr>
            </a:lvl5pPr>
            <a:lvl6pPr indent="0" lvl="5" marL="0" algn="r">
              <a:spcBef>
                <a:spcPts val="0"/>
              </a:spcBef>
              <a:buNone/>
              <a:defRPr b="0" i="0" sz="800" u="none" cap="none" strike="noStrike">
                <a:solidFill>
                  <a:schemeClr val="dk2"/>
                </a:solidFill>
                <a:latin typeface="Calibri"/>
                <a:ea typeface="Calibri"/>
                <a:cs typeface="Calibri"/>
                <a:sym typeface="Calibri"/>
              </a:defRPr>
            </a:lvl6pPr>
            <a:lvl7pPr indent="0" lvl="6" marL="0" algn="r">
              <a:spcBef>
                <a:spcPts val="0"/>
              </a:spcBef>
              <a:buNone/>
              <a:defRPr b="0" i="0" sz="800" u="none" cap="none" strike="noStrike">
                <a:solidFill>
                  <a:schemeClr val="dk2"/>
                </a:solidFill>
                <a:latin typeface="Calibri"/>
                <a:ea typeface="Calibri"/>
                <a:cs typeface="Calibri"/>
                <a:sym typeface="Calibri"/>
              </a:defRPr>
            </a:lvl7pPr>
            <a:lvl8pPr indent="0" lvl="7" marL="0" algn="r">
              <a:spcBef>
                <a:spcPts val="0"/>
              </a:spcBef>
              <a:buNone/>
              <a:defRPr b="0" i="0" sz="800" u="none" cap="none" strike="noStrike">
                <a:solidFill>
                  <a:schemeClr val="dk2"/>
                </a:solidFill>
                <a:latin typeface="Calibri"/>
                <a:ea typeface="Calibri"/>
                <a:cs typeface="Calibri"/>
                <a:sym typeface="Calibri"/>
              </a:defRPr>
            </a:lvl8pPr>
            <a:lvl9pPr indent="0" lvl="8" marL="0" algn="r">
              <a:spcBef>
                <a:spcPts val="0"/>
              </a:spcBef>
              <a:buNone/>
              <a:defRPr b="0" i="0" sz="800" u="none" cap="none" strike="noStrike">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151" name="Google Shape;151;p24"/>
          <p:cNvSpPr txBox="1"/>
          <p:nvPr>
            <p:ph idx="1" type="body"/>
          </p:nvPr>
        </p:nvSpPr>
        <p:spPr>
          <a:xfrm>
            <a:off x="407965" y="1334745"/>
            <a:ext cx="8503800" cy="3432600"/>
          </a:xfrm>
          <a:prstGeom prst="rect">
            <a:avLst/>
          </a:prstGeom>
          <a:noFill/>
          <a:ln>
            <a:noFill/>
          </a:ln>
        </p:spPr>
        <p:txBody>
          <a:bodyPr anchorCtr="0" anchor="t" bIns="45700" lIns="0" spcFirstLastPara="1" rIns="0" wrap="square" tIns="45700">
            <a:normAutofit/>
          </a:bodyPr>
          <a:lstStyle>
            <a:lvl1pPr indent="-374650" lvl="0" marL="457200" marR="0" algn="l">
              <a:lnSpc>
                <a:spcPct val="90000"/>
              </a:lnSpc>
              <a:spcBef>
                <a:spcPts val="750"/>
              </a:spcBef>
              <a:spcAft>
                <a:spcPts val="0"/>
              </a:spcAft>
              <a:buClr>
                <a:schemeClr val="dk2"/>
              </a:buClr>
              <a:buSzPts val="2300"/>
              <a:buFont typeface="Arial"/>
              <a:buChar char="•"/>
              <a:defRPr b="0" i="0" sz="2300" u="none" cap="none" strike="noStrike">
                <a:solidFill>
                  <a:schemeClr val="dk2"/>
                </a:solidFill>
                <a:latin typeface="Calibri"/>
                <a:ea typeface="Calibri"/>
                <a:cs typeface="Calibri"/>
                <a:sym typeface="Calibri"/>
              </a:defRPr>
            </a:lvl1pPr>
            <a:lvl2pPr indent="-342900" lvl="1" marL="914400" marR="0" algn="l">
              <a:lnSpc>
                <a:spcPct val="90000"/>
              </a:lnSpc>
              <a:spcBef>
                <a:spcPts val="375"/>
              </a:spcBef>
              <a:spcAft>
                <a:spcPts val="0"/>
              </a:spcAft>
              <a:buClr>
                <a:schemeClr val="dk2"/>
              </a:buClr>
              <a:buSzPts val="1800"/>
              <a:buFont typeface="Arial"/>
              <a:buChar char="•"/>
              <a:defRPr b="0" i="0" sz="1800" u="none" cap="none" strike="noStrike">
                <a:solidFill>
                  <a:schemeClr val="dk2"/>
                </a:solidFill>
                <a:latin typeface="Calibri"/>
                <a:ea typeface="Calibri"/>
                <a:cs typeface="Calibri"/>
                <a:sym typeface="Calibri"/>
              </a:defRPr>
            </a:lvl2pPr>
            <a:lvl3pPr indent="-342900" lvl="2" marL="1371600" marR="0" algn="l">
              <a:lnSpc>
                <a:spcPct val="90000"/>
              </a:lnSpc>
              <a:spcBef>
                <a:spcPts val="375"/>
              </a:spcBef>
              <a:spcAft>
                <a:spcPts val="0"/>
              </a:spcAft>
              <a:buClr>
                <a:schemeClr val="dk2"/>
              </a:buClr>
              <a:buSzPts val="1800"/>
              <a:buFont typeface="Arial"/>
              <a:buChar char="•"/>
              <a:defRPr b="0" i="0" sz="1800" u="none" cap="none" strike="noStrike">
                <a:solidFill>
                  <a:schemeClr val="dk2"/>
                </a:solidFill>
                <a:latin typeface="Calibri"/>
                <a:ea typeface="Calibri"/>
                <a:cs typeface="Calibri"/>
                <a:sym typeface="Calibri"/>
              </a:defRPr>
            </a:lvl3pPr>
            <a:lvl4pPr indent="-342900" lvl="3" marL="1828800" marR="0" algn="l">
              <a:lnSpc>
                <a:spcPct val="90000"/>
              </a:lnSpc>
              <a:spcBef>
                <a:spcPts val="375"/>
              </a:spcBef>
              <a:spcAft>
                <a:spcPts val="0"/>
              </a:spcAft>
              <a:buClr>
                <a:schemeClr val="dk2"/>
              </a:buClr>
              <a:buSzPts val="1800"/>
              <a:buFont typeface="Arial"/>
              <a:buChar char="•"/>
              <a:defRPr b="0" i="0" sz="1800" u="none" cap="none" strike="noStrike">
                <a:solidFill>
                  <a:schemeClr val="dk2"/>
                </a:solidFill>
                <a:latin typeface="Calibri"/>
                <a:ea typeface="Calibri"/>
                <a:cs typeface="Calibri"/>
                <a:sym typeface="Calibri"/>
              </a:defRPr>
            </a:lvl4pPr>
            <a:lvl5pPr indent="-342900" lvl="4" marL="2286000" marR="0" algn="l">
              <a:lnSpc>
                <a:spcPct val="90000"/>
              </a:lnSpc>
              <a:spcBef>
                <a:spcPts val="375"/>
              </a:spcBef>
              <a:spcAft>
                <a:spcPts val="0"/>
              </a:spcAft>
              <a:buClr>
                <a:schemeClr val="dk2"/>
              </a:buClr>
              <a:buSzPts val="1800"/>
              <a:buFont typeface="Arial"/>
              <a:buChar char="•"/>
              <a:defRPr b="0" i="0" sz="1800" u="none" cap="none" strike="noStrike">
                <a:solidFill>
                  <a:schemeClr val="dk2"/>
                </a:solidFill>
                <a:latin typeface="Calibri"/>
                <a:ea typeface="Calibri"/>
                <a:cs typeface="Calibri"/>
                <a:sym typeface="Calibri"/>
              </a:defRPr>
            </a:lvl5pPr>
            <a:lvl6pPr indent="-314325" lvl="5" marL="2743200" marR="0" algn="l">
              <a:lnSpc>
                <a:spcPct val="90000"/>
              </a:lnSpc>
              <a:spcBef>
                <a:spcPts val="375"/>
              </a:spcBef>
              <a:spcAft>
                <a:spcPts val="0"/>
              </a:spcAft>
              <a:buClr>
                <a:schemeClr val="dk2"/>
              </a:buClr>
              <a:buSzPts val="1350"/>
              <a:buFont typeface="Arial"/>
              <a:buChar char="•"/>
              <a:defRPr b="0" i="0" sz="1350" u="none" cap="none" strike="noStrike">
                <a:solidFill>
                  <a:schemeClr val="dk2"/>
                </a:solidFill>
                <a:latin typeface="Calibri"/>
                <a:ea typeface="Calibri"/>
                <a:cs typeface="Calibri"/>
                <a:sym typeface="Calibri"/>
              </a:defRPr>
            </a:lvl6pPr>
            <a:lvl7pPr indent="-314325" lvl="6" marL="3200400" marR="0" algn="l">
              <a:lnSpc>
                <a:spcPct val="90000"/>
              </a:lnSpc>
              <a:spcBef>
                <a:spcPts val="375"/>
              </a:spcBef>
              <a:spcAft>
                <a:spcPts val="0"/>
              </a:spcAft>
              <a:buClr>
                <a:schemeClr val="dk2"/>
              </a:buClr>
              <a:buSzPts val="1350"/>
              <a:buFont typeface="Arial"/>
              <a:buChar char="•"/>
              <a:defRPr b="0" i="0" sz="1350" u="none" cap="none" strike="noStrike">
                <a:solidFill>
                  <a:schemeClr val="dk2"/>
                </a:solidFill>
                <a:latin typeface="Calibri"/>
                <a:ea typeface="Calibri"/>
                <a:cs typeface="Calibri"/>
                <a:sym typeface="Calibri"/>
              </a:defRPr>
            </a:lvl7pPr>
            <a:lvl8pPr indent="-314325" lvl="7" marL="3657600" marR="0" algn="l">
              <a:lnSpc>
                <a:spcPct val="90000"/>
              </a:lnSpc>
              <a:spcBef>
                <a:spcPts val="375"/>
              </a:spcBef>
              <a:spcAft>
                <a:spcPts val="0"/>
              </a:spcAft>
              <a:buClr>
                <a:schemeClr val="dk2"/>
              </a:buClr>
              <a:buSzPts val="1350"/>
              <a:buFont typeface="Arial"/>
              <a:buChar char="•"/>
              <a:defRPr b="0" i="0" sz="1350" u="none" cap="none" strike="noStrike">
                <a:solidFill>
                  <a:schemeClr val="dk2"/>
                </a:solidFill>
                <a:latin typeface="Calibri"/>
                <a:ea typeface="Calibri"/>
                <a:cs typeface="Calibri"/>
                <a:sym typeface="Calibri"/>
              </a:defRPr>
            </a:lvl8pPr>
            <a:lvl9pPr indent="-314325" lvl="8" marL="4114800" marR="0" algn="l">
              <a:lnSpc>
                <a:spcPct val="90000"/>
              </a:lnSpc>
              <a:spcBef>
                <a:spcPts val="375"/>
              </a:spcBef>
              <a:spcAft>
                <a:spcPts val="0"/>
              </a:spcAft>
              <a:buClr>
                <a:schemeClr val="dk2"/>
              </a:buClr>
              <a:buSzPts val="1350"/>
              <a:buFont typeface="Arial"/>
              <a:buChar char="•"/>
              <a:defRPr b="0" i="0" sz="1350" u="none" cap="none" strike="noStrike">
                <a:solidFill>
                  <a:schemeClr val="dk2"/>
                </a:solidFill>
                <a:latin typeface="Calibri"/>
                <a:ea typeface="Calibri"/>
                <a:cs typeface="Calibri"/>
                <a:sym typeface="Calibri"/>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5"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20040" y="273844"/>
            <a:ext cx="8503800" cy="823500"/>
          </a:xfrm>
          <a:prstGeom prst="rect">
            <a:avLst/>
          </a:prstGeom>
          <a:noFill/>
          <a:ln>
            <a:noFill/>
          </a:ln>
        </p:spPr>
        <p:txBody>
          <a:bodyPr anchorCtr="0" anchor="ctr" bIns="45700" lIns="0" spcFirstLastPara="1" rIns="0" wrap="square" tIns="45700">
            <a:normAutofit/>
          </a:bodyPr>
          <a:lstStyle>
            <a:lvl1pPr lvl="0" marR="0" rtl="0" algn="l">
              <a:lnSpc>
                <a:spcPct val="90000"/>
              </a:lnSpc>
              <a:spcBef>
                <a:spcPts val="0"/>
              </a:spcBef>
              <a:spcAft>
                <a:spcPts val="0"/>
              </a:spcAft>
              <a:buClr>
                <a:schemeClr val="dk1"/>
              </a:buClr>
              <a:buSzPts val="3200"/>
              <a:buFont typeface="Georgia"/>
              <a:buNone/>
              <a:defRPr b="0" i="0" sz="3200" u="none" cap="none" strike="noStrike">
                <a:solidFill>
                  <a:schemeClr val="dk1"/>
                </a:solidFill>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320040" y="1200150"/>
            <a:ext cx="8503800" cy="3432600"/>
          </a:xfrm>
          <a:prstGeom prst="rect">
            <a:avLst/>
          </a:prstGeom>
          <a:noFill/>
          <a:ln>
            <a:noFill/>
          </a:ln>
        </p:spPr>
        <p:txBody>
          <a:bodyPr anchorCtr="0" anchor="t" bIns="45700" lIns="0" spcFirstLastPara="1" rIns="0" wrap="square" tIns="45700">
            <a:normAutofit/>
          </a:bodyPr>
          <a:lstStyle>
            <a:lvl1pPr indent="-374650" lvl="0" marL="457200" marR="0" rtl="0" algn="l">
              <a:lnSpc>
                <a:spcPct val="90000"/>
              </a:lnSpc>
              <a:spcBef>
                <a:spcPts val="750"/>
              </a:spcBef>
              <a:spcAft>
                <a:spcPts val="0"/>
              </a:spcAft>
              <a:buClr>
                <a:schemeClr val="dk2"/>
              </a:buClr>
              <a:buSzPts val="2300"/>
              <a:buFont typeface="Arial"/>
              <a:buChar char="•"/>
              <a:defRPr b="0" i="0" sz="2300" u="none" cap="none" strike="noStrike">
                <a:solidFill>
                  <a:schemeClr val="dk2"/>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2"/>
              </a:buClr>
              <a:buSzPts val="1800"/>
              <a:buFont typeface="Arial"/>
              <a:buChar char="•"/>
              <a:defRPr b="0" i="0" sz="1800" u="none" cap="none" strike="noStrike">
                <a:solidFill>
                  <a:schemeClr val="dk2"/>
                </a:solidFill>
                <a:latin typeface="Calibri"/>
                <a:ea typeface="Calibri"/>
                <a:cs typeface="Calibri"/>
                <a:sym typeface="Calibri"/>
              </a:defRPr>
            </a:lvl2pPr>
            <a:lvl3pPr indent="-342900" lvl="2" marL="1371600" marR="0" rtl="0" algn="l">
              <a:lnSpc>
                <a:spcPct val="90000"/>
              </a:lnSpc>
              <a:spcBef>
                <a:spcPts val="375"/>
              </a:spcBef>
              <a:spcAft>
                <a:spcPts val="0"/>
              </a:spcAft>
              <a:buClr>
                <a:schemeClr val="dk2"/>
              </a:buClr>
              <a:buSzPts val="1800"/>
              <a:buFont typeface="Arial"/>
              <a:buChar char="•"/>
              <a:defRPr b="0" i="0" sz="1800" u="none" cap="none" strike="noStrike">
                <a:solidFill>
                  <a:schemeClr val="dk2"/>
                </a:solidFill>
                <a:latin typeface="Calibri"/>
                <a:ea typeface="Calibri"/>
                <a:cs typeface="Calibri"/>
                <a:sym typeface="Calibri"/>
              </a:defRPr>
            </a:lvl3pPr>
            <a:lvl4pPr indent="-342900" lvl="3" marL="1828800" marR="0" rtl="0" algn="l">
              <a:lnSpc>
                <a:spcPct val="90000"/>
              </a:lnSpc>
              <a:spcBef>
                <a:spcPts val="375"/>
              </a:spcBef>
              <a:spcAft>
                <a:spcPts val="0"/>
              </a:spcAft>
              <a:buClr>
                <a:schemeClr val="dk2"/>
              </a:buClr>
              <a:buSzPts val="1800"/>
              <a:buFont typeface="Arial"/>
              <a:buChar char="•"/>
              <a:defRPr b="0" i="0" sz="1800" u="none" cap="none" strike="noStrike">
                <a:solidFill>
                  <a:schemeClr val="dk2"/>
                </a:solidFill>
                <a:latin typeface="Calibri"/>
                <a:ea typeface="Calibri"/>
                <a:cs typeface="Calibri"/>
                <a:sym typeface="Calibri"/>
              </a:defRPr>
            </a:lvl4pPr>
            <a:lvl5pPr indent="-342900" lvl="4" marL="2286000" marR="0" rtl="0" algn="l">
              <a:lnSpc>
                <a:spcPct val="90000"/>
              </a:lnSpc>
              <a:spcBef>
                <a:spcPts val="375"/>
              </a:spcBef>
              <a:spcAft>
                <a:spcPts val="0"/>
              </a:spcAft>
              <a:buClr>
                <a:schemeClr val="dk2"/>
              </a:buClr>
              <a:buSzPts val="1800"/>
              <a:buFont typeface="Arial"/>
              <a:buChar char="•"/>
              <a:defRPr b="0" i="0" sz="1800" u="none" cap="none" strike="noStrike">
                <a:solidFill>
                  <a:schemeClr val="dk2"/>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2"/>
              </a:buClr>
              <a:buSzPts val="1350"/>
              <a:buFont typeface="Arial"/>
              <a:buChar char="•"/>
              <a:defRPr b="0" i="0" sz="1350" u="none" cap="none" strike="noStrike">
                <a:solidFill>
                  <a:schemeClr val="dk2"/>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2"/>
              </a:buClr>
              <a:buSzPts val="1350"/>
              <a:buFont typeface="Arial"/>
              <a:buChar char="•"/>
              <a:defRPr b="0" i="0" sz="1350" u="none" cap="none" strike="noStrike">
                <a:solidFill>
                  <a:schemeClr val="dk2"/>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2"/>
              </a:buClr>
              <a:buSzPts val="1350"/>
              <a:buFont typeface="Arial"/>
              <a:buChar char="•"/>
              <a:defRPr b="0" i="0" sz="1350" u="none" cap="none" strike="noStrike">
                <a:solidFill>
                  <a:schemeClr val="dk2"/>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2"/>
              </a:buClr>
              <a:buSzPts val="1350"/>
              <a:buFont typeface="Arial"/>
              <a:buChar char="•"/>
              <a:defRPr b="0" i="0" sz="1350" u="none" cap="none" strike="noStrike">
                <a:solidFill>
                  <a:schemeClr val="dk2"/>
                </a:solidFill>
                <a:latin typeface="Calibri"/>
                <a:ea typeface="Calibri"/>
                <a:cs typeface="Calibri"/>
                <a:sym typeface="Calibri"/>
              </a:defRPr>
            </a:lvl9pPr>
          </a:lstStyle>
          <a:p/>
        </p:txBody>
      </p:sp>
      <p:pic>
        <p:nvPicPr>
          <p:cNvPr descr="Logo&#10;&#10;Description automatically generated" id="8" name="Google Shape;8;p1"/>
          <p:cNvPicPr preferRelativeResize="0"/>
          <p:nvPr/>
        </p:nvPicPr>
        <p:blipFill rotWithShape="1">
          <a:blip r:embed="rId1">
            <a:alphaModFix/>
          </a:blip>
          <a:srcRect b="0" l="0" r="0" t="0"/>
          <a:stretch/>
        </p:blipFill>
        <p:spPr>
          <a:xfrm>
            <a:off x="231581" y="4778131"/>
            <a:ext cx="1440180" cy="306804"/>
          </a:xfrm>
          <a:prstGeom prst="rect">
            <a:avLst/>
          </a:prstGeom>
          <a:noFill/>
          <a:ln>
            <a:noFill/>
          </a:ln>
        </p:spPr>
      </p:pic>
      <p:sp>
        <p:nvSpPr>
          <p:cNvPr id="9" name="Google Shape;9;p1"/>
          <p:cNvSpPr txBox="1"/>
          <p:nvPr>
            <p:ph idx="12" type="sldNum"/>
          </p:nvPr>
        </p:nvSpPr>
        <p:spPr>
          <a:xfrm>
            <a:off x="6766560" y="4757739"/>
            <a:ext cx="2057400" cy="2730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800" u="none" cap="none" strike="noStrike">
                <a:solidFill>
                  <a:schemeClr val="dk2"/>
                </a:solidFill>
                <a:latin typeface="Calibri"/>
                <a:ea typeface="Calibri"/>
                <a:cs typeface="Calibri"/>
                <a:sym typeface="Calibri"/>
              </a:defRPr>
            </a:lvl1pPr>
            <a:lvl2pPr indent="0" lvl="1" marL="0" marR="0" rtl="0" algn="r">
              <a:spcBef>
                <a:spcPts val="0"/>
              </a:spcBef>
              <a:buNone/>
              <a:defRPr b="0" i="0" sz="800" u="none" cap="none" strike="noStrike">
                <a:solidFill>
                  <a:schemeClr val="dk2"/>
                </a:solidFill>
                <a:latin typeface="Calibri"/>
                <a:ea typeface="Calibri"/>
                <a:cs typeface="Calibri"/>
                <a:sym typeface="Calibri"/>
              </a:defRPr>
            </a:lvl2pPr>
            <a:lvl3pPr indent="0" lvl="2" marL="0" marR="0" rtl="0" algn="r">
              <a:spcBef>
                <a:spcPts val="0"/>
              </a:spcBef>
              <a:buNone/>
              <a:defRPr b="0" i="0" sz="800" u="none" cap="none" strike="noStrike">
                <a:solidFill>
                  <a:schemeClr val="dk2"/>
                </a:solidFill>
                <a:latin typeface="Calibri"/>
                <a:ea typeface="Calibri"/>
                <a:cs typeface="Calibri"/>
                <a:sym typeface="Calibri"/>
              </a:defRPr>
            </a:lvl3pPr>
            <a:lvl4pPr indent="0" lvl="3" marL="0" marR="0" rtl="0" algn="r">
              <a:spcBef>
                <a:spcPts val="0"/>
              </a:spcBef>
              <a:buNone/>
              <a:defRPr b="0" i="0" sz="800" u="none" cap="none" strike="noStrike">
                <a:solidFill>
                  <a:schemeClr val="dk2"/>
                </a:solidFill>
                <a:latin typeface="Calibri"/>
                <a:ea typeface="Calibri"/>
                <a:cs typeface="Calibri"/>
                <a:sym typeface="Calibri"/>
              </a:defRPr>
            </a:lvl4pPr>
            <a:lvl5pPr indent="0" lvl="4" marL="0" marR="0" rtl="0" algn="r">
              <a:spcBef>
                <a:spcPts val="0"/>
              </a:spcBef>
              <a:buNone/>
              <a:defRPr b="0" i="0" sz="800" u="none" cap="none" strike="noStrike">
                <a:solidFill>
                  <a:schemeClr val="dk2"/>
                </a:solidFill>
                <a:latin typeface="Calibri"/>
                <a:ea typeface="Calibri"/>
                <a:cs typeface="Calibri"/>
                <a:sym typeface="Calibri"/>
              </a:defRPr>
            </a:lvl5pPr>
            <a:lvl6pPr indent="0" lvl="5" marL="0" marR="0" rtl="0" algn="r">
              <a:spcBef>
                <a:spcPts val="0"/>
              </a:spcBef>
              <a:buNone/>
              <a:defRPr b="0" i="0" sz="800" u="none" cap="none" strike="noStrike">
                <a:solidFill>
                  <a:schemeClr val="dk2"/>
                </a:solidFill>
                <a:latin typeface="Calibri"/>
                <a:ea typeface="Calibri"/>
                <a:cs typeface="Calibri"/>
                <a:sym typeface="Calibri"/>
              </a:defRPr>
            </a:lvl6pPr>
            <a:lvl7pPr indent="0" lvl="6" marL="0" marR="0" rtl="0" algn="r">
              <a:spcBef>
                <a:spcPts val="0"/>
              </a:spcBef>
              <a:buNone/>
              <a:defRPr b="0" i="0" sz="800" u="none" cap="none" strike="noStrike">
                <a:solidFill>
                  <a:schemeClr val="dk2"/>
                </a:solidFill>
                <a:latin typeface="Calibri"/>
                <a:ea typeface="Calibri"/>
                <a:cs typeface="Calibri"/>
                <a:sym typeface="Calibri"/>
              </a:defRPr>
            </a:lvl7pPr>
            <a:lvl8pPr indent="0" lvl="7" marL="0" marR="0" rtl="0" algn="r">
              <a:spcBef>
                <a:spcPts val="0"/>
              </a:spcBef>
              <a:buNone/>
              <a:defRPr b="0" i="0" sz="800" u="none" cap="none" strike="noStrike">
                <a:solidFill>
                  <a:schemeClr val="dk2"/>
                </a:solidFill>
                <a:latin typeface="Calibri"/>
                <a:ea typeface="Calibri"/>
                <a:cs typeface="Calibri"/>
                <a:sym typeface="Calibri"/>
              </a:defRPr>
            </a:lvl8pPr>
            <a:lvl9pPr indent="0" lvl="8" marL="0" marR="0" rtl="0" algn="r">
              <a:spcBef>
                <a:spcPts val="0"/>
              </a:spcBef>
              <a:buNone/>
              <a:defRPr b="0" i="0" sz="800" u="none" cap="none" strike="noStrike">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1.jpg"/><Relationship Id="rId4" Type="http://schemas.openxmlformats.org/officeDocument/2006/relationships/image" Target="../media/image29.jpg"/><Relationship Id="rId5" Type="http://schemas.openxmlformats.org/officeDocument/2006/relationships/image" Target="../media/image13.png"/><Relationship Id="rId6"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cs109ace.slack.com/archives/C0C4PGF59FX" TargetMode="External"/><Relationship Id="rId4" Type="http://schemas.openxmlformats.org/officeDocument/2006/relationships/hyperlink" Target="https://www.when2meet.com/?38886965-Tb3sy"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docs.google.com/forms/d/e/1FAIpQLSe1mAsUZwbRjNByQ0WeNJBttXR4dU4jgqT3zDxu_NWCYBJtMQ/viewform?usp=publish-editor"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4.xml"/><Relationship Id="rId3" Type="http://schemas.openxmlformats.org/officeDocument/2006/relationships/image" Target="../media/image19.png"/><Relationship Id="rId4" Type="http://schemas.openxmlformats.org/officeDocument/2006/relationships/image" Target="../media/image23.png"/><Relationship Id="rId5" Type="http://schemas.openxmlformats.org/officeDocument/2006/relationships/image" Target="../media/image2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5.xml"/><Relationship Id="rId3" Type="http://schemas.openxmlformats.org/officeDocument/2006/relationships/image" Target="../media/image1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2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2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2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3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2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2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2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2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 Id="rId3" Type="http://schemas.openxmlformats.org/officeDocument/2006/relationships/comments" Target="../comments/commen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5"/>
          <p:cNvSpPr txBox="1"/>
          <p:nvPr>
            <p:ph type="ctrTitle"/>
          </p:nvPr>
        </p:nvSpPr>
        <p:spPr>
          <a:xfrm>
            <a:off x="1004150" y="1751764"/>
            <a:ext cx="7136700" cy="1022400"/>
          </a:xfrm>
          <a:prstGeom prst="rect">
            <a:avLst/>
          </a:prstGeom>
        </p:spPr>
        <p:txBody>
          <a:bodyPr anchorCtr="0" anchor="b" bIns="45700" lIns="0" spcFirstLastPara="1" rIns="0" wrap="square" tIns="45700">
            <a:normAutofit fontScale="90000"/>
          </a:bodyPr>
          <a:lstStyle/>
          <a:p>
            <a:pPr indent="0" lvl="0" marL="0" rtl="0" algn="ctr">
              <a:spcBef>
                <a:spcPts val="0"/>
              </a:spcBef>
              <a:spcAft>
                <a:spcPts val="0"/>
              </a:spcAft>
              <a:buNone/>
            </a:pPr>
            <a:r>
              <a:rPr lang="en"/>
              <a:t>Welcome to CS 109ACE!</a:t>
            </a:r>
            <a:endParaRPr/>
          </a:p>
        </p:txBody>
      </p:sp>
      <p:sp>
        <p:nvSpPr>
          <p:cNvPr id="157" name="Google Shape;157;p25"/>
          <p:cNvSpPr txBox="1"/>
          <p:nvPr>
            <p:ph idx="1" type="subTitle"/>
          </p:nvPr>
        </p:nvSpPr>
        <p:spPr>
          <a:xfrm>
            <a:off x="2137225" y="2850039"/>
            <a:ext cx="4870500" cy="792600"/>
          </a:xfrm>
          <a:prstGeom prst="rect">
            <a:avLst/>
          </a:prstGeom>
        </p:spPr>
        <p:txBody>
          <a:bodyPr anchorCtr="0" anchor="t" bIns="45700" lIns="0" spcFirstLastPara="1" rIns="0" wrap="square" tIns="45700">
            <a:normAutofit/>
          </a:bodyPr>
          <a:lstStyle/>
          <a:p>
            <a:pPr indent="0" lvl="0" marL="0" rtl="0" algn="ctr">
              <a:spcBef>
                <a:spcPts val="750"/>
              </a:spcBef>
              <a:spcAft>
                <a:spcPts val="0"/>
              </a:spcAft>
              <a:buNone/>
            </a:pPr>
            <a:r>
              <a:rPr lang="en"/>
              <a:t>Ethan Hersch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6"/>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Hi, I’m Ethan!</a:t>
            </a:r>
            <a:endParaRPr/>
          </a:p>
        </p:txBody>
      </p:sp>
      <p:pic>
        <p:nvPicPr>
          <p:cNvPr id="163" name="Google Shape;163;p26" title="RICO.jpg"/>
          <p:cNvPicPr preferRelativeResize="0"/>
          <p:nvPr/>
        </p:nvPicPr>
        <p:blipFill>
          <a:blip r:embed="rId3">
            <a:alphaModFix/>
          </a:blip>
          <a:stretch>
            <a:fillRect/>
          </a:stretch>
        </p:blipFill>
        <p:spPr>
          <a:xfrm>
            <a:off x="7193300" y="1466850"/>
            <a:ext cx="1543227" cy="2057626"/>
          </a:xfrm>
          <a:prstGeom prst="rect">
            <a:avLst/>
          </a:prstGeom>
          <a:noFill/>
          <a:ln>
            <a:noFill/>
          </a:ln>
        </p:spPr>
      </p:pic>
      <p:pic>
        <p:nvPicPr>
          <p:cNvPr id="164" name="Google Shape;164;p26"/>
          <p:cNvPicPr preferRelativeResize="0"/>
          <p:nvPr/>
        </p:nvPicPr>
        <p:blipFill>
          <a:blip r:embed="rId4">
            <a:alphaModFix/>
          </a:blip>
          <a:stretch>
            <a:fillRect/>
          </a:stretch>
        </p:blipFill>
        <p:spPr>
          <a:xfrm>
            <a:off x="464822" y="1371600"/>
            <a:ext cx="2390649" cy="2804152"/>
          </a:xfrm>
          <a:prstGeom prst="rect">
            <a:avLst/>
          </a:prstGeom>
          <a:noFill/>
          <a:ln>
            <a:noFill/>
          </a:ln>
        </p:spPr>
      </p:pic>
      <p:pic>
        <p:nvPicPr>
          <p:cNvPr id="165" name="Google Shape;165;p26"/>
          <p:cNvPicPr preferRelativeResize="0"/>
          <p:nvPr/>
        </p:nvPicPr>
        <p:blipFill rotWithShape="1">
          <a:blip r:embed="rId5">
            <a:alphaModFix/>
          </a:blip>
          <a:srcRect b="0" l="7323" r="12291" t="0"/>
          <a:stretch/>
        </p:blipFill>
        <p:spPr>
          <a:xfrm>
            <a:off x="3986375" y="1501150"/>
            <a:ext cx="1622100" cy="1290900"/>
          </a:xfrm>
          <a:prstGeom prst="rect">
            <a:avLst/>
          </a:prstGeom>
          <a:noFill/>
          <a:ln>
            <a:noFill/>
          </a:ln>
        </p:spPr>
      </p:pic>
      <p:sp>
        <p:nvSpPr>
          <p:cNvPr id="166" name="Google Shape;166;p26"/>
          <p:cNvSpPr txBox="1"/>
          <p:nvPr/>
        </p:nvSpPr>
        <p:spPr>
          <a:xfrm>
            <a:off x="3572675" y="2792050"/>
            <a:ext cx="244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latin typeface="Calibri"/>
                <a:ea typeface="Calibri"/>
                <a:cs typeface="Calibri"/>
                <a:sym typeface="Calibri"/>
              </a:rPr>
              <a:t>Deep learning, AI, </a:t>
            </a:r>
            <a:r>
              <a:rPr lang="en">
                <a:solidFill>
                  <a:schemeClr val="dk2"/>
                </a:solidFill>
                <a:latin typeface="Calibri"/>
                <a:ea typeface="Calibri"/>
                <a:cs typeface="Calibri"/>
                <a:sym typeface="Calibri"/>
              </a:rPr>
              <a:t>statistics</a:t>
            </a:r>
            <a:endParaRPr>
              <a:solidFill>
                <a:schemeClr val="dk2"/>
              </a:solidFill>
              <a:latin typeface="Calibri"/>
              <a:ea typeface="Calibri"/>
              <a:cs typeface="Calibri"/>
              <a:sym typeface="Calibri"/>
            </a:endParaRPr>
          </a:p>
        </p:txBody>
      </p:sp>
      <p:pic>
        <p:nvPicPr>
          <p:cNvPr id="167" name="Google Shape;167;p26"/>
          <p:cNvPicPr preferRelativeResize="0"/>
          <p:nvPr/>
        </p:nvPicPr>
        <p:blipFill>
          <a:blip r:embed="rId6">
            <a:alphaModFix/>
          </a:blip>
          <a:stretch>
            <a:fillRect/>
          </a:stretch>
        </p:blipFill>
        <p:spPr>
          <a:xfrm>
            <a:off x="4194772" y="3195850"/>
            <a:ext cx="1733575" cy="13868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7"/>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Agenda</a:t>
            </a:r>
            <a:endParaRPr/>
          </a:p>
        </p:txBody>
      </p:sp>
      <p:sp>
        <p:nvSpPr>
          <p:cNvPr id="173" name="Google Shape;173;p27"/>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374650" lvl="0" marL="457200" rtl="0" algn="l">
              <a:spcBef>
                <a:spcPts val="750"/>
              </a:spcBef>
              <a:spcAft>
                <a:spcPts val="0"/>
              </a:spcAft>
              <a:buSzPts val="2300"/>
              <a:buAutoNum type="arabicPeriod"/>
            </a:pPr>
            <a:r>
              <a:rPr lang="en"/>
              <a:t>Logistics + intros</a:t>
            </a:r>
            <a:endParaRPr/>
          </a:p>
          <a:p>
            <a:pPr indent="-374650" lvl="0" marL="457200" rtl="0" algn="l">
              <a:spcBef>
                <a:spcPts val="0"/>
              </a:spcBef>
              <a:spcAft>
                <a:spcPts val="0"/>
              </a:spcAft>
              <a:buSzPts val="2300"/>
              <a:buAutoNum type="arabicPeriod"/>
            </a:pPr>
            <a:r>
              <a:rPr lang="en"/>
              <a:t>Lecture review - Counting</a:t>
            </a:r>
            <a:endParaRPr/>
          </a:p>
          <a:p>
            <a:pPr indent="-342900" lvl="1" marL="914400" rtl="0" algn="l">
              <a:spcBef>
                <a:spcPts val="0"/>
              </a:spcBef>
              <a:spcAft>
                <a:spcPts val="0"/>
              </a:spcAft>
              <a:buSzPts val="1800"/>
              <a:buAutoNum type="alphaLcPeriod"/>
            </a:pPr>
            <a:r>
              <a:rPr lang="en"/>
              <a:t>Practice!</a:t>
            </a:r>
            <a:endParaRPr/>
          </a:p>
          <a:p>
            <a:pPr indent="-374650" lvl="0" marL="457200" rtl="0" algn="l">
              <a:spcBef>
                <a:spcPts val="0"/>
              </a:spcBef>
              <a:spcAft>
                <a:spcPts val="0"/>
              </a:spcAft>
              <a:buSzPts val="2300"/>
              <a:buAutoNum type="arabicPeriod"/>
            </a:pPr>
            <a:r>
              <a:rPr lang="en"/>
              <a:t>Lecture review - Intro Probability</a:t>
            </a:r>
            <a:endParaRPr/>
          </a:p>
          <a:p>
            <a:pPr indent="-342900" lvl="1" marL="914400" rtl="0" algn="l">
              <a:spcBef>
                <a:spcPts val="0"/>
              </a:spcBef>
              <a:spcAft>
                <a:spcPts val="0"/>
              </a:spcAft>
              <a:buSzPts val="1800"/>
              <a:buAutoNum type="alphaLcPeriod"/>
            </a:pPr>
            <a:r>
              <a:rPr lang="en"/>
              <a:t>More practice!</a:t>
            </a:r>
            <a:endParaRPr/>
          </a:p>
          <a:p>
            <a:pPr indent="-374650" lvl="0" marL="457200" rtl="0" algn="l">
              <a:spcBef>
                <a:spcPts val="0"/>
              </a:spcBef>
              <a:spcAft>
                <a:spcPts val="0"/>
              </a:spcAft>
              <a:buSzPts val="2300"/>
              <a:buAutoNum type="arabicPeriod"/>
            </a:pPr>
            <a:r>
              <a:rPr lang="en"/>
              <a:t>Lecture review - Bayes Theorem</a:t>
            </a:r>
            <a:endParaRPr/>
          </a:p>
          <a:p>
            <a:pPr indent="-342900" lvl="1" marL="914400" rtl="0" algn="l">
              <a:spcBef>
                <a:spcPts val="0"/>
              </a:spcBef>
              <a:spcAft>
                <a:spcPts val="0"/>
              </a:spcAft>
              <a:buSzPts val="1800"/>
              <a:buAutoNum type="alphaLcPeriod"/>
            </a:pPr>
            <a:r>
              <a:rPr lang="en"/>
              <a:t>Practice (again)!</a:t>
            </a:r>
            <a:endParaRPr/>
          </a:p>
          <a:p>
            <a:pPr indent="-374650" lvl="0" marL="457200" rtl="0" algn="l">
              <a:spcBef>
                <a:spcPts val="0"/>
              </a:spcBef>
              <a:spcAft>
                <a:spcPts val="0"/>
              </a:spcAft>
              <a:buSzPts val="2300"/>
              <a:buAutoNum type="arabicPeriod"/>
            </a:pPr>
            <a:r>
              <a:rPr lang="en"/>
              <a:t>+ your </a:t>
            </a:r>
            <a:r>
              <a:rPr lang="en"/>
              <a:t>questions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8"/>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Let’s get to know each other!</a:t>
            </a:r>
            <a:endParaRPr/>
          </a:p>
        </p:txBody>
      </p:sp>
      <p:sp>
        <p:nvSpPr>
          <p:cNvPr id="179" name="Google Shape;179;p28"/>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0" lvl="0" marL="0" rtl="0" algn="l">
              <a:spcBef>
                <a:spcPts val="750"/>
              </a:spcBef>
              <a:spcAft>
                <a:spcPts val="0"/>
              </a:spcAft>
              <a:buNone/>
            </a:pPr>
            <a:r>
              <a:rPr lang="en"/>
              <a:t>Name, year, major</a:t>
            </a:r>
            <a:endParaRPr/>
          </a:p>
          <a:p>
            <a:pPr indent="0" lvl="0" marL="0" rtl="0" algn="l">
              <a:spcBef>
                <a:spcPts val="750"/>
              </a:spcBef>
              <a:spcAft>
                <a:spcPts val="0"/>
              </a:spcAft>
              <a:buNone/>
            </a:pPr>
            <a:r>
              <a:rPr lang="en"/>
              <a:t>Where are </a:t>
            </a:r>
            <a:r>
              <a:rPr lang="en"/>
              <a:t>you</a:t>
            </a:r>
            <a:r>
              <a:rPr lang="en"/>
              <a:t> from?</a:t>
            </a:r>
            <a:endParaRPr/>
          </a:p>
          <a:p>
            <a:pPr indent="0" lvl="0" marL="0" rtl="0" algn="l">
              <a:spcBef>
                <a:spcPts val="750"/>
              </a:spcBef>
              <a:spcAft>
                <a:spcPts val="0"/>
              </a:spcAft>
              <a:buNone/>
            </a:pPr>
            <a:r>
              <a:t/>
            </a:r>
            <a:endParaRPr/>
          </a:p>
          <a:p>
            <a:pPr indent="0" lvl="0" marL="0" rtl="0" algn="l">
              <a:spcBef>
                <a:spcPts val="750"/>
              </a:spcBef>
              <a:spcAft>
                <a:spcPts val="0"/>
              </a:spcAft>
              <a:buNone/>
            </a:pPr>
            <a:r>
              <a:rPr lang="en"/>
              <a:t>1 thing </a:t>
            </a:r>
            <a:r>
              <a:rPr lang="en"/>
              <a:t>you</a:t>
            </a:r>
            <a:r>
              <a:rPr lang="en"/>
              <a:t> miss the most about the summer</a:t>
            </a:r>
            <a:endParaRPr/>
          </a:p>
          <a:p>
            <a:pPr indent="0" lvl="0" marL="0" rtl="0" algn="l">
              <a:spcBef>
                <a:spcPts val="750"/>
              </a:spcBef>
              <a:spcAft>
                <a:spcPts val="0"/>
              </a:spcAft>
              <a:buNone/>
            </a:pPr>
            <a:r>
              <a:t/>
            </a:r>
            <a:endParaRPr/>
          </a:p>
          <a:p>
            <a:pPr indent="0" lvl="0" marL="0" rtl="0" algn="l">
              <a:spcBef>
                <a:spcPts val="750"/>
              </a:spcBef>
              <a:spcAft>
                <a:spcPts val="0"/>
              </a:spcAft>
              <a:buNone/>
            </a:pPr>
            <a:r>
              <a:rPr lang="en"/>
              <a:t>1 thing you’re most excited about this quarter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9"/>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First some logistics…</a:t>
            </a:r>
            <a:endParaRPr/>
          </a:p>
        </p:txBody>
      </p:sp>
      <p:sp>
        <p:nvSpPr>
          <p:cNvPr id="185" name="Google Shape;185;p29"/>
          <p:cNvSpPr txBox="1"/>
          <p:nvPr>
            <p:ph idx="1" type="body"/>
          </p:nvPr>
        </p:nvSpPr>
        <p:spPr>
          <a:xfrm>
            <a:off x="407965" y="1334745"/>
            <a:ext cx="8503800" cy="3432600"/>
          </a:xfrm>
          <a:prstGeom prst="rect">
            <a:avLst/>
          </a:prstGeom>
        </p:spPr>
        <p:txBody>
          <a:bodyPr anchorCtr="0" anchor="t" bIns="45700" lIns="0" spcFirstLastPara="1" rIns="0" wrap="square" tIns="45700">
            <a:normAutofit fontScale="85000" lnSpcReduction="10000"/>
          </a:bodyPr>
          <a:lstStyle/>
          <a:p>
            <a:pPr indent="0" lvl="0" marL="0" rtl="0" algn="l">
              <a:spcBef>
                <a:spcPts val="750"/>
              </a:spcBef>
              <a:spcAft>
                <a:spcPts val="0"/>
              </a:spcAft>
              <a:buNone/>
            </a:pPr>
            <a:r>
              <a:rPr lang="en"/>
              <a:t>We will meet every Wednesday </a:t>
            </a:r>
            <a:endParaRPr/>
          </a:p>
          <a:p>
            <a:pPr indent="0" lvl="0" marL="0" rtl="0" algn="l">
              <a:spcBef>
                <a:spcPts val="750"/>
              </a:spcBef>
              <a:spcAft>
                <a:spcPts val="0"/>
              </a:spcAft>
              <a:buNone/>
            </a:pPr>
            <a:r>
              <a:t/>
            </a:r>
            <a:endParaRPr/>
          </a:p>
          <a:p>
            <a:pPr indent="0" lvl="0" marL="0" rtl="0" algn="l">
              <a:spcBef>
                <a:spcPts val="750"/>
              </a:spcBef>
              <a:spcAft>
                <a:spcPts val="0"/>
              </a:spcAft>
              <a:buNone/>
            </a:pPr>
            <a:r>
              <a:rPr lang="en"/>
              <a:t>Attend 7/9 sessions to receive credit for the quarter</a:t>
            </a:r>
            <a:endParaRPr/>
          </a:p>
          <a:p>
            <a:pPr indent="0" lvl="0" marL="0" rtl="0" algn="l">
              <a:spcBef>
                <a:spcPts val="750"/>
              </a:spcBef>
              <a:spcAft>
                <a:spcPts val="0"/>
              </a:spcAft>
              <a:buNone/>
            </a:pPr>
            <a:r>
              <a:t/>
            </a:r>
            <a:endParaRPr/>
          </a:p>
          <a:p>
            <a:pPr indent="-352743" lvl="0" marL="457200" rtl="0" algn="l">
              <a:spcBef>
                <a:spcPts val="750"/>
              </a:spcBef>
              <a:spcAft>
                <a:spcPts val="0"/>
              </a:spcAft>
              <a:buSzPct val="100000"/>
              <a:buChar char="-"/>
            </a:pPr>
            <a:r>
              <a:rPr lang="en"/>
              <a:t>Join the slack! </a:t>
            </a:r>
            <a:r>
              <a:rPr lang="en" u="sng">
                <a:solidFill>
                  <a:schemeClr val="hlink"/>
                </a:solidFill>
                <a:hlinkClick r:id="rId3"/>
              </a:rPr>
              <a:t>https://cs109ace.slack.com/archives/C0C4PGF59FX</a:t>
            </a:r>
            <a:endParaRPr/>
          </a:p>
          <a:p>
            <a:pPr indent="-325755" lvl="1" marL="914400" rtl="0" algn="l">
              <a:spcBef>
                <a:spcPts val="0"/>
              </a:spcBef>
              <a:spcAft>
                <a:spcPts val="0"/>
              </a:spcAft>
              <a:buSzPct val="100000"/>
              <a:buChar char="-"/>
            </a:pPr>
            <a:r>
              <a:rPr lang="en"/>
              <a:t>Can reach out whenever</a:t>
            </a:r>
            <a:endParaRPr/>
          </a:p>
          <a:p>
            <a:pPr indent="-325755" lvl="1" marL="914400" rtl="0" algn="l">
              <a:spcBef>
                <a:spcPts val="0"/>
              </a:spcBef>
              <a:spcAft>
                <a:spcPts val="0"/>
              </a:spcAft>
              <a:buSzPct val="100000"/>
              <a:buChar char="-"/>
            </a:pPr>
            <a:r>
              <a:rPr lang="en"/>
              <a:t>Use as a resource to ask general questions about the course</a:t>
            </a:r>
            <a:endParaRPr/>
          </a:p>
          <a:p>
            <a:pPr indent="0" lvl="0" marL="0" rtl="0" algn="l">
              <a:spcBef>
                <a:spcPts val="750"/>
              </a:spcBef>
              <a:spcAft>
                <a:spcPts val="0"/>
              </a:spcAft>
              <a:buNone/>
            </a:pPr>
            <a:r>
              <a:t/>
            </a:r>
            <a:endParaRPr/>
          </a:p>
          <a:p>
            <a:pPr indent="-352743" lvl="0" marL="457200" rtl="0" algn="l">
              <a:spcBef>
                <a:spcPts val="750"/>
              </a:spcBef>
              <a:spcAft>
                <a:spcPts val="0"/>
              </a:spcAft>
              <a:buSzPct val="100000"/>
              <a:buChar char="-"/>
            </a:pPr>
            <a:r>
              <a:rPr lang="en"/>
              <a:t>Fill out OH availability form! </a:t>
            </a:r>
            <a:r>
              <a:rPr lang="en" u="sng">
                <a:solidFill>
                  <a:schemeClr val="hlink"/>
                </a:solidFill>
                <a:hlinkClick r:id="rId4"/>
              </a:rPr>
              <a:t>https://www.when2meet.com/?38886965-Tb3sy</a:t>
            </a:r>
            <a:endParaRPr/>
          </a:p>
          <a:p>
            <a:pPr indent="0" lvl="0" marL="0" rtl="0" algn="l">
              <a:spcBef>
                <a:spcPts val="750"/>
              </a:spcBef>
              <a:spcAft>
                <a:spcPts val="0"/>
              </a:spcAft>
              <a:buNone/>
            </a:pPr>
            <a:r>
              <a:t/>
            </a:r>
            <a:endParaRPr/>
          </a:p>
          <a:p>
            <a:pPr indent="-352743" lvl="0" marL="457200" rtl="0" algn="l">
              <a:spcBef>
                <a:spcPts val="750"/>
              </a:spcBef>
              <a:spcAft>
                <a:spcPts val="0"/>
              </a:spcAft>
              <a:buSzPct val="100000"/>
              <a:buChar char="-"/>
            </a:pPr>
            <a:r>
              <a:rPr lang="en"/>
              <a:t>1:1 meetings with me at least once in the quarter (reach out if other concerns)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0"/>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One other form 😵‍💫</a:t>
            </a:r>
            <a:endParaRPr/>
          </a:p>
        </p:txBody>
      </p:sp>
      <p:sp>
        <p:nvSpPr>
          <p:cNvPr id="191" name="Google Shape;191;p30"/>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0" lvl="0" marL="0" rtl="0" algn="l">
              <a:spcBef>
                <a:spcPts val="750"/>
              </a:spcBef>
              <a:spcAft>
                <a:spcPts val="0"/>
              </a:spcAft>
              <a:buNone/>
            </a:pPr>
            <a:r>
              <a:rPr lang="en"/>
              <a:t>Intro form, other information – please complete before next week!</a:t>
            </a:r>
            <a:endParaRPr/>
          </a:p>
          <a:p>
            <a:pPr indent="0" lvl="0" marL="0" rtl="0" algn="l">
              <a:spcBef>
                <a:spcPts val="750"/>
              </a:spcBef>
              <a:spcAft>
                <a:spcPts val="0"/>
              </a:spcAft>
              <a:buNone/>
            </a:pPr>
            <a:r>
              <a:t/>
            </a:r>
            <a:endParaRPr/>
          </a:p>
          <a:p>
            <a:pPr indent="0" lvl="0" marL="0" rtl="0" algn="l">
              <a:spcBef>
                <a:spcPts val="750"/>
              </a:spcBef>
              <a:spcAft>
                <a:spcPts val="0"/>
              </a:spcAft>
              <a:buNone/>
            </a:pPr>
            <a:r>
              <a:rPr lang="en" u="sng">
                <a:solidFill>
                  <a:schemeClr val="hlink"/>
                </a:solidFill>
                <a:hlinkClick r:id="rId3"/>
              </a:rPr>
              <a:t>https://docs.google.com/forms/d/e/1FAIpQLSe1mAsUZwbRjNByQ0WeNJBttXR4dU4jgqT3zDxu_NWCYBJtMQ/viewform?usp=publish-editor</a:t>
            </a:r>
            <a:endParaRPr/>
          </a:p>
          <a:p>
            <a:pPr indent="0" lvl="0" marL="0" rtl="0" algn="l">
              <a:spcBef>
                <a:spcPts val="750"/>
              </a:spcBef>
              <a:spcAft>
                <a:spcPts val="0"/>
              </a:spcAft>
              <a:buNone/>
            </a:pPr>
            <a:r>
              <a:t/>
            </a:r>
            <a:endParaRPr/>
          </a:p>
          <a:p>
            <a:pPr indent="0" lvl="0" marL="0" rtl="0" algn="l">
              <a:spcBef>
                <a:spcPts val="750"/>
              </a:spcBef>
              <a:spcAft>
                <a:spcPts val="0"/>
              </a:spcAft>
              <a:buNone/>
            </a:pPr>
            <a:r>
              <a:rPr lang="en"/>
              <a:t>(I’ll send in the Slack, along with all the other forms)</a:t>
            </a:r>
            <a:endParaRPr/>
          </a:p>
          <a:p>
            <a:pPr indent="0" lvl="0" marL="0" rtl="0" algn="l">
              <a:spcBef>
                <a:spcPts val="75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1"/>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ACE Mission</a:t>
            </a:r>
            <a:endParaRPr/>
          </a:p>
        </p:txBody>
      </p:sp>
      <p:sp>
        <p:nvSpPr>
          <p:cNvPr id="197" name="Google Shape;197;p31"/>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0" lvl="0" marL="0" rtl="0" algn="ctr">
              <a:lnSpc>
                <a:spcPct val="100000"/>
              </a:lnSpc>
              <a:spcBef>
                <a:spcPts val="600"/>
              </a:spcBef>
              <a:spcAft>
                <a:spcPts val="0"/>
              </a:spcAft>
              <a:buNone/>
            </a:pPr>
            <a:r>
              <a:rPr i="1" lang="en">
                <a:solidFill>
                  <a:srgbClr val="677480"/>
                </a:solidFill>
                <a:latin typeface="Lato"/>
                <a:ea typeface="Lato"/>
                <a:cs typeface="Lato"/>
                <a:sym typeface="Lato"/>
              </a:rPr>
              <a:t>“</a:t>
            </a:r>
            <a:r>
              <a:rPr i="1" lang="en" sz="2100">
                <a:solidFill>
                  <a:srgbClr val="2E2D29"/>
                </a:solidFill>
                <a:latin typeface="Lato"/>
                <a:ea typeface="Lato"/>
                <a:cs typeface="Lato"/>
                <a:sym typeface="Lato"/>
              </a:rPr>
              <a:t>The mission of ACE is to provide our students, particularly those from under-resourced and/or minoritized backgrounds, with the opportunities and support to succeed in their course and in their major. ACE sections, instruction, and the ACE Course Assistants (CA’s) are intentional about fostering environments based on equity, purposeful engagement, and inclusive teaching practices.”</a:t>
            </a:r>
            <a:endParaRPr i="1">
              <a:solidFill>
                <a:srgbClr val="677480"/>
              </a:solidFill>
              <a:latin typeface="Lato"/>
              <a:ea typeface="Lato"/>
              <a:cs typeface="Lato"/>
              <a:sym typeface="Lato"/>
            </a:endParaRPr>
          </a:p>
          <a:p>
            <a:pPr indent="0" lvl="0" marL="0" rtl="0" algn="l">
              <a:spcBef>
                <a:spcPts val="75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2"/>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Expectations from ACE</a:t>
            </a:r>
            <a:endParaRPr/>
          </a:p>
        </p:txBody>
      </p:sp>
      <p:sp>
        <p:nvSpPr>
          <p:cNvPr id="203" name="Google Shape;203;p32"/>
          <p:cNvSpPr txBox="1"/>
          <p:nvPr>
            <p:ph idx="1" type="body"/>
          </p:nvPr>
        </p:nvSpPr>
        <p:spPr>
          <a:xfrm>
            <a:off x="407965" y="1334745"/>
            <a:ext cx="8503800" cy="3432600"/>
          </a:xfrm>
          <a:prstGeom prst="rect">
            <a:avLst/>
          </a:prstGeom>
        </p:spPr>
        <p:txBody>
          <a:bodyPr anchorCtr="0" anchor="t" bIns="45700" lIns="0" spcFirstLastPara="1" rIns="0" wrap="square" tIns="45700">
            <a:normAutofit lnSpcReduction="20000"/>
          </a:bodyPr>
          <a:lstStyle/>
          <a:p>
            <a:pPr indent="0" lvl="0" marL="0" rtl="0" algn="l">
              <a:spcBef>
                <a:spcPts val="750"/>
              </a:spcBef>
              <a:spcAft>
                <a:spcPts val="0"/>
              </a:spcAft>
              <a:buNone/>
            </a:pPr>
            <a:r>
              <a:rPr b="1" lang="en">
                <a:solidFill>
                  <a:schemeClr val="dk1"/>
                </a:solidFill>
              </a:rPr>
              <a:t>Attend lectures for CS 109</a:t>
            </a:r>
            <a:endParaRPr b="1">
              <a:solidFill>
                <a:schemeClr val="dk1"/>
              </a:solidFill>
            </a:endParaRPr>
          </a:p>
          <a:p>
            <a:pPr indent="0" lvl="0" marL="0" rtl="0" algn="l">
              <a:spcBef>
                <a:spcPts val="750"/>
              </a:spcBef>
              <a:spcAft>
                <a:spcPts val="0"/>
              </a:spcAft>
              <a:buNone/>
            </a:pPr>
            <a:r>
              <a:rPr lang="en"/>
              <a:t>(Remember that ACE is a supplementary course and not a replacement for the course lectures)</a:t>
            </a:r>
            <a:endParaRPr/>
          </a:p>
          <a:p>
            <a:pPr indent="0" lvl="0" marL="0" rtl="0" algn="l">
              <a:spcBef>
                <a:spcPts val="750"/>
              </a:spcBef>
              <a:spcAft>
                <a:spcPts val="0"/>
              </a:spcAft>
              <a:buNone/>
            </a:pPr>
            <a:r>
              <a:t/>
            </a:r>
            <a:endParaRPr/>
          </a:p>
          <a:p>
            <a:pPr indent="0" lvl="0" marL="0" rtl="0" algn="l">
              <a:spcBef>
                <a:spcPts val="750"/>
              </a:spcBef>
              <a:spcAft>
                <a:spcPts val="0"/>
              </a:spcAft>
              <a:buNone/>
            </a:pPr>
            <a:r>
              <a:rPr lang="en"/>
              <a:t>In 109, ACE does not replace regular section! </a:t>
            </a:r>
            <a:endParaRPr/>
          </a:p>
          <a:p>
            <a:pPr indent="0" lvl="0" marL="0" rtl="0" algn="l">
              <a:spcBef>
                <a:spcPts val="750"/>
              </a:spcBef>
              <a:spcAft>
                <a:spcPts val="0"/>
              </a:spcAft>
              <a:buNone/>
            </a:pPr>
            <a:r>
              <a:t/>
            </a:r>
            <a:endParaRPr/>
          </a:p>
          <a:p>
            <a:pPr indent="0" lvl="0" marL="0" rtl="0" algn="l">
              <a:spcBef>
                <a:spcPts val="750"/>
              </a:spcBef>
              <a:spcAft>
                <a:spcPts val="0"/>
              </a:spcAft>
              <a:buNone/>
            </a:pPr>
            <a:r>
              <a:rPr lang="en"/>
              <a:t>Attend and be engaged in section</a:t>
            </a:r>
            <a:endParaRPr/>
          </a:p>
          <a:p>
            <a:pPr indent="0" lvl="0" marL="0" rtl="0" algn="l">
              <a:spcBef>
                <a:spcPts val="750"/>
              </a:spcBef>
              <a:spcAft>
                <a:spcPts val="0"/>
              </a:spcAft>
              <a:buNone/>
            </a:pPr>
            <a:r>
              <a:t/>
            </a:r>
            <a:endParaRPr/>
          </a:p>
          <a:p>
            <a:pPr indent="0" lvl="0" marL="0" rtl="0" algn="l">
              <a:spcBef>
                <a:spcPts val="750"/>
              </a:spcBef>
              <a:spcAft>
                <a:spcPts val="0"/>
              </a:spcAft>
              <a:buNone/>
            </a:pPr>
            <a:r>
              <a:rPr lang="en"/>
              <a:t>Make the most out of their time in ACE! </a:t>
            </a:r>
            <a:endParaRPr/>
          </a:p>
          <a:p>
            <a:pPr indent="0" lvl="0" marL="0" rtl="0" algn="l">
              <a:spcBef>
                <a:spcPts val="75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3"/>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Expectations</a:t>
            </a:r>
            <a:endParaRPr/>
          </a:p>
        </p:txBody>
      </p:sp>
      <p:sp>
        <p:nvSpPr>
          <p:cNvPr id="209" name="Google Shape;209;p33"/>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0" lvl="0" marL="0" rtl="0" algn="l">
              <a:spcBef>
                <a:spcPts val="750"/>
              </a:spcBef>
              <a:spcAft>
                <a:spcPts val="0"/>
              </a:spcAft>
              <a:buNone/>
            </a:pPr>
            <a:r>
              <a:rPr b="1" lang="en"/>
              <a:t>Ask questions!</a:t>
            </a:r>
            <a:r>
              <a:rPr lang="en"/>
              <a:t> I’m not here to grade you, lecture you, etc. This course is meant for support.</a:t>
            </a:r>
            <a:endParaRPr/>
          </a:p>
          <a:p>
            <a:pPr indent="0" lvl="0" marL="0" rtl="0" algn="l">
              <a:spcBef>
                <a:spcPts val="750"/>
              </a:spcBef>
              <a:spcAft>
                <a:spcPts val="0"/>
              </a:spcAft>
              <a:buNone/>
            </a:pPr>
            <a:r>
              <a:t/>
            </a:r>
            <a:endParaRPr/>
          </a:p>
          <a:p>
            <a:pPr indent="0" lvl="0" marL="0" rtl="0" algn="l">
              <a:spcBef>
                <a:spcPts val="750"/>
              </a:spcBef>
              <a:spcAft>
                <a:spcPts val="0"/>
              </a:spcAft>
              <a:buNone/>
            </a:pPr>
            <a:r>
              <a:rPr b="1" lang="en"/>
              <a:t>Tell me</a:t>
            </a:r>
            <a:r>
              <a:rPr lang="en"/>
              <a:t> if something isn’t working: this class will be tuned to your preferences throughout this quarter (surveys, exit tickets, check-ins)</a:t>
            </a:r>
            <a:endParaRPr/>
          </a:p>
          <a:p>
            <a:pPr indent="0" lvl="0" marL="0" rtl="0" algn="l">
              <a:spcBef>
                <a:spcPts val="750"/>
              </a:spcBef>
              <a:spcAft>
                <a:spcPts val="0"/>
              </a:spcAft>
              <a:buNone/>
            </a:pPr>
            <a:r>
              <a:t/>
            </a:r>
            <a:endParaRPr/>
          </a:p>
          <a:p>
            <a:pPr indent="0" lvl="0" marL="0" rtl="0" algn="l">
              <a:spcBef>
                <a:spcPts val="750"/>
              </a:spcBef>
              <a:spcAft>
                <a:spcPts val="0"/>
              </a:spcAft>
              <a:buNone/>
            </a:pPr>
            <a:r>
              <a:rPr b="1" lang="en"/>
              <a:t>Make mistakes</a:t>
            </a:r>
            <a:r>
              <a:rPr lang="en"/>
              <a:t>. I’ll make mistakes this quarter, and we all will.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4"/>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My Teaching Philosophy</a:t>
            </a:r>
            <a:endParaRPr/>
          </a:p>
        </p:txBody>
      </p:sp>
      <p:sp>
        <p:nvSpPr>
          <p:cNvPr id="215" name="Google Shape;215;p34"/>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0" lvl="0" marL="0" rtl="0" algn="l">
              <a:spcBef>
                <a:spcPts val="750"/>
              </a:spcBef>
              <a:spcAft>
                <a:spcPts val="0"/>
              </a:spcAft>
              <a:buNone/>
            </a:pPr>
            <a:r>
              <a:rPr b="1" lang="en"/>
              <a:t>Nobody </a:t>
            </a:r>
            <a:r>
              <a:rPr lang="en"/>
              <a:t>starts an expert, and nothing replaces hard work.</a:t>
            </a:r>
            <a:endParaRPr/>
          </a:p>
          <a:p>
            <a:pPr indent="0" lvl="0" marL="0" rtl="0" algn="l">
              <a:spcBef>
                <a:spcPts val="750"/>
              </a:spcBef>
              <a:spcAft>
                <a:spcPts val="0"/>
              </a:spcAft>
              <a:buNone/>
            </a:pPr>
            <a:r>
              <a:t/>
            </a:r>
            <a:endParaRPr/>
          </a:p>
          <a:p>
            <a:pPr indent="0" lvl="0" marL="0" rtl="0" algn="l">
              <a:spcBef>
                <a:spcPts val="750"/>
              </a:spcBef>
              <a:spcAft>
                <a:spcPts val="0"/>
              </a:spcAft>
              <a:buNone/>
            </a:pPr>
            <a:r>
              <a:rPr lang="en"/>
              <a:t>This all comes from making mistakes and not being afraid to try new </a:t>
            </a:r>
            <a:r>
              <a:rPr lang="en"/>
              <a:t>problems.</a:t>
            </a:r>
            <a:endParaRPr/>
          </a:p>
          <a:p>
            <a:pPr indent="0" lvl="0" marL="0" rtl="0" algn="l">
              <a:spcBef>
                <a:spcPts val="750"/>
              </a:spcBef>
              <a:spcAft>
                <a:spcPts val="0"/>
              </a:spcAft>
              <a:buNone/>
            </a:pPr>
            <a:r>
              <a:t/>
            </a:r>
            <a:endParaRPr/>
          </a:p>
          <a:p>
            <a:pPr indent="0" lvl="0" marL="0" rtl="0" algn="l">
              <a:spcBef>
                <a:spcPts val="750"/>
              </a:spcBef>
              <a:spcAft>
                <a:spcPts val="0"/>
              </a:spcAft>
              <a:buNone/>
            </a:pPr>
            <a:r>
              <a:rPr lang="en"/>
              <a:t>We will try a lot of new problems together and encourage mistakes!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5"/>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Why CS 109?</a:t>
            </a:r>
            <a:endParaRPr/>
          </a:p>
        </p:txBody>
      </p:sp>
      <p:sp>
        <p:nvSpPr>
          <p:cNvPr id="221" name="Google Shape;221;p35"/>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0" lvl="0" marL="0" rtl="0" algn="l">
              <a:spcBef>
                <a:spcPts val="750"/>
              </a:spcBef>
              <a:spcAft>
                <a:spcPts val="0"/>
              </a:spcAft>
              <a:buNone/>
            </a:pPr>
            <a:r>
              <a:rPr b="1" lang="en"/>
              <a:t>First, we </a:t>
            </a:r>
            <a:r>
              <a:rPr b="1" lang="en"/>
              <a:t>will do combinatorics:</a:t>
            </a:r>
            <a:endParaRPr/>
          </a:p>
          <a:p>
            <a:pPr indent="0" lvl="0" marL="0" rtl="0" algn="l">
              <a:spcBef>
                <a:spcPts val="750"/>
              </a:spcBef>
              <a:spcAft>
                <a:spcPts val="0"/>
              </a:spcAft>
              <a:buNone/>
            </a:pPr>
            <a:r>
              <a:t/>
            </a:r>
            <a:endParaRPr/>
          </a:p>
          <a:p>
            <a:pPr indent="0" lvl="0" marL="0" rtl="0" algn="l">
              <a:spcBef>
                <a:spcPts val="750"/>
              </a:spcBef>
              <a:spcAft>
                <a:spcPts val="0"/>
              </a:spcAft>
              <a:buNone/>
            </a:pPr>
            <a:r>
              <a:rPr lang="en" sz="1800">
                <a:solidFill>
                  <a:schemeClr val="dk1"/>
                </a:solidFill>
              </a:rPr>
              <a:t>A surprising birthday question </a:t>
            </a:r>
            <a:r>
              <a:rPr lang="en" sz="1800"/>
              <a:t>🎂</a:t>
            </a:r>
            <a:endParaRPr sz="1800"/>
          </a:p>
          <a:p>
            <a:pPr indent="0" lvl="0" marL="0" rtl="0" algn="l">
              <a:spcBef>
                <a:spcPts val="750"/>
              </a:spcBef>
              <a:spcAft>
                <a:spcPts val="0"/>
              </a:spcAft>
              <a:buNone/>
            </a:pPr>
            <a:r>
              <a:t/>
            </a:r>
            <a:endParaRPr sz="1800"/>
          </a:p>
          <a:p>
            <a:pPr indent="0" lvl="0" marL="0" rtl="0" algn="l">
              <a:spcBef>
                <a:spcPts val="750"/>
              </a:spcBef>
              <a:spcAft>
                <a:spcPts val="0"/>
              </a:spcAft>
              <a:buNone/>
            </a:pPr>
            <a:r>
              <a:rPr lang="en" sz="1800"/>
              <a:t>How many people need to be in a room before there’s a greater than 50% chance that two share a birthday?</a:t>
            </a:r>
            <a:endParaRPr sz="1800"/>
          </a:p>
          <a:p>
            <a:pPr indent="0" lvl="0" marL="0" rtl="0" algn="l">
              <a:spcBef>
                <a:spcPts val="750"/>
              </a:spcBef>
              <a:spcAft>
                <a:spcPts val="0"/>
              </a:spcAft>
              <a:buNone/>
            </a:pPr>
            <a:r>
              <a:t/>
            </a:r>
            <a:endParaRPr sz="1800"/>
          </a:p>
          <a:p>
            <a:pPr indent="0" lvl="0" marL="0" rtl="0" algn="l">
              <a:spcBef>
                <a:spcPts val="750"/>
              </a:spcBef>
              <a:spcAft>
                <a:spcPts val="0"/>
              </a:spcAft>
              <a:buNone/>
            </a:pPr>
            <a:r>
              <a:rPr lang="en" sz="1800"/>
              <a:t>Guesses?</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6"/>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Solution</a:t>
            </a:r>
            <a:endParaRPr/>
          </a:p>
        </p:txBody>
      </p:sp>
      <p:sp>
        <p:nvSpPr>
          <p:cNvPr id="227" name="Google Shape;227;p36"/>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0" lvl="0" marL="0" rtl="0" algn="l">
              <a:spcBef>
                <a:spcPts val="750"/>
              </a:spcBef>
              <a:spcAft>
                <a:spcPts val="0"/>
              </a:spcAft>
              <a:buNone/>
            </a:pPr>
            <a:r>
              <a:rPr lang="en"/>
              <a:t>A general case: for n people</a:t>
            </a:r>
            <a:endParaRPr/>
          </a:p>
          <a:p>
            <a:pPr indent="0" lvl="0" marL="0" rtl="0" algn="l">
              <a:spcBef>
                <a:spcPts val="750"/>
              </a:spcBef>
              <a:spcAft>
                <a:spcPts val="0"/>
              </a:spcAft>
              <a:buNone/>
            </a:pPr>
            <a:r>
              <a:t/>
            </a:r>
            <a:endParaRPr/>
          </a:p>
          <a:p>
            <a:pPr indent="0" lvl="0" marL="0" rtl="0" algn="l">
              <a:spcBef>
                <a:spcPts val="750"/>
              </a:spcBef>
              <a:spcAft>
                <a:spcPts val="0"/>
              </a:spcAft>
              <a:buNone/>
            </a:pPr>
            <a:r>
              <a:rPr lang="en"/>
              <a:t>P(no share a birthday) = (365/365) (364/365) … (365-n+1)/365</a:t>
            </a:r>
            <a:endParaRPr/>
          </a:p>
          <a:p>
            <a:pPr indent="0" lvl="0" marL="0" rtl="0" algn="l">
              <a:spcBef>
                <a:spcPts val="750"/>
              </a:spcBef>
              <a:spcAft>
                <a:spcPts val="0"/>
              </a:spcAft>
              <a:buNone/>
            </a:pPr>
            <a:r>
              <a:t/>
            </a:r>
            <a:endParaRPr/>
          </a:p>
          <a:p>
            <a:pPr indent="0" lvl="0" marL="0" rtl="0" algn="l">
              <a:spcBef>
                <a:spcPts val="750"/>
              </a:spcBef>
              <a:spcAft>
                <a:spcPts val="0"/>
              </a:spcAft>
              <a:buNone/>
            </a:pPr>
            <a:r>
              <a:rPr lang="en"/>
              <a:t>If n = 22, </a:t>
            </a:r>
            <a:r>
              <a:rPr lang="en"/>
              <a:t>this</a:t>
            </a:r>
            <a:r>
              <a:rPr lang="en"/>
              <a:t> probability is 52.4%</a:t>
            </a:r>
            <a:endParaRPr/>
          </a:p>
          <a:p>
            <a:pPr indent="0" lvl="0" marL="0" rtl="0" algn="l">
              <a:spcBef>
                <a:spcPts val="750"/>
              </a:spcBef>
              <a:spcAft>
                <a:spcPts val="0"/>
              </a:spcAft>
              <a:buNone/>
            </a:pPr>
            <a:r>
              <a:rPr b="1" lang="en"/>
              <a:t>If n = 23, this probability is 49.3%</a:t>
            </a:r>
            <a:endParaRPr b="1"/>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7"/>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Why CS 109?</a:t>
            </a:r>
            <a:endParaRPr/>
          </a:p>
        </p:txBody>
      </p:sp>
      <p:sp>
        <p:nvSpPr>
          <p:cNvPr id="233" name="Google Shape;233;p37"/>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0" lvl="0" marL="0" rtl="0" algn="l">
              <a:spcBef>
                <a:spcPts val="750"/>
              </a:spcBef>
              <a:spcAft>
                <a:spcPts val="0"/>
              </a:spcAft>
              <a:buNone/>
            </a:pPr>
            <a:r>
              <a:rPr b="1" lang="en"/>
              <a:t>Then we will do more traditional probability.</a:t>
            </a:r>
            <a:endParaRPr/>
          </a:p>
          <a:p>
            <a:pPr indent="0" lvl="0" marL="0" rtl="0" algn="l">
              <a:spcBef>
                <a:spcPts val="750"/>
              </a:spcBef>
              <a:spcAft>
                <a:spcPts val="0"/>
              </a:spcAft>
              <a:buNone/>
            </a:pPr>
            <a:r>
              <a:t/>
            </a:r>
            <a:endParaRPr/>
          </a:p>
          <a:p>
            <a:pPr indent="0" lvl="0" marL="0" rtl="0" algn="l">
              <a:spcBef>
                <a:spcPts val="750"/>
              </a:spcBef>
              <a:spcAft>
                <a:spcPts val="0"/>
              </a:spcAft>
              <a:buNone/>
            </a:pPr>
            <a:r>
              <a:rPr lang="en"/>
              <a:t>You’re collecting all 10 different stickers. Each pack contains one random sticker. On average, how many packs will it take to get all 10?</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8"/>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Solution</a:t>
            </a:r>
            <a:endParaRPr/>
          </a:p>
        </p:txBody>
      </p:sp>
      <p:sp>
        <p:nvSpPr>
          <p:cNvPr id="239" name="Google Shape;239;p38"/>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0" lvl="0" marL="0" rtl="0" algn="l">
              <a:spcBef>
                <a:spcPts val="750"/>
              </a:spcBef>
              <a:spcAft>
                <a:spcPts val="0"/>
              </a:spcAft>
              <a:buNone/>
            </a:pPr>
            <a:r>
              <a:rPr lang="en"/>
              <a:t>E[T] = 10/10 + 10/9 + … + 10/1 = ~29/29</a:t>
            </a:r>
            <a:endParaRPr/>
          </a:p>
          <a:p>
            <a:pPr indent="0" lvl="0" marL="0" rtl="0" algn="l">
              <a:spcBef>
                <a:spcPts val="750"/>
              </a:spcBef>
              <a:spcAft>
                <a:spcPts val="0"/>
              </a:spcAft>
              <a:buNone/>
            </a:pPr>
            <a:r>
              <a:t/>
            </a:r>
            <a:endParaRPr/>
          </a:p>
          <a:p>
            <a:pPr indent="0" lvl="0" marL="0" rtl="0" algn="l">
              <a:spcBef>
                <a:spcPts val="750"/>
              </a:spcBef>
              <a:spcAft>
                <a:spcPts val="0"/>
              </a:spcAft>
              <a:buNone/>
            </a:pPr>
            <a:r>
              <a:rPr b="1" lang="en"/>
              <a:t>How did we get here? </a:t>
            </a:r>
            <a:endParaRPr b="1"/>
          </a:p>
          <a:p>
            <a:pPr indent="0" lvl="0" marL="0" rtl="0" algn="l">
              <a:spcBef>
                <a:spcPts val="750"/>
              </a:spcBef>
              <a:spcAft>
                <a:spcPts val="0"/>
              </a:spcAft>
              <a:buNone/>
            </a:pPr>
            <a:r>
              <a:t/>
            </a:r>
            <a:endParaRPr b="1"/>
          </a:p>
          <a:p>
            <a:pPr indent="0" lvl="0" marL="0" rtl="0" algn="l">
              <a:spcBef>
                <a:spcPts val="750"/>
              </a:spcBef>
              <a:spcAft>
                <a:spcPts val="0"/>
              </a:spcAft>
              <a:buNone/>
            </a:pPr>
            <a:r>
              <a:rPr lang="en"/>
              <a:t>If we have k </a:t>
            </a:r>
            <a:r>
              <a:rPr lang="en" u="sng"/>
              <a:t>different</a:t>
            </a:r>
            <a:r>
              <a:rPr lang="en"/>
              <a:t> stickers, the </a:t>
            </a:r>
            <a:r>
              <a:rPr lang="en"/>
              <a:t>chance a pack has a new one is (10-k)/10</a:t>
            </a:r>
            <a:endParaRPr/>
          </a:p>
          <a:p>
            <a:pPr indent="0" lvl="0" marL="0" rtl="0" algn="l">
              <a:spcBef>
                <a:spcPts val="750"/>
              </a:spcBef>
              <a:spcAft>
                <a:spcPts val="0"/>
              </a:spcAft>
              <a:buNone/>
            </a:pPr>
            <a:r>
              <a:rPr lang="en"/>
              <a:t>The average number of packs needed to go from k to k+1 distinct stickers is 10/(10-k)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9"/>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Why CS 109?</a:t>
            </a:r>
            <a:endParaRPr/>
          </a:p>
        </p:txBody>
      </p:sp>
      <p:sp>
        <p:nvSpPr>
          <p:cNvPr id="245" name="Google Shape;245;p39"/>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0" lvl="0" marL="0" rtl="0" algn="l">
              <a:spcBef>
                <a:spcPts val="750"/>
              </a:spcBef>
              <a:spcAft>
                <a:spcPts val="0"/>
              </a:spcAft>
              <a:buNone/>
            </a:pPr>
            <a:r>
              <a:rPr b="1" lang="en"/>
              <a:t>Some statistics as well.</a:t>
            </a:r>
            <a:endParaRPr/>
          </a:p>
          <a:p>
            <a:pPr indent="0" lvl="0" marL="0" rtl="0" algn="l">
              <a:spcBef>
                <a:spcPts val="750"/>
              </a:spcBef>
              <a:spcAft>
                <a:spcPts val="0"/>
              </a:spcAft>
              <a:buNone/>
            </a:pPr>
            <a:r>
              <a:t/>
            </a:r>
            <a:endParaRPr/>
          </a:p>
          <a:p>
            <a:pPr indent="0" lvl="0" marL="0" rtl="0" algn="l">
              <a:spcBef>
                <a:spcPts val="750"/>
              </a:spcBef>
              <a:spcAft>
                <a:spcPts val="0"/>
              </a:spcAft>
              <a:buNone/>
            </a:pPr>
            <a:r>
              <a:rPr lang="en">
                <a:solidFill>
                  <a:schemeClr val="dk1"/>
                </a:solidFill>
              </a:rPr>
              <a:t>How many coin flips until the average looks fair?</a:t>
            </a:r>
            <a:endParaRPr>
              <a:solidFill>
                <a:schemeClr val="dk1"/>
              </a:solidFill>
            </a:endParaRPr>
          </a:p>
          <a:p>
            <a:pPr indent="0" lvl="0" marL="0" rtl="0" algn="l">
              <a:spcBef>
                <a:spcPts val="750"/>
              </a:spcBef>
              <a:spcAft>
                <a:spcPts val="0"/>
              </a:spcAft>
              <a:buNone/>
            </a:pPr>
            <a:r>
              <a:t/>
            </a:r>
            <a:endParaRPr/>
          </a:p>
          <a:p>
            <a:pPr indent="0" lvl="0" marL="0" rtl="0" algn="l">
              <a:spcBef>
                <a:spcPts val="750"/>
              </a:spcBef>
              <a:spcAft>
                <a:spcPts val="0"/>
              </a:spcAft>
              <a:buNone/>
            </a:pPr>
            <a:r>
              <a:rPr lang="en"/>
              <a:t>A fair coin is flipped 100 times. Let X be the number of heads.</a:t>
            </a:r>
            <a:endParaRPr/>
          </a:p>
          <a:p>
            <a:pPr indent="0" lvl="0" marL="0" rtl="0" algn="l">
              <a:spcBef>
                <a:spcPts val="750"/>
              </a:spcBef>
              <a:spcAft>
                <a:spcPts val="0"/>
              </a:spcAft>
              <a:buNone/>
            </a:pPr>
            <a:r>
              <a:t/>
            </a:r>
            <a:endParaRPr/>
          </a:p>
          <a:p>
            <a:pPr indent="0" lvl="0" marL="0" rtl="0" algn="l">
              <a:spcBef>
                <a:spcPts val="750"/>
              </a:spcBef>
              <a:spcAft>
                <a:spcPts val="0"/>
              </a:spcAft>
              <a:buNone/>
            </a:pPr>
            <a:r>
              <a:rPr lang="en"/>
              <a:t>What’s the approximate probability of getting between 40 and 60 heads?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0"/>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Solution</a:t>
            </a:r>
            <a:endParaRPr/>
          </a:p>
        </p:txBody>
      </p:sp>
      <p:sp>
        <p:nvSpPr>
          <p:cNvPr id="251" name="Google Shape;251;p40"/>
          <p:cNvSpPr txBox="1"/>
          <p:nvPr>
            <p:ph idx="1" type="body"/>
          </p:nvPr>
        </p:nvSpPr>
        <p:spPr>
          <a:xfrm>
            <a:off x="407965" y="1334748"/>
            <a:ext cx="8503800" cy="3432600"/>
          </a:xfrm>
          <a:prstGeom prst="rect">
            <a:avLst/>
          </a:prstGeom>
          <a:solidFill>
            <a:srgbClr val="000000">
              <a:alpha val="0"/>
            </a:srgbClr>
          </a:solidFill>
          <a:ln>
            <a:noFill/>
          </a:ln>
        </p:spPr>
        <p:txBody>
          <a:bodyPr anchorCtr="0" anchor="t" bIns="38100" lIns="0" spcFirstLastPara="1" rIns="0" wrap="square" tIns="38100">
            <a:normAutofit/>
          </a:bodyPr>
          <a:lstStyle/>
          <a:p>
            <a:pPr indent="0" lvl="0" marL="0" rtl="0" algn="l">
              <a:spcBef>
                <a:spcPts val="750"/>
              </a:spcBef>
              <a:spcAft>
                <a:spcPts val="0"/>
              </a:spcAft>
              <a:buNone/>
            </a:pPr>
            <a:r>
              <a:rPr b="0" i="0" lang="en" sz="2100">
                <a:solidFill>
                  <a:srgbClr val="2E2C28"/>
                </a:solidFill>
                <a:latin typeface="Calibri"/>
                <a:ea typeface="Calibri"/>
                <a:cs typeface="Calibri"/>
                <a:sym typeface="Calibri"/>
              </a:rPr>
              <a:t>The coin is flipped 100 times. </a:t>
            </a:r>
            <a:r>
              <a:rPr b="0" i="1" lang="en" sz="2100">
                <a:solidFill>
                  <a:srgbClr val="8C1515"/>
                </a:solidFill>
                <a:latin typeface="Georgia"/>
                <a:ea typeface="Georgia"/>
                <a:cs typeface="Georgia"/>
                <a:sym typeface="Georgia"/>
              </a:rPr>
              <a:t>X</a:t>
            </a:r>
            <a:r>
              <a:rPr b="0" i="0" lang="en" sz="2100">
                <a:solidFill>
                  <a:srgbClr val="2E2C28"/>
                </a:solidFill>
                <a:latin typeface="Calibri"/>
                <a:ea typeface="Calibri"/>
                <a:cs typeface="Calibri"/>
                <a:sym typeface="Calibri"/>
              </a:rPr>
              <a:t> </a:t>
            </a:r>
            <a:r>
              <a:rPr b="0" i="0" lang="en" sz="2100">
                <a:solidFill>
                  <a:srgbClr val="2E2C28"/>
                </a:solidFill>
                <a:latin typeface="Georgia"/>
                <a:ea typeface="Georgia"/>
                <a:cs typeface="Georgia"/>
                <a:sym typeface="Georgia"/>
              </a:rPr>
              <a:t>Binomial</a:t>
            </a:r>
            <a:r>
              <a:rPr b="0" i="0" lang="en" sz="2100">
                <a:solidFill>
                  <a:srgbClr val="2E2C28"/>
                </a:solidFill>
                <a:latin typeface="Calibri"/>
                <a:ea typeface="Calibri"/>
                <a:cs typeface="Calibri"/>
                <a:sym typeface="Calibri"/>
              </a:rPr>
              <a:t>(100, 0.5, 0.5)</a:t>
            </a:r>
            <a:endParaRPr b="0" i="0" sz="2100">
              <a:solidFill>
                <a:srgbClr val="2E2C28"/>
              </a:solidFill>
              <a:latin typeface="Calibri"/>
              <a:ea typeface="Calibri"/>
              <a:cs typeface="Calibri"/>
              <a:sym typeface="Calibri"/>
            </a:endParaRPr>
          </a:p>
          <a:p>
            <a:pPr indent="0" lvl="0" marL="0" rtl="0" algn="l">
              <a:spcBef>
                <a:spcPts val="900"/>
              </a:spcBef>
              <a:spcAft>
                <a:spcPts val="0"/>
              </a:spcAft>
              <a:buNone/>
            </a:pPr>
            <a:r>
              <a:rPr b="0" i="0" lang="en" sz="2100">
                <a:solidFill>
                  <a:srgbClr val="2E2C28"/>
                </a:solidFill>
                <a:latin typeface="Calibri"/>
                <a:ea typeface="Calibri"/>
                <a:cs typeface="Calibri"/>
                <a:sym typeface="Calibri"/>
              </a:rPr>
              <a:t>What’s its EV? </a:t>
            </a:r>
            <a:r>
              <a:rPr b="0" i="1" lang="en" sz="2100">
                <a:solidFill>
                  <a:srgbClr val="8C1515"/>
                </a:solidFill>
                <a:latin typeface="Georgia"/>
                <a:ea typeface="Georgia"/>
                <a:cs typeface="Georgia"/>
                <a:sym typeface="Georgia"/>
              </a:rPr>
              <a:t>E</a:t>
            </a:r>
            <a:r>
              <a:rPr b="0" i="0" lang="en" sz="2100">
                <a:solidFill>
                  <a:srgbClr val="2E2C28"/>
                </a:solidFill>
                <a:latin typeface="Calibri"/>
                <a:ea typeface="Calibri"/>
                <a:cs typeface="Calibri"/>
                <a:sym typeface="Calibri"/>
              </a:rPr>
              <a:t>[</a:t>
            </a:r>
            <a:r>
              <a:rPr b="0" i="1" lang="en" sz="2100">
                <a:solidFill>
                  <a:srgbClr val="8C1515"/>
                </a:solidFill>
                <a:latin typeface="Georgia"/>
                <a:ea typeface="Georgia"/>
                <a:cs typeface="Georgia"/>
                <a:sym typeface="Georgia"/>
              </a:rPr>
              <a:t>X</a:t>
            </a:r>
            <a:r>
              <a:rPr b="0" i="0" lang="en" sz="2100">
                <a:solidFill>
                  <a:srgbClr val="2E2C28"/>
                </a:solidFill>
                <a:latin typeface="Calibri"/>
                <a:ea typeface="Calibri"/>
                <a:cs typeface="Calibri"/>
                <a:sym typeface="Calibri"/>
              </a:rPr>
              <a:t>] = </a:t>
            </a:r>
            <a:r>
              <a:rPr b="1" i="0" lang="en" sz="2100">
                <a:solidFill>
                  <a:srgbClr val="8C1515"/>
                </a:solidFill>
                <a:latin typeface="Calibri"/>
                <a:ea typeface="Calibri"/>
                <a:cs typeface="Calibri"/>
                <a:sym typeface="Calibri"/>
              </a:rPr>
              <a:t>50</a:t>
            </a:r>
            <a:endParaRPr b="0" i="0" sz="2100">
              <a:solidFill>
                <a:srgbClr val="2E2C28"/>
              </a:solidFill>
              <a:latin typeface="Calibri"/>
              <a:ea typeface="Calibri"/>
              <a:cs typeface="Calibri"/>
              <a:sym typeface="Calibri"/>
            </a:endParaRPr>
          </a:p>
          <a:p>
            <a:pPr indent="0" lvl="0" marL="0" rtl="0" algn="l">
              <a:spcBef>
                <a:spcPts val="900"/>
              </a:spcBef>
              <a:spcAft>
                <a:spcPts val="0"/>
              </a:spcAft>
              <a:buNone/>
            </a:pPr>
            <a:r>
              <a:rPr b="0" i="0" lang="en" sz="2100">
                <a:solidFill>
                  <a:srgbClr val="2E2C28"/>
                </a:solidFill>
                <a:latin typeface="Calibri"/>
                <a:ea typeface="Calibri"/>
                <a:cs typeface="Calibri"/>
                <a:sym typeface="Calibri"/>
              </a:rPr>
              <a:t>What’s its standard deviation? = sqrt(</a:t>
            </a:r>
            <a:r>
              <a:rPr b="0" i="1" lang="en" sz="2100">
                <a:solidFill>
                  <a:srgbClr val="2E2C28"/>
                </a:solidFill>
                <a:latin typeface="Georgia"/>
                <a:ea typeface="Georgia"/>
                <a:cs typeface="Georgia"/>
                <a:sym typeface="Georgia"/>
              </a:rPr>
              <a:t>npq)</a:t>
            </a:r>
            <a:r>
              <a:rPr b="0" i="0" lang="en" sz="2100">
                <a:solidFill>
                  <a:srgbClr val="2E2C28"/>
                </a:solidFill>
                <a:latin typeface="Calibri"/>
                <a:ea typeface="Calibri"/>
                <a:cs typeface="Calibri"/>
                <a:sym typeface="Calibri"/>
              </a:rPr>
              <a:t> = </a:t>
            </a:r>
            <a:r>
              <a:rPr lang="en" sz="2100">
                <a:solidFill>
                  <a:srgbClr val="2E2C28"/>
                </a:solidFill>
              </a:rPr>
              <a:t>s</a:t>
            </a:r>
            <a:r>
              <a:rPr b="0" i="0" lang="en" sz="2100">
                <a:solidFill>
                  <a:srgbClr val="2E2C28"/>
                </a:solidFill>
                <a:latin typeface="Calibri"/>
                <a:ea typeface="Calibri"/>
                <a:cs typeface="Calibri"/>
                <a:sym typeface="Calibri"/>
              </a:rPr>
              <a:t>qrt(100</a:t>
            </a:r>
            <a:r>
              <a:rPr lang="en" sz="2100">
                <a:solidFill>
                  <a:srgbClr val="2E2C28"/>
                </a:solidFill>
              </a:rPr>
              <a:t>*</a:t>
            </a:r>
            <a:r>
              <a:rPr b="0" i="0" lang="en" sz="2100">
                <a:solidFill>
                  <a:srgbClr val="2E2C28"/>
                </a:solidFill>
                <a:latin typeface="Calibri"/>
                <a:ea typeface="Calibri"/>
                <a:cs typeface="Calibri"/>
                <a:sym typeface="Calibri"/>
              </a:rPr>
              <a:t>0.5</a:t>
            </a:r>
            <a:r>
              <a:rPr lang="en" sz="2100">
                <a:solidFill>
                  <a:srgbClr val="2E2C28"/>
                </a:solidFill>
              </a:rPr>
              <a:t>*</a:t>
            </a:r>
            <a:r>
              <a:rPr b="0" i="0" lang="en" sz="2100">
                <a:solidFill>
                  <a:srgbClr val="2E2C28"/>
                </a:solidFill>
                <a:latin typeface="Calibri"/>
                <a:ea typeface="Calibri"/>
                <a:cs typeface="Calibri"/>
                <a:sym typeface="Calibri"/>
              </a:rPr>
              <a:t>0.5</a:t>
            </a:r>
            <a:r>
              <a:rPr lang="en" sz="2100">
                <a:solidFill>
                  <a:srgbClr val="2E2C28"/>
                </a:solidFill>
              </a:rPr>
              <a:t>)</a:t>
            </a:r>
            <a:r>
              <a:rPr b="0" i="0" lang="en" sz="2100">
                <a:solidFill>
                  <a:srgbClr val="2E2C28"/>
                </a:solidFill>
                <a:latin typeface="Calibri"/>
                <a:ea typeface="Calibri"/>
                <a:cs typeface="Calibri"/>
                <a:sym typeface="Calibri"/>
              </a:rPr>
              <a:t> = </a:t>
            </a:r>
            <a:r>
              <a:rPr b="1" i="0" lang="en" sz="2100">
                <a:solidFill>
                  <a:srgbClr val="8C1515"/>
                </a:solidFill>
                <a:latin typeface="Calibri"/>
                <a:ea typeface="Calibri"/>
                <a:cs typeface="Calibri"/>
                <a:sym typeface="Calibri"/>
              </a:rPr>
              <a:t>5</a:t>
            </a:r>
            <a:endParaRPr b="0" i="0" sz="2100">
              <a:solidFill>
                <a:srgbClr val="2E2C28"/>
              </a:solidFill>
              <a:latin typeface="Calibri"/>
              <a:ea typeface="Calibri"/>
              <a:cs typeface="Calibri"/>
              <a:sym typeface="Calibri"/>
            </a:endParaRPr>
          </a:p>
          <a:p>
            <a:pPr indent="0" lvl="0" marL="0" rtl="0" algn="l">
              <a:spcBef>
                <a:spcPts val="900"/>
              </a:spcBef>
              <a:spcAft>
                <a:spcPts val="0"/>
              </a:spcAft>
              <a:buNone/>
            </a:pPr>
            <a:r>
              <a:rPr b="0" i="1" lang="en" sz="2100">
                <a:solidFill>
                  <a:srgbClr val="2E2C28"/>
                </a:solidFill>
                <a:latin typeface="Georgia"/>
                <a:ea typeface="Georgia"/>
                <a:cs typeface="Georgia"/>
                <a:sym typeface="Georgia"/>
              </a:rPr>
              <a:t>P</a:t>
            </a:r>
            <a:r>
              <a:rPr b="0" i="0" lang="en" sz="2100">
                <a:solidFill>
                  <a:srgbClr val="2E2C28"/>
                </a:solidFill>
                <a:latin typeface="Calibri"/>
                <a:ea typeface="Calibri"/>
                <a:cs typeface="Calibri"/>
                <a:sym typeface="Calibri"/>
              </a:rPr>
              <a:t>(40</a:t>
            </a:r>
            <a:r>
              <a:rPr lang="en" sz="2100">
                <a:solidFill>
                  <a:srgbClr val="2E2C28"/>
                </a:solidFill>
              </a:rPr>
              <a:t> ≤ </a:t>
            </a:r>
            <a:r>
              <a:rPr b="0" i="1" lang="en" sz="2100">
                <a:solidFill>
                  <a:srgbClr val="2E2C28"/>
                </a:solidFill>
                <a:latin typeface="Georgia"/>
                <a:ea typeface="Georgia"/>
                <a:cs typeface="Georgia"/>
                <a:sym typeface="Georgia"/>
              </a:rPr>
              <a:t>X</a:t>
            </a:r>
            <a:r>
              <a:rPr b="0" i="0" lang="en" sz="2100">
                <a:solidFill>
                  <a:srgbClr val="2E2C28"/>
                </a:solidFill>
                <a:latin typeface="Calibri"/>
                <a:ea typeface="Calibri"/>
                <a:cs typeface="Calibri"/>
                <a:sym typeface="Calibri"/>
              </a:rPr>
              <a:t> </a:t>
            </a:r>
            <a:r>
              <a:rPr lang="en" sz="2100"/>
              <a:t>≤ </a:t>
            </a:r>
            <a:r>
              <a:rPr b="0" i="0" lang="en" sz="2100">
                <a:solidFill>
                  <a:srgbClr val="2E2C28"/>
                </a:solidFill>
                <a:latin typeface="Calibri"/>
                <a:ea typeface="Calibri"/>
                <a:cs typeface="Calibri"/>
                <a:sym typeface="Calibri"/>
              </a:rPr>
              <a:t>60)? </a:t>
            </a:r>
            <a:r>
              <a:rPr b="0" i="1" lang="en" sz="2100">
                <a:solidFill>
                  <a:srgbClr val="2E2C28"/>
                </a:solidFill>
                <a:latin typeface="Georgia"/>
                <a:ea typeface="Georgia"/>
                <a:cs typeface="Georgia"/>
                <a:sym typeface="Georgia"/>
              </a:rPr>
              <a:t>P</a:t>
            </a:r>
            <a:r>
              <a:rPr b="0" i="0" lang="en" sz="2100">
                <a:solidFill>
                  <a:srgbClr val="2E2C28"/>
                </a:solidFill>
                <a:latin typeface="Calibri"/>
                <a:ea typeface="Calibri"/>
                <a:cs typeface="Calibri"/>
                <a:sym typeface="Calibri"/>
              </a:rPr>
              <a:t>(-2 </a:t>
            </a:r>
            <a:r>
              <a:rPr lang="en" sz="2100"/>
              <a:t>≤ </a:t>
            </a:r>
            <a:r>
              <a:rPr b="0" i="1" lang="en" sz="2100">
                <a:solidFill>
                  <a:srgbClr val="2E2C28"/>
                </a:solidFill>
                <a:latin typeface="Georgia"/>
                <a:ea typeface="Georgia"/>
                <a:cs typeface="Georgia"/>
                <a:sym typeface="Georgia"/>
              </a:rPr>
              <a:t>Z</a:t>
            </a:r>
            <a:r>
              <a:rPr b="0" i="0" lang="en" sz="2100">
                <a:solidFill>
                  <a:srgbClr val="2E2C28"/>
                </a:solidFill>
                <a:latin typeface="Calibri"/>
                <a:ea typeface="Calibri"/>
                <a:cs typeface="Calibri"/>
                <a:sym typeface="Calibri"/>
              </a:rPr>
              <a:t> </a:t>
            </a:r>
            <a:r>
              <a:rPr lang="en" sz="2100"/>
              <a:t>≤ </a:t>
            </a:r>
            <a:r>
              <a:rPr b="0" i="0" lang="en" sz="2100">
                <a:solidFill>
                  <a:srgbClr val="2E2C28"/>
                </a:solidFill>
                <a:latin typeface="Calibri"/>
                <a:ea typeface="Calibri"/>
                <a:cs typeface="Calibri"/>
                <a:sym typeface="Calibri"/>
              </a:rPr>
              <a:t>2) within 2 stdevs </a:t>
            </a:r>
            <a:r>
              <a:rPr b="1" i="0" lang="en" sz="2100">
                <a:solidFill>
                  <a:srgbClr val="8C1515"/>
                </a:solidFill>
                <a:latin typeface="Calibri"/>
                <a:ea typeface="Calibri"/>
                <a:cs typeface="Calibri"/>
                <a:sym typeface="Calibri"/>
              </a:rPr>
              <a:t>95.45%</a:t>
            </a:r>
            <a:endParaRPr b="1" i="0" sz="2100">
              <a:solidFill>
                <a:srgbClr val="8C1515"/>
              </a:solidFill>
              <a:latin typeface="Calibri"/>
              <a:ea typeface="Calibri"/>
              <a:cs typeface="Calibri"/>
              <a:sym typeface="Calibri"/>
            </a:endParaRPr>
          </a:p>
          <a:p>
            <a:pPr indent="0" lvl="0" marL="0" rtl="0" algn="l">
              <a:spcBef>
                <a:spcPts val="750"/>
              </a:spcBef>
              <a:spcAft>
                <a:spcPts val="0"/>
              </a:spcAft>
              <a:buNone/>
            </a:pPr>
            <a:r>
              <a:t/>
            </a:r>
            <a:endParaRPr b="1" sz="2100">
              <a:solidFill>
                <a:srgbClr val="8C1515"/>
              </a:solidFill>
              <a:latin typeface="Calibri"/>
              <a:ea typeface="Calibri"/>
              <a:cs typeface="Calibri"/>
              <a:sym typeface="Calibri"/>
            </a:endParaRPr>
          </a:p>
          <a:p>
            <a:pPr indent="0" lvl="0" marL="0" rtl="0" algn="l">
              <a:spcBef>
                <a:spcPts val="750"/>
              </a:spcBef>
              <a:spcAft>
                <a:spcPts val="0"/>
              </a:spcAft>
              <a:buNone/>
            </a:pPr>
            <a:r>
              <a:rPr b="1" lang="en" sz="2100">
                <a:solidFill>
                  <a:srgbClr val="8C1515"/>
                </a:solidFill>
                <a:latin typeface="Calibri"/>
                <a:ea typeface="Calibri"/>
                <a:cs typeface="Calibri"/>
                <a:sym typeface="Calibri"/>
              </a:rPr>
              <a:t>This uses the Central Limit Theorem</a:t>
            </a:r>
            <a:endParaRPr b="1" sz="2100">
              <a:solidFill>
                <a:srgbClr val="8C1515"/>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1"/>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Why CS 109?</a:t>
            </a:r>
            <a:endParaRPr/>
          </a:p>
        </p:txBody>
      </p:sp>
      <p:sp>
        <p:nvSpPr>
          <p:cNvPr id="257" name="Google Shape;257;p41"/>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0" lvl="0" marL="0" rtl="0" algn="l">
              <a:spcBef>
                <a:spcPts val="750"/>
              </a:spcBef>
              <a:spcAft>
                <a:spcPts val="0"/>
              </a:spcAft>
              <a:buNone/>
            </a:pPr>
            <a:r>
              <a:rPr b="1" lang="en"/>
              <a:t>Then finally, we will cover </a:t>
            </a:r>
            <a:r>
              <a:rPr b="1" lang="en"/>
              <a:t>machine</a:t>
            </a:r>
            <a:r>
              <a:rPr b="1" lang="en"/>
              <a:t> learning!</a:t>
            </a:r>
            <a:endParaRPr/>
          </a:p>
          <a:p>
            <a:pPr indent="0" lvl="0" marL="0" rtl="0" algn="l">
              <a:spcBef>
                <a:spcPts val="750"/>
              </a:spcBef>
              <a:spcAft>
                <a:spcPts val="0"/>
              </a:spcAft>
              <a:buNone/>
            </a:pPr>
            <a:r>
              <a:t/>
            </a:r>
            <a:endParaRPr/>
          </a:p>
          <a:p>
            <a:pPr indent="0" lvl="0" marL="0" rtl="0" algn="l">
              <a:spcBef>
                <a:spcPts val="750"/>
              </a:spcBef>
              <a:spcAft>
                <a:spcPts val="0"/>
              </a:spcAft>
              <a:buNone/>
            </a:pPr>
            <a:r>
              <a:t/>
            </a:r>
            <a:endParaRPr/>
          </a:p>
        </p:txBody>
      </p:sp>
      <p:pic>
        <p:nvPicPr>
          <p:cNvPr id="258" name="Google Shape;258;p41"/>
          <p:cNvPicPr preferRelativeResize="0"/>
          <p:nvPr/>
        </p:nvPicPr>
        <p:blipFill>
          <a:blip r:embed="rId3">
            <a:alphaModFix/>
          </a:blip>
          <a:stretch>
            <a:fillRect/>
          </a:stretch>
        </p:blipFill>
        <p:spPr>
          <a:xfrm>
            <a:off x="1625775" y="1716774"/>
            <a:ext cx="5892350" cy="29041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2"/>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Solution</a:t>
            </a:r>
            <a:r>
              <a:rPr lang="en"/>
              <a:t> (harder to draw)</a:t>
            </a:r>
            <a:endParaRPr/>
          </a:p>
        </p:txBody>
      </p:sp>
      <p:sp>
        <p:nvSpPr>
          <p:cNvPr id="264" name="Google Shape;264;p42"/>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0" lvl="0" marL="0" rtl="0" algn="l">
              <a:spcBef>
                <a:spcPts val="750"/>
              </a:spcBef>
              <a:spcAft>
                <a:spcPts val="0"/>
              </a:spcAft>
              <a:buNone/>
            </a:pPr>
            <a:r>
              <a:t/>
            </a:r>
            <a:endParaRPr/>
          </a:p>
        </p:txBody>
      </p:sp>
      <p:pic>
        <p:nvPicPr>
          <p:cNvPr id="265" name="Google Shape;265;p42"/>
          <p:cNvPicPr preferRelativeResize="0"/>
          <p:nvPr/>
        </p:nvPicPr>
        <p:blipFill>
          <a:blip r:embed="rId3">
            <a:alphaModFix/>
          </a:blip>
          <a:stretch>
            <a:fillRect/>
          </a:stretch>
        </p:blipFill>
        <p:spPr>
          <a:xfrm>
            <a:off x="656212" y="1352949"/>
            <a:ext cx="7831476" cy="3396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3"/>
          <p:cNvSpPr/>
          <p:nvPr/>
        </p:nvSpPr>
        <p:spPr>
          <a:xfrm>
            <a:off x="0" y="1200151"/>
            <a:ext cx="9144000" cy="3567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1" name="Google Shape;271;p43"/>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One last problem… work with me!</a:t>
            </a:r>
            <a:endParaRPr/>
          </a:p>
        </p:txBody>
      </p:sp>
      <p:sp>
        <p:nvSpPr>
          <p:cNvPr id="272" name="Google Shape;272;p43"/>
          <p:cNvSpPr txBox="1"/>
          <p:nvPr>
            <p:ph idx="1" type="body"/>
          </p:nvPr>
        </p:nvSpPr>
        <p:spPr>
          <a:xfrm>
            <a:off x="407965" y="1285875"/>
            <a:ext cx="8325000" cy="35718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750"/>
              </a:spcBef>
              <a:spcAft>
                <a:spcPts val="0"/>
              </a:spcAft>
              <a:buNone/>
            </a:pPr>
            <a:r>
              <a:rPr lang="en" sz="1300">
                <a:solidFill>
                  <a:srgbClr val="2E2C28"/>
                </a:solidFill>
                <a:latin typeface="Calibri"/>
                <a:ea typeface="Calibri"/>
                <a:cs typeface="Calibri"/>
                <a:sym typeface="Calibri"/>
              </a:rPr>
              <a:t>Let </a:t>
            </a:r>
            <a:r>
              <a:rPr b="1" i="1" lang="en" sz="1300">
                <a:solidFill>
                  <a:srgbClr val="2E2C28"/>
                </a:solidFill>
                <a:latin typeface="Calibri"/>
                <a:ea typeface="Calibri"/>
                <a:cs typeface="Calibri"/>
                <a:sym typeface="Calibri"/>
              </a:rPr>
              <a:t>Xi</a:t>
            </a:r>
            <a:r>
              <a:rPr lang="en" sz="1300">
                <a:solidFill>
                  <a:srgbClr val="2E2C28"/>
                </a:solidFill>
                <a:latin typeface="Calibri"/>
                <a:ea typeface="Calibri"/>
                <a:cs typeface="Calibri"/>
                <a:sym typeface="Calibri"/>
              </a:rPr>
              <a:t> be the time at which you see the </a:t>
            </a:r>
            <a:r>
              <a:rPr i="1" lang="en" sz="1300">
                <a:solidFill>
                  <a:srgbClr val="2E2C28"/>
                </a:solidFill>
                <a:latin typeface="Calibri"/>
                <a:ea typeface="Calibri"/>
                <a:cs typeface="Calibri"/>
                <a:sym typeface="Calibri"/>
              </a:rPr>
              <a:t>i</a:t>
            </a:r>
            <a:r>
              <a:rPr lang="en" sz="1300">
                <a:solidFill>
                  <a:srgbClr val="2E2C28"/>
                </a:solidFill>
                <a:latin typeface="Calibri"/>
                <a:ea typeface="Calibri"/>
                <a:cs typeface="Calibri"/>
                <a:sym typeface="Calibri"/>
              </a:rPr>
              <a:t>-th new word.</a:t>
            </a:r>
            <a:endParaRPr sz="1300">
              <a:solidFill>
                <a:srgbClr val="2E2C28"/>
              </a:solidFill>
              <a:latin typeface="Calibri"/>
              <a:ea typeface="Calibri"/>
              <a:cs typeface="Calibri"/>
              <a:sym typeface="Calibri"/>
            </a:endParaRPr>
          </a:p>
          <a:p>
            <a:pPr indent="0" lvl="0" marL="0" rtl="0" algn="l">
              <a:spcBef>
                <a:spcPts val="750"/>
              </a:spcBef>
              <a:spcAft>
                <a:spcPts val="0"/>
              </a:spcAft>
              <a:buNone/>
            </a:pPr>
            <a:r>
              <a:rPr b="1" lang="en" sz="1200">
                <a:solidFill>
                  <a:srgbClr val="2E2C28"/>
                </a:solidFill>
                <a:highlight>
                  <a:srgbClr val="FFFFFF"/>
                </a:highlight>
                <a:latin typeface="Calibri"/>
                <a:ea typeface="Calibri"/>
                <a:cs typeface="Calibri"/>
                <a:sym typeface="Calibri"/>
              </a:rPr>
              <a:t>Example:</a:t>
            </a:r>
            <a:r>
              <a:rPr lang="en" sz="1200">
                <a:solidFill>
                  <a:srgbClr val="2E2C28"/>
                </a:solidFill>
                <a:highlight>
                  <a:srgbClr val="FFFFFF"/>
                </a:highlight>
                <a:latin typeface="Calibri"/>
                <a:ea typeface="Calibri"/>
                <a:cs typeface="Calibri"/>
                <a:sym typeface="Calibri"/>
              </a:rPr>
              <a:t> Pushing six times yields: penguin, penguin, randomized, hello, randomized, spaceship</a:t>
            </a:r>
            <a:br>
              <a:rPr lang="en" sz="1200">
                <a:solidFill>
                  <a:srgbClr val="2E2C28"/>
                </a:solidFill>
                <a:highlight>
                  <a:srgbClr val="FFFFFF"/>
                </a:highlight>
                <a:latin typeface="Calibri"/>
                <a:ea typeface="Calibri"/>
                <a:cs typeface="Calibri"/>
                <a:sym typeface="Calibri"/>
              </a:rPr>
            </a:br>
            <a:r>
              <a:rPr lang="en" sz="1200">
                <a:solidFill>
                  <a:srgbClr val="2E2C28"/>
                </a:solidFill>
                <a:highlight>
                  <a:srgbClr val="FFFFFF"/>
                </a:highlight>
                <a:latin typeface="Calibri"/>
                <a:ea typeface="Calibri"/>
                <a:cs typeface="Calibri"/>
                <a:sym typeface="Calibri"/>
              </a:rPr>
              <a:t>Then </a:t>
            </a:r>
            <a:r>
              <a:rPr i="1" lang="en" sz="1200">
                <a:solidFill>
                  <a:srgbClr val="2E2C28"/>
                </a:solidFill>
                <a:highlight>
                  <a:srgbClr val="FFFFFF"/>
                </a:highlight>
                <a:latin typeface="Calibri"/>
                <a:ea typeface="Calibri"/>
                <a:cs typeface="Calibri"/>
                <a:sym typeface="Calibri"/>
              </a:rPr>
              <a:t>X</a:t>
            </a:r>
            <a:r>
              <a:rPr lang="en" sz="1200">
                <a:solidFill>
                  <a:srgbClr val="2E2C28"/>
                </a:solidFill>
                <a:highlight>
                  <a:srgbClr val="FFFFFF"/>
                </a:highlight>
                <a:latin typeface="Calibri"/>
                <a:ea typeface="Calibri"/>
                <a:cs typeface="Calibri"/>
                <a:sym typeface="Calibri"/>
              </a:rPr>
              <a:t>1 = 1, </a:t>
            </a:r>
            <a:r>
              <a:rPr i="1" lang="en" sz="1200">
                <a:solidFill>
                  <a:srgbClr val="2E2C28"/>
                </a:solidFill>
                <a:highlight>
                  <a:srgbClr val="FFFFFF"/>
                </a:highlight>
                <a:latin typeface="Calibri"/>
                <a:ea typeface="Calibri"/>
                <a:cs typeface="Calibri"/>
                <a:sym typeface="Calibri"/>
              </a:rPr>
              <a:t>X</a:t>
            </a:r>
            <a:r>
              <a:rPr lang="en" sz="1200">
                <a:solidFill>
                  <a:srgbClr val="2E2C28"/>
                </a:solidFill>
                <a:highlight>
                  <a:srgbClr val="FFFFFF"/>
                </a:highlight>
                <a:latin typeface="Calibri"/>
                <a:ea typeface="Calibri"/>
                <a:cs typeface="Calibri"/>
                <a:sym typeface="Calibri"/>
              </a:rPr>
              <a:t>2 = 3, </a:t>
            </a:r>
            <a:r>
              <a:rPr i="1" lang="en" sz="1200">
                <a:solidFill>
                  <a:srgbClr val="2E2C28"/>
                </a:solidFill>
                <a:highlight>
                  <a:srgbClr val="FFFFFF"/>
                </a:highlight>
                <a:latin typeface="Calibri"/>
                <a:ea typeface="Calibri"/>
                <a:cs typeface="Calibri"/>
                <a:sym typeface="Calibri"/>
              </a:rPr>
              <a:t>X</a:t>
            </a:r>
            <a:r>
              <a:rPr lang="en" sz="1200">
                <a:solidFill>
                  <a:srgbClr val="2E2C28"/>
                </a:solidFill>
                <a:highlight>
                  <a:srgbClr val="FFFFFF"/>
                </a:highlight>
                <a:latin typeface="Calibri"/>
                <a:ea typeface="Calibri"/>
                <a:cs typeface="Calibri"/>
                <a:sym typeface="Calibri"/>
              </a:rPr>
              <a:t>3 = 4, and </a:t>
            </a:r>
            <a:r>
              <a:rPr i="1" lang="en" sz="1200">
                <a:solidFill>
                  <a:srgbClr val="2E2C28"/>
                </a:solidFill>
                <a:highlight>
                  <a:srgbClr val="FFFFFF"/>
                </a:highlight>
                <a:latin typeface="Calibri"/>
                <a:ea typeface="Calibri"/>
                <a:cs typeface="Calibri"/>
                <a:sym typeface="Calibri"/>
              </a:rPr>
              <a:t>X</a:t>
            </a:r>
            <a:r>
              <a:rPr lang="en" sz="1200">
                <a:solidFill>
                  <a:srgbClr val="2E2C28"/>
                </a:solidFill>
                <a:highlight>
                  <a:srgbClr val="FFFFFF"/>
                </a:highlight>
                <a:latin typeface="Calibri"/>
                <a:ea typeface="Calibri"/>
                <a:cs typeface="Calibri"/>
                <a:sym typeface="Calibri"/>
              </a:rPr>
              <a:t>4 = 6.</a:t>
            </a:r>
            <a:endParaRPr sz="1200">
              <a:solidFill>
                <a:srgbClr val="2E2C28"/>
              </a:solidFill>
              <a:highlight>
                <a:srgbClr val="FFFFFF"/>
              </a:highlight>
              <a:latin typeface="Calibri"/>
              <a:ea typeface="Calibri"/>
              <a:cs typeface="Calibri"/>
              <a:sym typeface="Calibri"/>
            </a:endParaRPr>
          </a:p>
          <a:p>
            <a:pPr indent="0" lvl="0" marL="0" rtl="0" algn="l">
              <a:spcBef>
                <a:spcPts val="750"/>
              </a:spcBef>
              <a:spcAft>
                <a:spcPts val="0"/>
              </a:spcAft>
              <a:buNone/>
            </a:pPr>
            <a:r>
              <a:rPr b="1" lang="en" sz="1400">
                <a:solidFill>
                  <a:srgbClr val="8C1515"/>
                </a:solidFill>
                <a:latin typeface="Calibri"/>
                <a:ea typeface="Calibri"/>
                <a:cs typeface="Calibri"/>
                <a:sym typeface="Calibri"/>
              </a:rPr>
              <a:t>Group Work</a:t>
            </a:r>
            <a:endParaRPr b="1" sz="1400">
              <a:solidFill>
                <a:srgbClr val="8C1515"/>
              </a:solidFill>
              <a:latin typeface="Calibri"/>
              <a:ea typeface="Calibri"/>
              <a:cs typeface="Calibri"/>
              <a:sym typeface="Calibri"/>
            </a:endParaRPr>
          </a:p>
          <a:p>
            <a:pPr indent="-311150" lvl="0" marL="457200" rtl="0" algn="l">
              <a:spcBef>
                <a:spcPts val="750"/>
              </a:spcBef>
              <a:spcAft>
                <a:spcPts val="0"/>
              </a:spcAft>
              <a:buClr>
                <a:srgbClr val="2E2C28"/>
              </a:buClr>
              <a:buSzPts val="1300"/>
              <a:buFont typeface="Calibri"/>
              <a:buAutoNum type="arabicPeriod"/>
            </a:pPr>
            <a:r>
              <a:rPr lang="en" sz="1300">
                <a:solidFill>
                  <a:srgbClr val="2E2C28"/>
                </a:solidFill>
                <a:latin typeface="Calibri"/>
                <a:ea typeface="Calibri"/>
                <a:cs typeface="Calibri"/>
                <a:sym typeface="Calibri"/>
              </a:rPr>
              <a:t>What is </a:t>
            </a:r>
            <a:r>
              <a:rPr b="1" lang="en" sz="1300">
                <a:solidFill>
                  <a:srgbClr val="2E2C28"/>
                </a:solidFill>
                <a:latin typeface="Calibri"/>
                <a:ea typeface="Calibri"/>
                <a:cs typeface="Calibri"/>
                <a:sym typeface="Calibri"/>
              </a:rPr>
              <a:t>E[</a:t>
            </a:r>
            <a:r>
              <a:rPr b="1" i="1" lang="en" sz="1300">
                <a:solidFill>
                  <a:srgbClr val="2E2C28"/>
                </a:solidFill>
                <a:latin typeface="Calibri"/>
                <a:ea typeface="Calibri"/>
                <a:cs typeface="Calibri"/>
                <a:sym typeface="Calibri"/>
              </a:rPr>
              <a:t>X</a:t>
            </a:r>
            <a:r>
              <a:rPr b="1" lang="en" sz="1300">
                <a:solidFill>
                  <a:srgbClr val="2E2C28"/>
                </a:solidFill>
                <a:latin typeface="Calibri"/>
                <a:ea typeface="Calibri"/>
                <a:cs typeface="Calibri"/>
                <a:sym typeface="Calibri"/>
              </a:rPr>
              <a:t>1]</a:t>
            </a:r>
            <a:r>
              <a:rPr lang="en" sz="1300">
                <a:solidFill>
                  <a:srgbClr val="2E2C28"/>
                </a:solidFill>
                <a:latin typeface="Calibri"/>
                <a:ea typeface="Calibri"/>
                <a:cs typeface="Calibri"/>
                <a:sym typeface="Calibri"/>
              </a:rPr>
              <a:t>? </a:t>
            </a:r>
            <a:r>
              <a:rPr i="1" lang="en" sz="1300">
                <a:solidFill>
                  <a:srgbClr val="2E2C28"/>
                </a:solidFill>
                <a:latin typeface="Calibri"/>
                <a:ea typeface="Calibri"/>
                <a:cs typeface="Calibri"/>
                <a:sym typeface="Calibri"/>
              </a:rPr>
              <a:t>(This is not a trick question)</a:t>
            </a:r>
            <a:endParaRPr sz="1300">
              <a:solidFill>
                <a:srgbClr val="2E2C28"/>
              </a:solidFill>
              <a:latin typeface="Calibri"/>
              <a:ea typeface="Calibri"/>
              <a:cs typeface="Calibri"/>
              <a:sym typeface="Calibri"/>
            </a:endParaRPr>
          </a:p>
          <a:p>
            <a:pPr indent="-311150" lvl="0" marL="457200" rtl="0" algn="l">
              <a:spcBef>
                <a:spcPts val="750"/>
              </a:spcBef>
              <a:spcAft>
                <a:spcPts val="0"/>
              </a:spcAft>
              <a:buClr>
                <a:srgbClr val="2E2C28"/>
              </a:buClr>
              <a:buSzPts val="1300"/>
              <a:buFont typeface="Calibri"/>
              <a:buAutoNum type="arabicPeriod"/>
            </a:pPr>
            <a:r>
              <a:rPr lang="en" sz="1300">
                <a:solidFill>
                  <a:srgbClr val="2E2C28"/>
                </a:solidFill>
                <a:latin typeface="Calibri"/>
                <a:ea typeface="Calibri"/>
                <a:cs typeface="Calibri"/>
                <a:sym typeface="Calibri"/>
              </a:rPr>
              <a:t>What is </a:t>
            </a:r>
            <a:r>
              <a:rPr b="1" lang="en" sz="1300">
                <a:solidFill>
                  <a:srgbClr val="2E2C28"/>
                </a:solidFill>
                <a:latin typeface="Calibri"/>
                <a:ea typeface="Calibri"/>
                <a:cs typeface="Calibri"/>
                <a:sym typeface="Calibri"/>
              </a:rPr>
              <a:t>E[</a:t>
            </a:r>
            <a:r>
              <a:rPr b="1" i="1" lang="en" sz="1300">
                <a:solidFill>
                  <a:srgbClr val="2E2C28"/>
                </a:solidFill>
                <a:latin typeface="Calibri"/>
                <a:ea typeface="Calibri"/>
                <a:cs typeface="Calibri"/>
                <a:sym typeface="Calibri"/>
              </a:rPr>
              <a:t>X</a:t>
            </a:r>
            <a:r>
              <a:rPr b="1" lang="en" sz="1300">
                <a:solidFill>
                  <a:srgbClr val="2E2C28"/>
                </a:solidFill>
                <a:latin typeface="Calibri"/>
                <a:ea typeface="Calibri"/>
                <a:cs typeface="Calibri"/>
                <a:sym typeface="Calibri"/>
              </a:rPr>
              <a:t>2 - </a:t>
            </a:r>
            <a:r>
              <a:rPr b="1" i="1" lang="en" sz="1300">
                <a:solidFill>
                  <a:srgbClr val="2E2C28"/>
                </a:solidFill>
                <a:latin typeface="Calibri"/>
                <a:ea typeface="Calibri"/>
                <a:cs typeface="Calibri"/>
                <a:sym typeface="Calibri"/>
              </a:rPr>
              <a:t>X</a:t>
            </a:r>
            <a:r>
              <a:rPr b="1" lang="en" sz="1300">
                <a:solidFill>
                  <a:srgbClr val="2E2C28"/>
                </a:solidFill>
                <a:latin typeface="Calibri"/>
                <a:ea typeface="Calibri"/>
                <a:cs typeface="Calibri"/>
                <a:sym typeface="Calibri"/>
              </a:rPr>
              <a:t>1]</a:t>
            </a:r>
            <a:r>
              <a:rPr lang="en" sz="1300">
                <a:solidFill>
                  <a:srgbClr val="2E2C28"/>
                </a:solidFill>
                <a:latin typeface="Calibri"/>
                <a:ea typeface="Calibri"/>
                <a:cs typeface="Calibri"/>
                <a:sym typeface="Calibri"/>
              </a:rPr>
              <a:t>? </a:t>
            </a:r>
            <a:r>
              <a:rPr i="1" lang="en" sz="1300">
                <a:solidFill>
                  <a:srgbClr val="2E2C28"/>
                </a:solidFill>
                <a:latin typeface="Calibri"/>
                <a:ea typeface="Calibri"/>
                <a:cs typeface="Calibri"/>
                <a:sym typeface="Calibri"/>
              </a:rPr>
              <a:t>(In expectation, how many pushes after the 1st word before seeing a 2nd new word?)</a:t>
            </a:r>
            <a:endParaRPr sz="1300">
              <a:solidFill>
                <a:srgbClr val="2E2C28"/>
              </a:solidFill>
              <a:latin typeface="Calibri"/>
              <a:ea typeface="Calibri"/>
              <a:cs typeface="Calibri"/>
              <a:sym typeface="Calibri"/>
            </a:endParaRPr>
          </a:p>
          <a:p>
            <a:pPr indent="-311150" lvl="0" marL="457200" rtl="0" algn="l">
              <a:spcBef>
                <a:spcPts val="750"/>
              </a:spcBef>
              <a:spcAft>
                <a:spcPts val="0"/>
              </a:spcAft>
              <a:buClr>
                <a:srgbClr val="2E2C28"/>
              </a:buClr>
              <a:buSzPts val="1300"/>
              <a:buFont typeface="Calibri"/>
              <a:buAutoNum type="arabicPeriod"/>
            </a:pPr>
            <a:r>
              <a:rPr lang="en" sz="1300">
                <a:solidFill>
                  <a:srgbClr val="2E2C28"/>
                </a:solidFill>
                <a:latin typeface="Calibri"/>
                <a:ea typeface="Calibri"/>
                <a:cs typeface="Calibri"/>
                <a:sym typeface="Calibri"/>
              </a:rPr>
              <a:t>What is </a:t>
            </a:r>
            <a:r>
              <a:rPr b="1" lang="en" sz="1300">
                <a:solidFill>
                  <a:srgbClr val="2E2C28"/>
                </a:solidFill>
                <a:latin typeface="Calibri"/>
                <a:ea typeface="Calibri"/>
                <a:cs typeface="Calibri"/>
                <a:sym typeface="Calibri"/>
              </a:rPr>
              <a:t>E[</a:t>
            </a:r>
            <a:r>
              <a:rPr b="1" i="1" lang="en" sz="1300">
                <a:solidFill>
                  <a:srgbClr val="2E2C28"/>
                </a:solidFill>
                <a:latin typeface="Calibri"/>
                <a:ea typeface="Calibri"/>
                <a:cs typeface="Calibri"/>
                <a:sym typeface="Calibri"/>
              </a:rPr>
              <a:t>X</a:t>
            </a:r>
            <a:r>
              <a:rPr b="1" lang="en" sz="1300">
                <a:solidFill>
                  <a:srgbClr val="2E2C28"/>
                </a:solidFill>
                <a:latin typeface="Calibri"/>
                <a:ea typeface="Calibri"/>
                <a:cs typeface="Calibri"/>
                <a:sym typeface="Calibri"/>
              </a:rPr>
              <a:t>3 - </a:t>
            </a:r>
            <a:r>
              <a:rPr b="1" i="1" lang="en" sz="1300">
                <a:solidFill>
                  <a:srgbClr val="2E2C28"/>
                </a:solidFill>
                <a:latin typeface="Calibri"/>
                <a:ea typeface="Calibri"/>
                <a:cs typeface="Calibri"/>
                <a:sym typeface="Calibri"/>
              </a:rPr>
              <a:t>X</a:t>
            </a:r>
            <a:r>
              <a:rPr b="1" lang="en" sz="1300">
                <a:solidFill>
                  <a:srgbClr val="2E2C28"/>
                </a:solidFill>
                <a:latin typeface="Calibri"/>
                <a:ea typeface="Calibri"/>
                <a:cs typeface="Calibri"/>
                <a:sym typeface="Calibri"/>
              </a:rPr>
              <a:t>2]</a:t>
            </a:r>
            <a:r>
              <a:rPr lang="en" sz="1300">
                <a:solidFill>
                  <a:srgbClr val="2E2C28"/>
                </a:solidFill>
                <a:latin typeface="Calibri"/>
                <a:ea typeface="Calibri"/>
                <a:cs typeface="Calibri"/>
                <a:sym typeface="Calibri"/>
              </a:rPr>
              <a:t>?</a:t>
            </a:r>
            <a:endParaRPr sz="1300">
              <a:solidFill>
                <a:srgbClr val="2E2C28"/>
              </a:solidFill>
              <a:latin typeface="Calibri"/>
              <a:ea typeface="Calibri"/>
              <a:cs typeface="Calibri"/>
              <a:sym typeface="Calibri"/>
            </a:endParaRPr>
          </a:p>
          <a:p>
            <a:pPr indent="-311150" lvl="0" marL="457200" rtl="0" algn="l">
              <a:spcBef>
                <a:spcPts val="750"/>
              </a:spcBef>
              <a:spcAft>
                <a:spcPts val="0"/>
              </a:spcAft>
              <a:buClr>
                <a:srgbClr val="2E2C28"/>
              </a:buClr>
              <a:buSzPts val="1300"/>
              <a:buFont typeface="Calibri"/>
              <a:buAutoNum type="arabicPeriod"/>
            </a:pPr>
            <a:r>
              <a:rPr lang="en" sz="1300">
                <a:solidFill>
                  <a:srgbClr val="2E2C28"/>
                </a:solidFill>
                <a:latin typeface="Calibri"/>
                <a:ea typeface="Calibri"/>
                <a:cs typeface="Calibri"/>
                <a:sym typeface="Calibri"/>
              </a:rPr>
              <a:t>For any </a:t>
            </a:r>
            <a:r>
              <a:rPr i="1" lang="en" sz="1300">
                <a:solidFill>
                  <a:srgbClr val="2E2C28"/>
                </a:solidFill>
                <a:latin typeface="Calibri"/>
                <a:ea typeface="Calibri"/>
                <a:cs typeface="Calibri"/>
                <a:sym typeface="Calibri"/>
              </a:rPr>
              <a:t>i</a:t>
            </a:r>
            <a:r>
              <a:rPr lang="en" sz="1300">
                <a:solidFill>
                  <a:srgbClr val="2E2C28"/>
                </a:solidFill>
                <a:latin typeface="Calibri"/>
                <a:ea typeface="Calibri"/>
                <a:cs typeface="Calibri"/>
                <a:sym typeface="Calibri"/>
              </a:rPr>
              <a:t> = 2, 3, ..., </a:t>
            </a:r>
            <a:r>
              <a:rPr i="1" lang="en" sz="1300">
                <a:solidFill>
                  <a:srgbClr val="2E2C28"/>
                </a:solidFill>
                <a:latin typeface="Calibri"/>
                <a:ea typeface="Calibri"/>
                <a:cs typeface="Calibri"/>
                <a:sym typeface="Calibri"/>
              </a:rPr>
              <a:t>n</a:t>
            </a:r>
            <a:r>
              <a:rPr lang="en" sz="1300">
                <a:solidFill>
                  <a:srgbClr val="2E2C28"/>
                </a:solidFill>
                <a:latin typeface="Calibri"/>
                <a:ea typeface="Calibri"/>
                <a:cs typeface="Calibri"/>
                <a:sym typeface="Calibri"/>
              </a:rPr>
              <a:t>, what is </a:t>
            </a:r>
            <a:r>
              <a:rPr b="1" lang="en" sz="1300">
                <a:solidFill>
                  <a:srgbClr val="2E2C28"/>
                </a:solidFill>
                <a:latin typeface="Calibri"/>
                <a:ea typeface="Calibri"/>
                <a:cs typeface="Calibri"/>
                <a:sym typeface="Calibri"/>
              </a:rPr>
              <a:t>E[</a:t>
            </a:r>
            <a:r>
              <a:rPr b="1" i="1" lang="en" sz="1300">
                <a:solidFill>
                  <a:srgbClr val="2E2C28"/>
                </a:solidFill>
                <a:latin typeface="Calibri"/>
                <a:ea typeface="Calibri"/>
                <a:cs typeface="Calibri"/>
                <a:sym typeface="Calibri"/>
              </a:rPr>
              <a:t>Xi</a:t>
            </a:r>
            <a:r>
              <a:rPr b="1" lang="en" sz="1300">
                <a:solidFill>
                  <a:srgbClr val="2E2C28"/>
                </a:solidFill>
                <a:latin typeface="Calibri"/>
                <a:ea typeface="Calibri"/>
                <a:cs typeface="Calibri"/>
                <a:sym typeface="Calibri"/>
              </a:rPr>
              <a:t> - </a:t>
            </a:r>
            <a:r>
              <a:rPr b="1" i="1" lang="en" sz="1300">
                <a:solidFill>
                  <a:srgbClr val="2E2C28"/>
                </a:solidFill>
                <a:latin typeface="Calibri"/>
                <a:ea typeface="Calibri"/>
                <a:cs typeface="Calibri"/>
                <a:sym typeface="Calibri"/>
              </a:rPr>
              <a:t>Xi</a:t>
            </a:r>
            <a:r>
              <a:rPr b="1" lang="en" sz="1300">
                <a:solidFill>
                  <a:srgbClr val="2E2C28"/>
                </a:solidFill>
                <a:latin typeface="Calibri"/>
                <a:ea typeface="Calibri"/>
                <a:cs typeface="Calibri"/>
                <a:sym typeface="Calibri"/>
              </a:rPr>
              <a:t>-1]</a:t>
            </a:r>
            <a:r>
              <a:rPr lang="en" sz="1300">
                <a:solidFill>
                  <a:srgbClr val="2E2C28"/>
                </a:solidFill>
                <a:latin typeface="Calibri"/>
                <a:ea typeface="Calibri"/>
                <a:cs typeface="Calibri"/>
                <a:sym typeface="Calibri"/>
              </a:rPr>
              <a:t>?</a:t>
            </a:r>
            <a:endParaRPr sz="1300">
              <a:solidFill>
                <a:srgbClr val="2E2C28"/>
              </a:solidFill>
              <a:latin typeface="Calibri"/>
              <a:ea typeface="Calibri"/>
              <a:cs typeface="Calibri"/>
              <a:sym typeface="Calibri"/>
            </a:endParaRPr>
          </a:p>
          <a:p>
            <a:pPr indent="-311150" lvl="0" marL="457200" rtl="0" algn="l">
              <a:spcBef>
                <a:spcPts val="750"/>
              </a:spcBef>
              <a:spcAft>
                <a:spcPts val="0"/>
              </a:spcAft>
              <a:buClr>
                <a:srgbClr val="2E2C28"/>
              </a:buClr>
              <a:buSzPts val="1300"/>
              <a:buFont typeface="Calibri"/>
              <a:buAutoNum type="arabicPeriod"/>
            </a:pPr>
            <a:r>
              <a:rPr lang="en" sz="1300">
                <a:solidFill>
                  <a:srgbClr val="2E2C28"/>
                </a:solidFill>
                <a:latin typeface="Calibri"/>
                <a:ea typeface="Calibri"/>
                <a:cs typeface="Calibri"/>
                <a:sym typeface="Calibri"/>
              </a:rPr>
              <a:t>Use your answers above + linearity of expectation: what is the expected number of pushes to see all </a:t>
            </a:r>
            <a:r>
              <a:rPr i="1" lang="en" sz="1300">
                <a:solidFill>
                  <a:srgbClr val="2E2C28"/>
                </a:solidFill>
                <a:latin typeface="Calibri"/>
                <a:ea typeface="Calibri"/>
                <a:cs typeface="Calibri"/>
                <a:sym typeface="Calibri"/>
              </a:rPr>
              <a:t>n</a:t>
            </a:r>
            <a:r>
              <a:rPr lang="en" sz="1300">
                <a:solidFill>
                  <a:srgbClr val="2E2C28"/>
                </a:solidFill>
                <a:latin typeface="Calibri"/>
                <a:ea typeface="Calibri"/>
                <a:cs typeface="Calibri"/>
                <a:sym typeface="Calibri"/>
              </a:rPr>
              <a:t> words? </a:t>
            </a:r>
            <a:r>
              <a:rPr i="1" lang="en" sz="1300">
                <a:solidFill>
                  <a:srgbClr val="2E2C28"/>
                </a:solidFill>
                <a:latin typeface="Calibri"/>
                <a:ea typeface="Calibri"/>
                <a:cs typeface="Calibri"/>
                <a:sym typeface="Calibri"/>
              </a:rPr>
              <a:t>(Try to simplify to a expression)</a:t>
            </a:r>
            <a:endParaRPr sz="1300">
              <a:solidFill>
                <a:srgbClr val="2E2C28"/>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4"/>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What do you want to get out of this?</a:t>
            </a:r>
            <a:endParaRPr/>
          </a:p>
        </p:txBody>
      </p:sp>
      <p:sp>
        <p:nvSpPr>
          <p:cNvPr id="278" name="Google Shape;278;p44"/>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0" lvl="0" marL="0" rtl="0" algn="l">
              <a:spcBef>
                <a:spcPts val="750"/>
              </a:spcBef>
              <a:spcAft>
                <a:spcPts val="0"/>
              </a:spcAft>
              <a:buNone/>
            </a:pPr>
            <a:r>
              <a:rPr lang="en"/>
              <a:t>If you’ve done ACE before, what worked? What would you like to change?</a:t>
            </a:r>
            <a:endParaRPr/>
          </a:p>
          <a:p>
            <a:pPr indent="0" lvl="0" marL="0" rtl="0" algn="l">
              <a:spcBef>
                <a:spcPts val="750"/>
              </a:spcBef>
              <a:spcAft>
                <a:spcPts val="0"/>
              </a:spcAft>
              <a:buNone/>
            </a:pPr>
            <a:r>
              <a:t/>
            </a:r>
            <a:endParaRPr/>
          </a:p>
          <a:p>
            <a:pPr indent="0" lvl="0" marL="0" rtl="0" algn="l">
              <a:spcBef>
                <a:spcPts val="750"/>
              </a:spcBef>
              <a:spcAft>
                <a:spcPts val="0"/>
              </a:spcAft>
              <a:buNone/>
            </a:pPr>
            <a:r>
              <a:rPr lang="en"/>
              <a:t>How much independent work / practice would you like compared to review?</a:t>
            </a:r>
            <a:endParaRPr/>
          </a:p>
          <a:p>
            <a:pPr indent="0" lvl="0" marL="0" rtl="0" algn="l">
              <a:spcBef>
                <a:spcPts val="750"/>
              </a:spcBef>
              <a:spcAft>
                <a:spcPts val="0"/>
              </a:spcAft>
              <a:buNone/>
            </a:pPr>
            <a:r>
              <a:t/>
            </a:r>
            <a:endParaRPr/>
          </a:p>
          <a:p>
            <a:pPr indent="0" lvl="0" marL="0" rtl="0" algn="l">
              <a:spcBef>
                <a:spcPts val="75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5"/>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Other things you want?</a:t>
            </a:r>
            <a:endParaRPr/>
          </a:p>
        </p:txBody>
      </p:sp>
      <p:sp>
        <p:nvSpPr>
          <p:cNvPr id="284" name="Google Shape;284;p45"/>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0" lvl="0" marL="0" rtl="0" algn="l">
              <a:spcBef>
                <a:spcPts val="750"/>
              </a:spcBef>
              <a:spcAft>
                <a:spcPts val="0"/>
              </a:spcAft>
              <a:buNone/>
            </a:pPr>
            <a:r>
              <a:rPr lang="en"/>
              <a:t>Python review?</a:t>
            </a:r>
            <a:endParaRPr/>
          </a:p>
          <a:p>
            <a:pPr indent="0" lvl="0" marL="0" rtl="0" algn="l">
              <a:spcBef>
                <a:spcPts val="750"/>
              </a:spcBef>
              <a:spcAft>
                <a:spcPts val="0"/>
              </a:spcAft>
              <a:buNone/>
            </a:pPr>
            <a:r>
              <a:t/>
            </a:r>
            <a:endParaRPr/>
          </a:p>
          <a:p>
            <a:pPr indent="0" lvl="0" marL="0" rtl="0" algn="l">
              <a:spcBef>
                <a:spcPts val="750"/>
              </a:spcBef>
              <a:spcAft>
                <a:spcPts val="0"/>
              </a:spcAft>
              <a:buNone/>
            </a:pPr>
            <a:r>
              <a:rPr lang="en"/>
              <a:t>Homework tips?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6"/>
          <p:cNvSpPr txBox="1"/>
          <p:nvPr>
            <p:ph type="ctrTitle"/>
          </p:nvPr>
        </p:nvSpPr>
        <p:spPr>
          <a:xfrm>
            <a:off x="1004150" y="1751764"/>
            <a:ext cx="7136700" cy="1022400"/>
          </a:xfrm>
          <a:prstGeom prst="rect">
            <a:avLst/>
          </a:prstGeom>
        </p:spPr>
        <p:txBody>
          <a:bodyPr anchorCtr="0" anchor="b" bIns="45700" lIns="0" spcFirstLastPara="1" rIns="0" wrap="square" tIns="45700">
            <a:normAutofit/>
          </a:bodyPr>
          <a:lstStyle/>
          <a:p>
            <a:pPr indent="0" lvl="0" marL="0" rtl="0" algn="ctr">
              <a:spcBef>
                <a:spcPts val="0"/>
              </a:spcBef>
              <a:spcAft>
                <a:spcPts val="0"/>
              </a:spcAft>
              <a:buNone/>
            </a:pPr>
            <a:r>
              <a:rPr lang="en"/>
              <a:t>General Course Tips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7"/>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Structure</a:t>
            </a:r>
            <a:endParaRPr/>
          </a:p>
        </p:txBody>
      </p:sp>
      <p:sp>
        <p:nvSpPr>
          <p:cNvPr id="295" name="Google Shape;295;p47"/>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0" lvl="0" marL="0" rtl="0" algn="l">
              <a:spcBef>
                <a:spcPts val="750"/>
              </a:spcBef>
              <a:spcAft>
                <a:spcPts val="0"/>
              </a:spcAft>
              <a:buNone/>
            </a:pPr>
            <a:r>
              <a:rPr lang="en"/>
              <a:t>Everything builds off of earlier concepts. Make sure you understand these things </a:t>
            </a:r>
            <a:r>
              <a:rPr lang="en" u="sng"/>
              <a:t>really well</a:t>
            </a:r>
            <a:endParaRPr/>
          </a:p>
          <a:p>
            <a:pPr indent="0" lvl="0" marL="0" rtl="0" algn="l">
              <a:spcBef>
                <a:spcPts val="750"/>
              </a:spcBef>
              <a:spcAft>
                <a:spcPts val="0"/>
              </a:spcAft>
              <a:buNone/>
            </a:pPr>
            <a:r>
              <a:t/>
            </a:r>
            <a:endParaRPr/>
          </a:p>
          <a:p>
            <a:pPr indent="0" lvl="0" marL="0" rtl="0" algn="l">
              <a:spcBef>
                <a:spcPts val="750"/>
              </a:spcBef>
              <a:spcAft>
                <a:spcPts val="0"/>
              </a:spcAft>
              <a:buNone/>
            </a:pPr>
            <a:r>
              <a:t/>
            </a:r>
            <a:endParaRPr/>
          </a:p>
          <a:p>
            <a:pPr indent="0" lvl="0" marL="0" rtl="0" algn="l">
              <a:spcBef>
                <a:spcPts val="750"/>
              </a:spcBef>
              <a:spcAft>
                <a:spcPts val="0"/>
              </a:spcAft>
              <a:buNone/>
            </a:pPr>
            <a:r>
              <a:t/>
            </a:r>
            <a:endParaRPr/>
          </a:p>
          <a:p>
            <a:pPr indent="0" lvl="0" marL="0" rtl="0" algn="l">
              <a:spcBef>
                <a:spcPts val="750"/>
              </a:spcBef>
              <a:spcAft>
                <a:spcPts val="0"/>
              </a:spcAft>
              <a:buNone/>
            </a:pPr>
            <a:r>
              <a:rPr lang="en"/>
              <a:t>Chris is great, so don’t be </a:t>
            </a:r>
            <a:r>
              <a:rPr lang="en"/>
              <a:t>afraid</a:t>
            </a:r>
            <a:r>
              <a:rPr lang="en"/>
              <a:t> to ask questions, go to OH, etc.</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8"/>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PSET Collaboration</a:t>
            </a:r>
            <a:endParaRPr/>
          </a:p>
        </p:txBody>
      </p:sp>
      <p:sp>
        <p:nvSpPr>
          <p:cNvPr id="301" name="Google Shape;301;p48"/>
          <p:cNvSpPr txBox="1"/>
          <p:nvPr>
            <p:ph idx="1" type="body"/>
          </p:nvPr>
        </p:nvSpPr>
        <p:spPr>
          <a:xfrm>
            <a:off x="407965" y="1334745"/>
            <a:ext cx="8503800" cy="3432600"/>
          </a:xfrm>
          <a:prstGeom prst="rect">
            <a:avLst/>
          </a:prstGeom>
        </p:spPr>
        <p:txBody>
          <a:bodyPr anchorCtr="0" anchor="t" bIns="45700" lIns="0" spcFirstLastPara="1" rIns="0" wrap="square" tIns="45700">
            <a:normAutofit lnSpcReduction="20000"/>
          </a:bodyPr>
          <a:lstStyle/>
          <a:p>
            <a:pPr indent="0" lvl="0" marL="0" rtl="0" algn="l">
              <a:spcBef>
                <a:spcPts val="750"/>
              </a:spcBef>
              <a:spcAft>
                <a:spcPts val="0"/>
              </a:spcAft>
              <a:buNone/>
            </a:pPr>
            <a:r>
              <a:rPr lang="en"/>
              <a:t>I’m not here to give HW </a:t>
            </a:r>
            <a:r>
              <a:rPr lang="en"/>
              <a:t>answers</a:t>
            </a:r>
            <a:endParaRPr/>
          </a:p>
          <a:p>
            <a:pPr indent="0" lvl="0" marL="0" rtl="0" algn="l">
              <a:spcBef>
                <a:spcPts val="750"/>
              </a:spcBef>
              <a:spcAft>
                <a:spcPts val="0"/>
              </a:spcAft>
              <a:buNone/>
            </a:pPr>
            <a:r>
              <a:t/>
            </a:r>
            <a:endParaRPr/>
          </a:p>
          <a:p>
            <a:pPr indent="0" lvl="0" marL="0" rtl="0" algn="l">
              <a:spcBef>
                <a:spcPts val="750"/>
              </a:spcBef>
              <a:spcAft>
                <a:spcPts val="0"/>
              </a:spcAft>
              <a:buNone/>
            </a:pPr>
            <a:r>
              <a:rPr lang="en"/>
              <a:t>If there are concepts form the HW you want to discuss, let’s bring them up!</a:t>
            </a:r>
            <a:endParaRPr/>
          </a:p>
          <a:p>
            <a:pPr indent="0" lvl="0" marL="0" rtl="0" algn="l">
              <a:spcBef>
                <a:spcPts val="750"/>
              </a:spcBef>
              <a:spcAft>
                <a:spcPts val="0"/>
              </a:spcAft>
              <a:buNone/>
            </a:pPr>
            <a:r>
              <a:t/>
            </a:r>
            <a:endParaRPr/>
          </a:p>
          <a:p>
            <a:pPr indent="0" lvl="0" marL="0" rtl="0" algn="l">
              <a:spcBef>
                <a:spcPts val="750"/>
              </a:spcBef>
              <a:spcAft>
                <a:spcPts val="0"/>
              </a:spcAft>
              <a:buNone/>
            </a:pPr>
            <a:r>
              <a:rPr lang="en"/>
              <a:t>You can discuss concepts with this group (and form your own groups)!</a:t>
            </a:r>
            <a:endParaRPr/>
          </a:p>
          <a:p>
            <a:pPr indent="0" lvl="0" marL="0" rtl="0" algn="l">
              <a:spcBef>
                <a:spcPts val="750"/>
              </a:spcBef>
              <a:spcAft>
                <a:spcPts val="0"/>
              </a:spcAft>
              <a:buNone/>
            </a:pPr>
            <a:r>
              <a:t/>
            </a:r>
            <a:endParaRPr/>
          </a:p>
          <a:p>
            <a:pPr indent="0" lvl="0" marL="0" rtl="0" algn="l">
              <a:spcBef>
                <a:spcPts val="750"/>
              </a:spcBef>
              <a:spcAft>
                <a:spcPts val="0"/>
              </a:spcAft>
              <a:buNone/>
            </a:pPr>
            <a:r>
              <a:rPr lang="en"/>
              <a:t>DO NOT share/look at written solutions (talk through at high level)</a:t>
            </a:r>
            <a:endParaRPr/>
          </a:p>
          <a:p>
            <a:pPr indent="0" lvl="0" marL="0" rtl="0" algn="l">
              <a:spcBef>
                <a:spcPts val="750"/>
              </a:spcBef>
              <a:spcAft>
                <a:spcPts val="0"/>
              </a:spcAft>
              <a:buNone/>
            </a:pPr>
            <a:r>
              <a:t/>
            </a:r>
            <a:endParaRPr/>
          </a:p>
          <a:p>
            <a:pPr indent="0" lvl="0" marL="0" rtl="0" algn="l">
              <a:spcBef>
                <a:spcPts val="750"/>
              </a:spcBef>
              <a:spcAft>
                <a:spcPts val="0"/>
              </a:spcAft>
              <a:buNone/>
            </a:pPr>
            <a:r>
              <a:rPr lang="en"/>
              <a:t>Disclose who you worked with</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9"/>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AI Policy</a:t>
            </a:r>
            <a:endParaRPr/>
          </a:p>
        </p:txBody>
      </p:sp>
      <p:sp>
        <p:nvSpPr>
          <p:cNvPr id="307" name="Google Shape;307;p49"/>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0" lvl="0" marL="0" rtl="0" algn="l">
              <a:spcBef>
                <a:spcPts val="750"/>
              </a:spcBef>
              <a:spcAft>
                <a:spcPts val="0"/>
              </a:spcAft>
              <a:buNone/>
            </a:pPr>
            <a:r>
              <a:rPr lang="en"/>
              <a:t>AI will do this class for you.</a:t>
            </a:r>
            <a:endParaRPr/>
          </a:p>
          <a:p>
            <a:pPr indent="0" lvl="0" marL="0" rtl="0" algn="l">
              <a:spcBef>
                <a:spcPts val="750"/>
              </a:spcBef>
              <a:spcAft>
                <a:spcPts val="0"/>
              </a:spcAft>
              <a:buNone/>
            </a:pPr>
            <a:r>
              <a:t/>
            </a:r>
            <a:endParaRPr/>
          </a:p>
          <a:p>
            <a:pPr indent="0" lvl="0" marL="0" rtl="0" algn="l">
              <a:spcBef>
                <a:spcPts val="750"/>
              </a:spcBef>
              <a:spcAft>
                <a:spcPts val="0"/>
              </a:spcAft>
              <a:buNone/>
            </a:pPr>
            <a:r>
              <a:rPr lang="en"/>
              <a:t>The PSETs barely count and are the best practice for the test, so remember </a:t>
            </a:r>
            <a:r>
              <a:rPr lang="en" u="sng"/>
              <a:t>it is not worth it</a:t>
            </a:r>
            <a:endParaRPr u="sng"/>
          </a:p>
          <a:p>
            <a:pPr indent="0" lvl="0" marL="0" rtl="0" algn="l">
              <a:spcBef>
                <a:spcPts val="750"/>
              </a:spcBef>
              <a:spcAft>
                <a:spcPts val="0"/>
              </a:spcAft>
              <a:buNone/>
            </a:pPr>
            <a:r>
              <a:t/>
            </a:r>
            <a:endParaRPr u="sng"/>
          </a:p>
          <a:p>
            <a:pPr indent="0" lvl="0" marL="0" rtl="0" algn="l">
              <a:spcBef>
                <a:spcPts val="750"/>
              </a:spcBef>
              <a:spcAft>
                <a:spcPts val="0"/>
              </a:spcAft>
              <a:buNone/>
            </a:pPr>
            <a:r>
              <a:rPr lang="en"/>
              <a:t>These concepts are actually important and fun!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50"/>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But…</a:t>
            </a:r>
            <a:endParaRPr/>
          </a:p>
        </p:txBody>
      </p:sp>
      <p:sp>
        <p:nvSpPr>
          <p:cNvPr id="313" name="Google Shape;313;p50"/>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0" lvl="0" marL="0" rtl="0" algn="l">
              <a:spcBef>
                <a:spcPts val="750"/>
              </a:spcBef>
              <a:spcAft>
                <a:spcPts val="0"/>
              </a:spcAft>
              <a:buNone/>
            </a:pPr>
            <a:r>
              <a:rPr lang="en"/>
              <a:t>You can use AI as a great study tool!</a:t>
            </a:r>
            <a:endParaRPr/>
          </a:p>
          <a:p>
            <a:pPr indent="0" lvl="0" marL="0" rtl="0" algn="l">
              <a:spcBef>
                <a:spcPts val="750"/>
              </a:spcBef>
              <a:spcAft>
                <a:spcPts val="0"/>
              </a:spcAft>
              <a:buNone/>
            </a:pPr>
            <a:r>
              <a:t/>
            </a:r>
            <a:endParaRPr/>
          </a:p>
          <a:p>
            <a:pPr indent="-374650" lvl="0" marL="457200" rtl="0" algn="l">
              <a:spcBef>
                <a:spcPts val="750"/>
              </a:spcBef>
              <a:spcAft>
                <a:spcPts val="0"/>
              </a:spcAft>
              <a:buSzPts val="2300"/>
              <a:buChar char="-"/>
            </a:pPr>
            <a:r>
              <a:rPr lang="en"/>
              <a:t>Make practice problems</a:t>
            </a:r>
            <a:endParaRPr/>
          </a:p>
          <a:p>
            <a:pPr indent="-374650" lvl="0" marL="457200" rtl="0" algn="l">
              <a:spcBef>
                <a:spcPts val="0"/>
              </a:spcBef>
              <a:spcAft>
                <a:spcPts val="0"/>
              </a:spcAft>
              <a:buSzPts val="2300"/>
              <a:buChar char="-"/>
            </a:pPr>
            <a:r>
              <a:rPr lang="en"/>
              <a:t>If you have an idea for a fun project, try it out!</a:t>
            </a:r>
            <a:endParaRPr/>
          </a:p>
          <a:p>
            <a:pPr indent="-374650" lvl="0" marL="457200" rtl="0" algn="l">
              <a:spcBef>
                <a:spcPts val="0"/>
              </a:spcBef>
              <a:spcAft>
                <a:spcPts val="0"/>
              </a:spcAft>
              <a:buSzPts val="2300"/>
              <a:buChar char="-"/>
            </a:pPr>
            <a:r>
              <a:rPr lang="en"/>
              <a:t>Use it to answer your questions</a:t>
            </a:r>
            <a:endParaRPr/>
          </a:p>
          <a:p>
            <a:pPr indent="-374650" lvl="0" marL="457200" rtl="0" algn="l">
              <a:spcBef>
                <a:spcPts val="0"/>
              </a:spcBef>
              <a:spcAft>
                <a:spcPts val="0"/>
              </a:spcAft>
              <a:buSzPts val="2300"/>
              <a:buChar char="-"/>
            </a:pPr>
            <a:r>
              <a:rPr lang="en"/>
              <a:t>Talk with your favorite assistant before figuring out what questions to ask!</a:t>
            </a:r>
            <a:endParaRPr/>
          </a:p>
          <a:p>
            <a:pPr indent="-374650" lvl="0" marL="457200" rtl="0" algn="l">
              <a:spcBef>
                <a:spcPts val="0"/>
              </a:spcBef>
              <a:spcAft>
                <a:spcPts val="0"/>
              </a:spcAft>
              <a:buSzPts val="2300"/>
              <a:buChar char="-"/>
            </a:pPr>
            <a:r>
              <a:rPr lang="en"/>
              <a:t>If I prompt you for a question during class, I might ask you to ask an LLM to give a good </a:t>
            </a:r>
            <a:r>
              <a:rPr lang="en"/>
              <a:t>question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1"/>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Practice Asking Questions</a:t>
            </a:r>
            <a:endParaRPr/>
          </a:p>
        </p:txBody>
      </p:sp>
      <p:sp>
        <p:nvSpPr>
          <p:cNvPr id="319" name="Google Shape;319;p51"/>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0" lvl="0" marL="0" rtl="0" algn="l">
              <a:spcBef>
                <a:spcPts val="750"/>
              </a:spcBef>
              <a:spcAft>
                <a:spcPts val="0"/>
              </a:spcAft>
              <a:buNone/>
            </a:pPr>
            <a:r>
              <a:rPr lang="en"/>
              <a:t>That’s an objective of this course: be comfortable with asking questions</a:t>
            </a:r>
            <a:endParaRPr/>
          </a:p>
          <a:p>
            <a:pPr indent="0" lvl="0" marL="0" rtl="0" algn="l">
              <a:spcBef>
                <a:spcPts val="750"/>
              </a:spcBef>
              <a:spcAft>
                <a:spcPts val="0"/>
              </a:spcAft>
              <a:buNone/>
            </a:pPr>
            <a:r>
              <a:t/>
            </a:r>
            <a:endParaRPr/>
          </a:p>
          <a:p>
            <a:pPr indent="0" lvl="0" marL="0" rtl="0" algn="l">
              <a:spcBef>
                <a:spcPts val="750"/>
              </a:spcBef>
              <a:spcAft>
                <a:spcPts val="0"/>
              </a:spcAft>
              <a:buNone/>
            </a:pPr>
            <a:r>
              <a:rPr lang="en"/>
              <a:t>It’s such an important skill</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2"/>
          <p:cNvSpPr txBox="1"/>
          <p:nvPr>
            <p:ph type="ctrTitle"/>
          </p:nvPr>
        </p:nvSpPr>
        <p:spPr>
          <a:xfrm>
            <a:off x="1004150" y="1751764"/>
            <a:ext cx="7136700" cy="1022400"/>
          </a:xfrm>
          <a:prstGeom prst="rect">
            <a:avLst/>
          </a:prstGeom>
        </p:spPr>
        <p:txBody>
          <a:bodyPr anchorCtr="0" anchor="b" bIns="45700" lIns="0" spcFirstLastPara="1" rIns="0" wrap="square" tIns="45700">
            <a:normAutofit/>
          </a:bodyPr>
          <a:lstStyle/>
          <a:p>
            <a:pPr indent="0" lvl="0" marL="0" rtl="0" algn="ctr">
              <a:spcBef>
                <a:spcPts val="0"/>
              </a:spcBef>
              <a:spcAft>
                <a:spcPts val="0"/>
              </a:spcAft>
              <a:buNone/>
            </a:pPr>
            <a:r>
              <a:rPr lang="en"/>
              <a:t>Onto the material…</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3"/>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Topics Covered Last Week:</a:t>
            </a:r>
            <a:endParaRPr/>
          </a:p>
        </p:txBody>
      </p:sp>
      <p:sp>
        <p:nvSpPr>
          <p:cNvPr id="330" name="Google Shape;330;p53"/>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374650" lvl="0" marL="457200" rtl="0" algn="l">
              <a:spcBef>
                <a:spcPts val="750"/>
              </a:spcBef>
              <a:spcAft>
                <a:spcPts val="0"/>
              </a:spcAft>
              <a:buSzPts val="2300"/>
              <a:buChar char="-"/>
            </a:pPr>
            <a:r>
              <a:rPr lang="en"/>
              <a:t>Intro to probability</a:t>
            </a:r>
            <a:endParaRPr/>
          </a:p>
          <a:p>
            <a:pPr indent="-374650" lvl="0" marL="457200" rtl="0" algn="l">
              <a:spcBef>
                <a:spcPts val="0"/>
              </a:spcBef>
              <a:spcAft>
                <a:spcPts val="0"/>
              </a:spcAft>
              <a:buSzPts val="2300"/>
              <a:buChar char="-"/>
            </a:pPr>
            <a:r>
              <a:rPr lang="en"/>
              <a:t>Conditional probability</a:t>
            </a:r>
            <a:endParaRPr/>
          </a:p>
          <a:p>
            <a:pPr indent="0" lvl="0" marL="0" rtl="0" algn="l">
              <a:spcBef>
                <a:spcPts val="750"/>
              </a:spcBef>
              <a:spcAft>
                <a:spcPts val="0"/>
              </a:spcAft>
              <a:buNone/>
            </a:pPr>
            <a:r>
              <a:t/>
            </a:r>
            <a:endParaRPr/>
          </a:p>
          <a:p>
            <a:pPr indent="-374650" lvl="0" marL="457200" rtl="0" algn="l">
              <a:spcBef>
                <a:spcPts val="750"/>
              </a:spcBef>
              <a:spcAft>
                <a:spcPts val="0"/>
              </a:spcAft>
              <a:buSzPts val="2300"/>
              <a:buChar char="-"/>
            </a:pPr>
            <a:r>
              <a:rPr lang="en"/>
              <a:t>Bayes’ Theorem</a:t>
            </a:r>
            <a:endParaRPr/>
          </a:p>
          <a:p>
            <a:pPr indent="-374650" lvl="0" marL="457200" rtl="0" algn="l">
              <a:spcBef>
                <a:spcPts val="0"/>
              </a:spcBef>
              <a:spcAft>
                <a:spcPts val="0"/>
              </a:spcAft>
              <a:buSzPts val="2300"/>
              <a:buChar char="-"/>
            </a:pPr>
            <a:r>
              <a:rPr lang="en"/>
              <a:t>Counting and combinatorics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4"/>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Specifics to add?</a:t>
            </a:r>
            <a:endParaRPr/>
          </a:p>
        </p:txBody>
      </p:sp>
      <p:sp>
        <p:nvSpPr>
          <p:cNvPr id="336" name="Google Shape;336;p54"/>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0" lvl="0" marL="0" rtl="0" algn="l">
              <a:spcBef>
                <a:spcPts val="750"/>
              </a:spcBef>
              <a:spcAft>
                <a:spcPts val="0"/>
              </a:spcAft>
              <a:buNone/>
            </a:pPr>
            <a:r>
              <a:rPr lang="en"/>
              <a:t>Any specific topics or portions you want to focus on?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5"/>
          <p:cNvSpPr txBox="1"/>
          <p:nvPr>
            <p:ph type="ctrTitle"/>
          </p:nvPr>
        </p:nvSpPr>
        <p:spPr>
          <a:xfrm>
            <a:off x="1004150" y="1751764"/>
            <a:ext cx="7136700" cy="1022400"/>
          </a:xfrm>
          <a:prstGeom prst="rect">
            <a:avLst/>
          </a:prstGeom>
        </p:spPr>
        <p:txBody>
          <a:bodyPr anchorCtr="0" anchor="b" bIns="45700" lIns="0" spcFirstLastPara="1" rIns="0" wrap="square" tIns="45700">
            <a:normAutofit/>
          </a:bodyPr>
          <a:lstStyle/>
          <a:p>
            <a:pPr indent="0" lvl="0" marL="0" rtl="0" algn="ctr">
              <a:spcBef>
                <a:spcPts val="0"/>
              </a:spcBef>
              <a:spcAft>
                <a:spcPts val="0"/>
              </a:spcAft>
              <a:buNone/>
            </a:pPr>
            <a:r>
              <a:rPr lang="en"/>
              <a:t>Intro to probability</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6"/>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What Is Probability?</a:t>
            </a:r>
            <a:endParaRPr/>
          </a:p>
        </p:txBody>
      </p:sp>
      <p:sp>
        <p:nvSpPr>
          <p:cNvPr id="347" name="Google Shape;347;p56"/>
          <p:cNvSpPr txBox="1"/>
          <p:nvPr>
            <p:ph idx="1" type="body"/>
          </p:nvPr>
        </p:nvSpPr>
        <p:spPr>
          <a:xfrm>
            <a:off x="407972" y="1334750"/>
            <a:ext cx="5650800" cy="3432600"/>
          </a:xfrm>
          <a:prstGeom prst="rect">
            <a:avLst/>
          </a:prstGeom>
        </p:spPr>
        <p:txBody>
          <a:bodyPr anchorCtr="0" anchor="t" bIns="45700" lIns="0" spcFirstLastPara="1" rIns="0" wrap="square" tIns="45700">
            <a:normAutofit/>
          </a:bodyPr>
          <a:lstStyle/>
          <a:p>
            <a:pPr indent="0" lvl="0" marL="0" rtl="0" algn="l">
              <a:spcBef>
                <a:spcPts val="750"/>
              </a:spcBef>
              <a:spcAft>
                <a:spcPts val="0"/>
              </a:spcAft>
              <a:buNone/>
            </a:pPr>
            <a:r>
              <a:rPr b="1" lang="en"/>
              <a:t>Axioms of Probability</a:t>
            </a:r>
            <a:endParaRPr b="1"/>
          </a:p>
          <a:p>
            <a:pPr indent="0" lvl="0" marL="0" rtl="0" algn="l">
              <a:spcBef>
                <a:spcPts val="750"/>
              </a:spcBef>
              <a:spcAft>
                <a:spcPts val="0"/>
              </a:spcAft>
              <a:buNone/>
            </a:pPr>
            <a:r>
              <a:t/>
            </a:r>
            <a:endParaRPr/>
          </a:p>
          <a:p>
            <a:pPr indent="0" lvl="0" marL="0" rtl="0" algn="l">
              <a:spcBef>
                <a:spcPts val="750"/>
              </a:spcBef>
              <a:spcAft>
                <a:spcPts val="0"/>
              </a:spcAft>
              <a:buNone/>
            </a:pPr>
            <a:r>
              <a:rPr lang="en"/>
              <a:t>Recall: S = all possible outcomes, E = the event.</a:t>
            </a:r>
            <a:endParaRPr/>
          </a:p>
          <a:p>
            <a:pPr indent="-374650" lvl="0" marL="457200" rtl="0" algn="l">
              <a:spcBef>
                <a:spcPts val="750"/>
              </a:spcBef>
              <a:spcAft>
                <a:spcPts val="0"/>
              </a:spcAft>
              <a:buSzPts val="2300"/>
              <a:buChar char="-"/>
            </a:pPr>
            <a:r>
              <a:rPr lang="en"/>
              <a:t>Axiom 1: 0 ≤ P(E) ≤ 1</a:t>
            </a:r>
            <a:endParaRPr/>
          </a:p>
          <a:p>
            <a:pPr indent="-374650" lvl="0" marL="457200" rtl="0" algn="l">
              <a:spcBef>
                <a:spcPts val="0"/>
              </a:spcBef>
              <a:spcAft>
                <a:spcPts val="0"/>
              </a:spcAft>
              <a:buSzPts val="2300"/>
              <a:buChar char="-"/>
            </a:pPr>
            <a:r>
              <a:rPr lang="en"/>
              <a:t>Axiom 2: P(S) = 1</a:t>
            </a:r>
            <a:endParaRPr/>
          </a:p>
          <a:p>
            <a:pPr indent="-374650" lvl="0" marL="457200" rtl="0" algn="l">
              <a:spcBef>
                <a:spcPts val="0"/>
              </a:spcBef>
              <a:spcAft>
                <a:spcPts val="0"/>
              </a:spcAft>
              <a:buSzPts val="2300"/>
              <a:buChar char="-"/>
            </a:pPr>
            <a:r>
              <a:rPr lang="en"/>
              <a:t>Axiom 3: If events E and F are mutually exclusive, </a:t>
            </a:r>
            <a:endParaRPr/>
          </a:p>
          <a:p>
            <a:pPr indent="0" lvl="0" marL="914400" rtl="0" algn="l">
              <a:spcBef>
                <a:spcPts val="750"/>
              </a:spcBef>
              <a:spcAft>
                <a:spcPts val="0"/>
              </a:spcAft>
              <a:buNone/>
            </a:pPr>
            <a:r>
              <a:rPr lang="en"/>
              <a:t>P(E ∪ F) = P(E) + P(F)</a:t>
            </a:r>
            <a:endParaRPr/>
          </a:p>
        </p:txBody>
      </p:sp>
      <p:pic>
        <p:nvPicPr>
          <p:cNvPr id="348" name="Google Shape;348;p56"/>
          <p:cNvPicPr preferRelativeResize="0"/>
          <p:nvPr/>
        </p:nvPicPr>
        <p:blipFill>
          <a:blip r:embed="rId3">
            <a:alphaModFix/>
          </a:blip>
          <a:stretch>
            <a:fillRect/>
          </a:stretch>
        </p:blipFill>
        <p:spPr>
          <a:xfrm>
            <a:off x="6592050" y="530663"/>
            <a:ext cx="2190750" cy="3171825"/>
          </a:xfrm>
          <a:prstGeom prst="rect">
            <a:avLst/>
          </a:prstGeom>
          <a:noFill/>
          <a:ln>
            <a:noFill/>
          </a:ln>
        </p:spPr>
      </p:pic>
      <p:sp>
        <p:nvSpPr>
          <p:cNvPr id="349" name="Google Shape;349;p56"/>
          <p:cNvSpPr txBox="1"/>
          <p:nvPr/>
        </p:nvSpPr>
        <p:spPr>
          <a:xfrm>
            <a:off x="6524075" y="3702500"/>
            <a:ext cx="2569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dk2"/>
                </a:solidFill>
                <a:latin typeface="Calibri"/>
                <a:ea typeface="Calibri"/>
                <a:cs typeface="Calibri"/>
                <a:sym typeface="Calibri"/>
              </a:rPr>
              <a:t>Andrey Kolmogorov</a:t>
            </a:r>
            <a:endParaRPr sz="2000">
              <a:solidFill>
                <a:schemeClr val="dk2"/>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7"/>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Sample Spaces and Events</a:t>
            </a:r>
            <a:endParaRPr/>
          </a:p>
        </p:txBody>
      </p:sp>
      <p:sp>
        <p:nvSpPr>
          <p:cNvPr id="355" name="Google Shape;355;p57"/>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b="1" lang="en" sz="2200"/>
              <a:t>Sample space S: the set of all possible outcomes of an experiment</a:t>
            </a:r>
            <a:endParaRPr b="1" sz="2200"/>
          </a:p>
          <a:p>
            <a:pPr indent="0" lvl="0" marL="0" rtl="0" algn="l">
              <a:spcBef>
                <a:spcPts val="750"/>
              </a:spcBef>
              <a:spcAft>
                <a:spcPts val="0"/>
              </a:spcAft>
              <a:buNone/>
            </a:pPr>
            <a:r>
              <a:t/>
            </a:r>
            <a:endParaRPr b="1" sz="2200"/>
          </a:p>
          <a:p>
            <a:pPr indent="0" lvl="0" marL="0" rtl="0" algn="l">
              <a:spcBef>
                <a:spcPts val="750"/>
              </a:spcBef>
              <a:spcAft>
                <a:spcPts val="0"/>
              </a:spcAft>
              <a:buNone/>
            </a:pPr>
            <a:r>
              <a:rPr lang="en" sz="2200"/>
              <a:t>Event E: any subset of S (E ⊆ S)</a:t>
            </a:r>
            <a:endParaRPr sz="2200"/>
          </a:p>
          <a:p>
            <a:pPr indent="0" lvl="0" marL="0" rtl="0" algn="l">
              <a:spcBef>
                <a:spcPts val="750"/>
              </a:spcBef>
              <a:spcAft>
                <a:spcPts val="0"/>
              </a:spcAft>
              <a:buNone/>
            </a:pPr>
            <a:r>
              <a:rPr lang="en" sz="2200"/>
              <a:t>      One coin: S = {H, T}.  Two coins: S = {HH, HT, TH, TT}</a:t>
            </a:r>
            <a:endParaRPr sz="2200"/>
          </a:p>
          <a:p>
            <a:pPr indent="0" lvl="0" marL="0" rtl="0" algn="l">
              <a:spcBef>
                <a:spcPts val="750"/>
              </a:spcBef>
              <a:spcAft>
                <a:spcPts val="0"/>
              </a:spcAft>
              <a:buNone/>
            </a:pPr>
            <a:r>
              <a:rPr lang="en" sz="2200"/>
              <a:t>      One die: S = {1, …, 6}; “roll is even” is E = {2, 4, 6}</a:t>
            </a:r>
            <a:endParaRPr sz="2200"/>
          </a:p>
          <a:p>
            <a:pPr indent="0" lvl="0" marL="0" rtl="0" algn="l">
              <a:spcBef>
                <a:spcPts val="750"/>
              </a:spcBef>
              <a:spcAft>
                <a:spcPts val="0"/>
              </a:spcAft>
              <a:buNone/>
            </a:pPr>
            <a:r>
              <a:t/>
            </a:r>
            <a:endParaRPr sz="22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58"/>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More Notation</a:t>
            </a:r>
            <a:endParaRPr/>
          </a:p>
        </p:txBody>
      </p:sp>
      <p:sp>
        <p:nvSpPr>
          <p:cNvPr id="361" name="Google Shape;361;p58"/>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0" lvl="0" marL="0" rtl="0" algn="l">
              <a:spcBef>
                <a:spcPts val="750"/>
              </a:spcBef>
              <a:spcAft>
                <a:spcPts val="0"/>
              </a:spcAft>
              <a:buNone/>
            </a:pPr>
            <a:r>
              <a:rPr lang="en" sz="2400"/>
              <a:t>E ∪ F = E or F.   E ∩ F = EF = E and F.   Eᶜ = not E</a:t>
            </a:r>
            <a:endParaRPr sz="2400"/>
          </a:p>
          <a:p>
            <a:pPr indent="0" lvl="0" marL="0" rtl="0" algn="l">
              <a:spcBef>
                <a:spcPts val="750"/>
              </a:spcBef>
              <a:spcAft>
                <a:spcPts val="0"/>
              </a:spcAft>
              <a:buNone/>
            </a:pPr>
            <a:r>
              <a:rPr lang="en" sz="2400"/>
              <a:t>De Morgan: (E ∪ F)ᶜ = Eᶜ ∩ Fᶜ  and  (E ∩ F)ᶜ = Eᶜ ∪ Fᶜ</a:t>
            </a:r>
            <a:endParaRPr sz="24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9"/>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sz="3100"/>
              <a:t>Consequences of the Axioms (draw out visually)</a:t>
            </a:r>
            <a:endParaRPr sz="3100"/>
          </a:p>
        </p:txBody>
      </p:sp>
      <p:sp>
        <p:nvSpPr>
          <p:cNvPr id="367" name="Google Shape;367;p59"/>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Complement: P(Eᶜ) = 1 − P(E)   (E and Eᶜ are disjoint and make up S)</a:t>
            </a:r>
            <a:endParaRPr sz="1800"/>
          </a:p>
          <a:p>
            <a:pPr indent="0" lvl="0" marL="0" rtl="0" algn="l">
              <a:spcBef>
                <a:spcPts val="750"/>
              </a:spcBef>
              <a:spcAft>
                <a:spcPts val="0"/>
              </a:spcAft>
              <a:buNone/>
            </a:pPr>
            <a:r>
              <a:t/>
            </a:r>
            <a:endParaRPr sz="1800"/>
          </a:p>
          <a:p>
            <a:pPr indent="0" lvl="0" marL="0" rtl="0" algn="l">
              <a:spcBef>
                <a:spcPts val="750"/>
              </a:spcBef>
              <a:spcAft>
                <a:spcPts val="0"/>
              </a:spcAft>
              <a:buNone/>
            </a:pPr>
            <a:r>
              <a:rPr lang="en" sz="1800"/>
              <a:t>If E and F are mutually exclusive, P(E ∪ F) = P(E) + P(F)</a:t>
            </a:r>
            <a:endParaRPr sz="1800"/>
          </a:p>
          <a:p>
            <a:pPr indent="0" lvl="0" marL="0" rtl="0" algn="l">
              <a:spcBef>
                <a:spcPts val="750"/>
              </a:spcBef>
              <a:spcAft>
                <a:spcPts val="0"/>
              </a:spcAft>
              <a:buNone/>
            </a:pPr>
            <a:r>
              <a:t/>
            </a:r>
            <a:endParaRPr b="1" sz="1800"/>
          </a:p>
          <a:p>
            <a:pPr indent="0" lvl="0" marL="0" rtl="0" algn="l">
              <a:spcBef>
                <a:spcPts val="750"/>
              </a:spcBef>
              <a:spcAft>
                <a:spcPts val="0"/>
              </a:spcAft>
              <a:buNone/>
            </a:pPr>
            <a:r>
              <a:rPr b="1" lang="en" sz="1800"/>
              <a:t>Inclusion–exclusion: P(E ∪ F) = P(E) + P(F) − P(E F)</a:t>
            </a:r>
            <a:endParaRPr b="1" sz="1800"/>
          </a:p>
          <a:p>
            <a:pPr indent="0" lvl="0" marL="0" rtl="0" algn="l">
              <a:spcBef>
                <a:spcPts val="750"/>
              </a:spcBef>
              <a:spcAft>
                <a:spcPts val="0"/>
              </a:spcAft>
              <a:buNone/>
            </a:pPr>
            <a:r>
              <a:t/>
            </a:r>
            <a:endParaRPr sz="1800"/>
          </a:p>
          <a:p>
            <a:pPr indent="0" lvl="0" marL="0" rtl="0" algn="l">
              <a:spcBef>
                <a:spcPts val="750"/>
              </a:spcBef>
              <a:spcAft>
                <a:spcPts val="0"/>
              </a:spcAft>
              <a:buNone/>
            </a:pPr>
            <a:r>
              <a:rPr lang="en" sz="1800"/>
              <a:t>If E ⊆ F, then P(E) ≤ P(F).   P(∅) = 0</a:t>
            </a:r>
            <a:endParaRPr sz="1800"/>
          </a:p>
        </p:txBody>
      </p:sp>
      <p:sp>
        <p:nvSpPr>
          <p:cNvPr id="368" name="Google Shape;368;p59"/>
          <p:cNvSpPr/>
          <p:nvPr/>
        </p:nvSpPr>
        <p:spPr>
          <a:xfrm>
            <a:off x="508000" y="4089400"/>
            <a:ext cx="8127900" cy="482700"/>
          </a:xfrm>
          <a:prstGeom prst="roundRect">
            <a:avLst>
              <a:gd fmla="val 16667" name="adj"/>
            </a:avLst>
          </a:prstGeom>
          <a:solidFill>
            <a:srgbClr val="F4E6E6"/>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8C1515"/>
                </a:solidFill>
                <a:latin typeface="Calibri"/>
                <a:ea typeface="Calibri"/>
                <a:cs typeface="Calibri"/>
                <a:sym typeface="Calibri"/>
              </a:rPr>
              <a:t>Key idea:  P(E ∪ F) = P(E) + P(F) − P(EF)       P(Eᶜ) = 1 − P(E)</a:t>
            </a:r>
            <a:endParaRPr b="1" sz="1600">
              <a:solidFill>
                <a:srgbClr val="8C1515"/>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60"/>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Quick Practice</a:t>
            </a:r>
            <a:endParaRPr/>
          </a:p>
        </p:txBody>
      </p:sp>
      <p:sp>
        <p:nvSpPr>
          <p:cNvPr id="374" name="Google Shape;374;p60"/>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0" lvl="0" marL="0" rtl="0" algn="l">
              <a:spcBef>
                <a:spcPts val="750"/>
              </a:spcBef>
              <a:spcAft>
                <a:spcPts val="0"/>
              </a:spcAft>
              <a:buNone/>
            </a:pPr>
            <a:r>
              <a:rPr lang="en"/>
              <a:t>What is the probability of rolling at least 1 6 in 4 rolls of a fair dice?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61"/>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Solution</a:t>
            </a:r>
            <a:endParaRPr/>
          </a:p>
        </p:txBody>
      </p:sp>
      <p:sp>
        <p:nvSpPr>
          <p:cNvPr id="380" name="Google Shape;380;p61"/>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0" lvl="0" marL="0" rtl="0" algn="l">
              <a:spcBef>
                <a:spcPts val="750"/>
              </a:spcBef>
              <a:spcAft>
                <a:spcPts val="0"/>
              </a:spcAft>
              <a:buNone/>
            </a:pPr>
            <a:r>
              <a:rPr lang="en" sz="2400"/>
              <a:t> P(at least one 6 in 4 rolls) = 1 − (5/6)⁴ ≈ 0.518</a:t>
            </a:r>
            <a:endParaRPr sz="2400"/>
          </a:p>
          <a:p>
            <a:pPr indent="0" lvl="0" marL="0" rtl="0" algn="l">
              <a:spcBef>
                <a:spcPts val="750"/>
              </a:spcBef>
              <a:spcAft>
                <a:spcPts val="0"/>
              </a:spcAft>
              <a:buNone/>
            </a:pPr>
            <a:r>
              <a:t/>
            </a:r>
            <a:endParaRPr sz="2400"/>
          </a:p>
          <a:p>
            <a:pPr indent="-381000" lvl="0" marL="457200" rtl="0" algn="l">
              <a:spcBef>
                <a:spcPts val="750"/>
              </a:spcBef>
              <a:spcAft>
                <a:spcPts val="0"/>
              </a:spcAft>
              <a:buSzPts val="2400"/>
              <a:buAutoNum type="arabicPeriod"/>
            </a:pPr>
            <a:r>
              <a:rPr lang="en" sz="2400"/>
              <a:t>Find the probability of not rolling a 6 on a single roll</a:t>
            </a:r>
            <a:endParaRPr sz="2400"/>
          </a:p>
          <a:p>
            <a:pPr indent="-381000" lvl="0" marL="457200" rtl="0" algn="l">
              <a:spcBef>
                <a:spcPts val="0"/>
              </a:spcBef>
              <a:spcAft>
                <a:spcPts val="0"/>
              </a:spcAft>
              <a:buSzPts val="2400"/>
              <a:buAutoNum type="arabicPeriod"/>
            </a:pPr>
            <a:r>
              <a:rPr lang="en" sz="2400"/>
              <a:t>Find the probability of not rolling a 6 in all 4 independent rolls</a:t>
            </a:r>
            <a:endParaRPr sz="2400"/>
          </a:p>
          <a:p>
            <a:pPr indent="-381000" lvl="0" marL="457200" rtl="0" algn="l">
              <a:spcBef>
                <a:spcPts val="0"/>
              </a:spcBef>
              <a:spcAft>
                <a:spcPts val="0"/>
              </a:spcAft>
              <a:buSzPts val="2400"/>
              <a:buAutoNum type="arabicPeriod"/>
            </a:pPr>
            <a:r>
              <a:rPr lang="en" sz="2400"/>
              <a:t>Subtract from 1 to find the probability of at least one 6</a:t>
            </a:r>
            <a:endParaRPr sz="24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62"/>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Why is this important?</a:t>
            </a:r>
            <a:endParaRPr/>
          </a:p>
        </p:txBody>
      </p:sp>
      <p:sp>
        <p:nvSpPr>
          <p:cNvPr id="386" name="Google Shape;386;p62"/>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b="1" lang="en"/>
              <a:t>Example: roll a fair 6-sided die.</a:t>
            </a:r>
            <a:endParaRPr/>
          </a:p>
          <a:p>
            <a:pPr indent="0" lvl="0" marL="0" rtl="0" algn="l">
              <a:spcBef>
                <a:spcPts val="750"/>
              </a:spcBef>
              <a:spcAft>
                <a:spcPts val="0"/>
              </a:spcAft>
              <a:buNone/>
            </a:pPr>
            <a:r>
              <a:t/>
            </a:r>
            <a:endParaRPr/>
          </a:p>
          <a:p>
            <a:pPr indent="0" lvl="0" marL="0" rtl="0" algn="l">
              <a:spcBef>
                <a:spcPts val="750"/>
              </a:spcBef>
              <a:spcAft>
                <a:spcPts val="0"/>
              </a:spcAft>
              <a:buNone/>
            </a:pPr>
            <a:r>
              <a:rPr lang="en"/>
              <a:t>S = </a:t>
            </a:r>
            <a:r>
              <a:rPr lang="en"/>
              <a:t>{1,2,3,4,5,6}</a:t>
            </a:r>
            <a:r>
              <a:rPr lang="en"/>
              <a:t>. Let E = {roll a 1} and F = {roll a 6}.</a:t>
            </a:r>
            <a:endParaRPr/>
          </a:p>
          <a:p>
            <a:pPr indent="0" lvl="0" marL="0" rtl="0" algn="l">
              <a:spcBef>
                <a:spcPts val="750"/>
              </a:spcBef>
              <a:spcAft>
                <a:spcPts val="0"/>
              </a:spcAft>
              <a:buNone/>
            </a:pPr>
            <a:r>
              <a:t/>
            </a:r>
            <a:endParaRPr/>
          </a:p>
          <a:p>
            <a:pPr indent="-374650" lvl="0" marL="457200" rtl="0" algn="l">
              <a:spcBef>
                <a:spcPts val="750"/>
              </a:spcBef>
              <a:spcAft>
                <a:spcPts val="0"/>
              </a:spcAft>
              <a:buSzPts val="2300"/>
              <a:buAutoNum type="arabicPeriod"/>
            </a:pPr>
            <a:r>
              <a:rPr lang="en"/>
              <a:t>Probability is between 0 and 1: P(E) = ⅙</a:t>
            </a:r>
            <a:endParaRPr/>
          </a:p>
          <a:p>
            <a:pPr indent="-374650" lvl="0" marL="457200" rtl="0" algn="l">
              <a:spcBef>
                <a:spcPts val="0"/>
              </a:spcBef>
              <a:spcAft>
                <a:spcPts val="0"/>
              </a:spcAft>
              <a:buSzPts val="2300"/>
              <a:buAutoNum type="arabicPeriod"/>
            </a:pPr>
            <a:r>
              <a:rPr lang="en"/>
              <a:t>Something in the sample space </a:t>
            </a:r>
            <a:r>
              <a:rPr lang="en" u="sng"/>
              <a:t>must</a:t>
            </a:r>
            <a:r>
              <a:rPr lang="en"/>
              <a:t> happen: P(S) = 6/6 = 1</a:t>
            </a:r>
            <a:endParaRPr/>
          </a:p>
          <a:p>
            <a:pPr indent="-374650" lvl="0" marL="457200" rtl="0" algn="l">
              <a:spcBef>
                <a:spcPts val="0"/>
              </a:spcBef>
              <a:spcAft>
                <a:spcPts val="0"/>
              </a:spcAft>
              <a:buSzPts val="2300"/>
              <a:buAutoNum type="arabicPeriod"/>
            </a:pPr>
            <a:r>
              <a:rPr lang="en" u="sng"/>
              <a:t>Add mutually exclusive events:</a:t>
            </a:r>
            <a:r>
              <a:rPr lang="en"/>
              <a:t> A roll can’t be both 1 and 6, so </a:t>
            </a:r>
            <a:endParaRPr/>
          </a:p>
          <a:p>
            <a:pPr indent="0" lvl="0" marL="457200" rtl="0" algn="l">
              <a:spcBef>
                <a:spcPts val="750"/>
              </a:spcBef>
              <a:spcAft>
                <a:spcPts val="0"/>
              </a:spcAft>
              <a:buNone/>
            </a:pPr>
            <a:r>
              <a:rPr lang="en"/>
              <a:t>	</a:t>
            </a:r>
            <a:r>
              <a:rPr lang="en"/>
              <a:t>P(E ∪ F) = P(E) + P(F)  = ⅙ + ⅙ = ⅓</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63"/>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Equally Likely Outcomes</a:t>
            </a:r>
            <a:endParaRPr/>
          </a:p>
        </p:txBody>
      </p:sp>
      <p:sp>
        <p:nvSpPr>
          <p:cNvPr id="392" name="Google Shape;392;p63"/>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If every outcome in S is equally likely:   P(E) = |E| / |S|</a:t>
            </a:r>
            <a:endParaRPr sz="1800"/>
          </a:p>
          <a:p>
            <a:pPr indent="0" lvl="0" marL="0" rtl="0" algn="l">
              <a:spcBef>
                <a:spcPts val="750"/>
              </a:spcBef>
              <a:spcAft>
                <a:spcPts val="0"/>
              </a:spcAft>
              <a:buNone/>
            </a:pPr>
            <a:r>
              <a:rPr lang="en" sz="1800"/>
              <a:t>So probability turns into counting: count the event, count the sample space</a:t>
            </a:r>
            <a:endParaRPr sz="1800"/>
          </a:p>
          <a:p>
            <a:pPr indent="0" lvl="0" marL="0" rtl="0" algn="l">
              <a:spcBef>
                <a:spcPts val="750"/>
              </a:spcBef>
              <a:spcAft>
                <a:spcPts val="0"/>
              </a:spcAft>
              <a:buNone/>
            </a:pPr>
            <a:r>
              <a:rPr lang="en" sz="1800"/>
              <a:t>      Die: P(even) = |{2, 4, 6}| / 6 = 1/2</a:t>
            </a:r>
            <a:endParaRPr sz="1800"/>
          </a:p>
          <a:p>
            <a:pPr indent="0" lvl="0" marL="0" rtl="0" algn="l">
              <a:spcBef>
                <a:spcPts val="750"/>
              </a:spcBef>
              <a:spcAft>
                <a:spcPts val="0"/>
              </a:spcAft>
              <a:buNone/>
            </a:pPr>
            <a:r>
              <a:rPr lang="en" sz="1800"/>
              <a:t>      Card: P(heart) = 13/52 = 1/4</a:t>
            </a:r>
            <a:endParaRPr sz="1800"/>
          </a:p>
          <a:p>
            <a:pPr indent="0" lvl="0" marL="0" rtl="0" algn="l">
              <a:spcBef>
                <a:spcPts val="750"/>
              </a:spcBef>
              <a:spcAft>
                <a:spcPts val="0"/>
              </a:spcAft>
              <a:buNone/>
            </a:pPr>
            <a:r>
              <a:rPr lang="en" sz="1800"/>
              <a:t>Count E and S the same way (both ordered or both unordered)</a:t>
            </a:r>
            <a:endParaRPr sz="1800"/>
          </a:p>
          <a:p>
            <a:pPr indent="0" lvl="0" marL="0" rtl="0" algn="l">
              <a:spcBef>
                <a:spcPts val="750"/>
              </a:spcBef>
              <a:spcAft>
                <a:spcPts val="0"/>
              </a:spcAft>
              <a:buNone/>
            </a:pPr>
            <a:r>
              <a:rPr lang="en" sz="1800"/>
              <a:t>Only valid when outcomes really are equally likely (sums of two dice aren’t!)</a:t>
            </a:r>
            <a:endParaRPr sz="1800"/>
          </a:p>
        </p:txBody>
      </p:sp>
      <p:sp>
        <p:nvSpPr>
          <p:cNvPr id="393" name="Google Shape;393;p63"/>
          <p:cNvSpPr/>
          <p:nvPr/>
        </p:nvSpPr>
        <p:spPr>
          <a:xfrm>
            <a:off x="508000" y="4089400"/>
            <a:ext cx="8127900" cy="482700"/>
          </a:xfrm>
          <a:prstGeom prst="roundRect">
            <a:avLst>
              <a:gd fmla="val 16667" name="adj"/>
            </a:avLst>
          </a:prstGeom>
          <a:solidFill>
            <a:srgbClr val="F4E6E6"/>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8C1515"/>
                </a:solidFill>
                <a:latin typeface="Calibri"/>
                <a:ea typeface="Calibri"/>
                <a:cs typeface="Calibri"/>
                <a:sym typeface="Calibri"/>
              </a:rPr>
              <a:t>Key idea:  P(E) = |E| / |S|, but only when every outcome is equally likely/uniform random</a:t>
            </a:r>
            <a:endParaRPr b="1" sz="1600">
              <a:solidFill>
                <a:srgbClr val="8C1515"/>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4"/>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Let’s do it together</a:t>
            </a:r>
            <a:endParaRPr/>
          </a:p>
        </p:txBody>
      </p:sp>
      <p:sp>
        <p:nvSpPr>
          <p:cNvPr id="399" name="Google Shape;399;p64"/>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0" lvl="0" marL="0" rtl="0" algn="l">
              <a:spcBef>
                <a:spcPts val="750"/>
              </a:spcBef>
              <a:spcAft>
                <a:spcPts val="0"/>
              </a:spcAft>
              <a:buNone/>
            </a:pPr>
            <a:r>
              <a:rPr b="1" lang="en"/>
              <a:t>Roll two dice. What outcomes make up ‘sum is 7’? What is its probability?</a:t>
            </a:r>
            <a:endParaRPr b="1"/>
          </a:p>
        </p:txBody>
      </p:sp>
      <p:sp>
        <p:nvSpPr>
          <p:cNvPr id="400" name="Google Shape;400;p64"/>
          <p:cNvSpPr/>
          <p:nvPr/>
        </p:nvSpPr>
        <p:spPr>
          <a:xfrm>
            <a:off x="7696200" y="101600"/>
            <a:ext cx="1219200" cy="279300"/>
          </a:xfrm>
          <a:prstGeom prst="roundRect">
            <a:avLst>
              <a:gd fmla="val 16667" name="adj"/>
            </a:avLst>
          </a:prstGeom>
          <a:solidFill>
            <a:srgbClr val="8C1515"/>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PRACTICE</a:t>
            </a:r>
            <a:endParaRPr b="1" sz="1100">
              <a:solidFill>
                <a:srgbClr val="FFFFFF"/>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5"/>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Sum Is 7: Answer</a:t>
            </a:r>
            <a:endParaRPr/>
          </a:p>
        </p:txBody>
      </p:sp>
      <p:sp>
        <p:nvSpPr>
          <p:cNvPr id="406" name="Google Shape;406;p65"/>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Treat the dice as distinct (die 1, die 2): |S| = 6 · 6 = 36 equally likely outcomes</a:t>
            </a:r>
            <a:endParaRPr sz="1800"/>
          </a:p>
          <a:p>
            <a:pPr indent="0" lvl="0" marL="0" rtl="0" algn="l">
              <a:spcBef>
                <a:spcPts val="750"/>
              </a:spcBef>
              <a:spcAft>
                <a:spcPts val="0"/>
              </a:spcAft>
              <a:buNone/>
            </a:pPr>
            <a:r>
              <a:rPr lang="en" sz="1800"/>
              <a:t>E = {(1,6), (2,5), (3,4), (4,3), (5,2), (6,1)}, so |E| = 6</a:t>
            </a:r>
            <a:endParaRPr sz="1800"/>
          </a:p>
          <a:p>
            <a:pPr indent="0" lvl="0" marL="0" rtl="0" algn="l">
              <a:spcBef>
                <a:spcPts val="750"/>
              </a:spcBef>
              <a:spcAft>
                <a:spcPts val="0"/>
              </a:spcAft>
              <a:buNone/>
            </a:pPr>
            <a:r>
              <a:rPr lang="en" sz="1800"/>
              <a:t>P(E) = |E| / |S| = 6/36 = 1/6</a:t>
            </a:r>
            <a:endParaRPr sz="1800"/>
          </a:p>
          <a:p>
            <a:pPr indent="0" lvl="0" marL="0" rtl="0" algn="l">
              <a:spcBef>
                <a:spcPts val="750"/>
              </a:spcBef>
              <a:spcAft>
                <a:spcPts val="0"/>
              </a:spcAft>
              <a:buNone/>
            </a:pPr>
            <a:r>
              <a:rPr lang="en" sz="1800"/>
              <a:t>Trap: the 11 sums (2 to 12) are NOT equally likely</a:t>
            </a:r>
            <a:endParaRPr sz="1800"/>
          </a:p>
          <a:p>
            <a:pPr indent="0" lvl="0" marL="0" rtl="0" algn="l">
              <a:spcBef>
                <a:spcPts val="750"/>
              </a:spcBef>
              <a:spcAft>
                <a:spcPts val="0"/>
              </a:spcAft>
              <a:buNone/>
            </a:pPr>
            <a:r>
              <a:rPr lang="en" sz="1800"/>
              <a:t>      P(sum = 2) = 1/36, but P(sum = 7) = 6/36</a:t>
            </a:r>
            <a:endParaRPr sz="1800"/>
          </a:p>
        </p:txBody>
      </p:sp>
      <p:sp>
        <p:nvSpPr>
          <p:cNvPr id="407" name="Google Shape;407;p65"/>
          <p:cNvSpPr/>
          <p:nvPr/>
        </p:nvSpPr>
        <p:spPr>
          <a:xfrm>
            <a:off x="7696200" y="101600"/>
            <a:ext cx="1219200" cy="279300"/>
          </a:xfrm>
          <a:prstGeom prst="roundRect">
            <a:avLst>
              <a:gd fmla="val 16667" name="adj"/>
            </a:avLst>
          </a:prstGeom>
          <a:solidFill>
            <a:srgbClr val="175E54"/>
          </a:solidFill>
          <a:ln cap="flat" cmpd="sng" w="9525">
            <a:solidFill>
              <a:srgbClr val="175E5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SOLUTION</a:t>
            </a:r>
            <a:endParaRPr b="1" sz="1100">
              <a:solidFill>
                <a:srgbClr val="FFFFFF"/>
              </a:solidFill>
              <a:latin typeface="Calibri"/>
              <a:ea typeface="Calibri"/>
              <a:cs typeface="Calibri"/>
              <a:sym typeface="Calibri"/>
            </a:endParaRPr>
          </a:p>
        </p:txBody>
      </p:sp>
      <p:sp>
        <p:nvSpPr>
          <p:cNvPr id="408" name="Google Shape;408;p65"/>
          <p:cNvSpPr/>
          <p:nvPr/>
        </p:nvSpPr>
        <p:spPr>
          <a:xfrm>
            <a:off x="508000" y="4089400"/>
            <a:ext cx="8127900" cy="482700"/>
          </a:xfrm>
          <a:prstGeom prst="roundRect">
            <a:avLst>
              <a:gd fmla="val 16667" name="adj"/>
            </a:avLst>
          </a:prstGeom>
          <a:solidFill>
            <a:srgbClr val="FFFFFF"/>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8C1515"/>
                </a:solidFill>
                <a:latin typeface="Calibri"/>
                <a:ea typeface="Calibri"/>
                <a:cs typeface="Calibri"/>
                <a:sym typeface="Calibri"/>
              </a:rPr>
              <a:t>Answer:  P(sum = 7) = 6/36 = 1/6</a:t>
            </a:r>
            <a:endParaRPr b="1" sz="1600">
              <a:solidFill>
                <a:srgbClr val="8C1515"/>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Counting Basics: Sum &amp; Product Rules</a:t>
            </a:r>
            <a:endParaRPr/>
          </a:p>
        </p:txBody>
      </p:sp>
      <p:sp>
        <p:nvSpPr>
          <p:cNvPr id="414" name="Google Shape;414;p66"/>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Product rule: m outcomes </a:t>
            </a:r>
            <a:r>
              <a:rPr lang="en" sz="1800" u="sng"/>
              <a:t>and</a:t>
            </a:r>
            <a:r>
              <a:rPr lang="en" sz="1800"/>
              <a:t> n outcomes for each one → m · n in total</a:t>
            </a:r>
            <a:endParaRPr sz="1800"/>
          </a:p>
          <a:p>
            <a:pPr indent="0" lvl="0" marL="0" rtl="0" algn="l">
              <a:spcBef>
                <a:spcPts val="750"/>
              </a:spcBef>
              <a:spcAft>
                <a:spcPts val="0"/>
              </a:spcAft>
              <a:buNone/>
            </a:pPr>
            <a:r>
              <a:rPr lang="en" sz="1800"/>
              <a:t>      6-digit entry codes: 10 · 10 · 10 · 10 · 10 · 10 = 1,000,000</a:t>
            </a:r>
            <a:endParaRPr sz="1800"/>
          </a:p>
          <a:p>
            <a:pPr indent="0" lvl="0" marL="0" rtl="0" algn="l">
              <a:spcBef>
                <a:spcPts val="750"/>
              </a:spcBef>
              <a:spcAft>
                <a:spcPts val="0"/>
              </a:spcAft>
              <a:buNone/>
            </a:pPr>
            <a:r>
              <a:rPr lang="en" sz="1800"/>
              <a:t>Sum rule: if A and B don’t overlap, |A ∪ B| = |A| + |B|</a:t>
            </a:r>
            <a:endParaRPr sz="1800"/>
          </a:p>
          <a:p>
            <a:pPr indent="0" lvl="0" marL="0" rtl="0" algn="l">
              <a:spcBef>
                <a:spcPts val="750"/>
              </a:spcBef>
              <a:spcAft>
                <a:spcPts val="0"/>
              </a:spcAft>
              <a:buNone/>
            </a:pPr>
            <a:r>
              <a:rPr lang="en" sz="1800"/>
              <a:t>Inclusion–exclusion: |A ∪ B| = |A| + |B| − |A ∩ B|</a:t>
            </a:r>
            <a:endParaRPr sz="1800"/>
          </a:p>
          <a:p>
            <a:pPr indent="0" lvl="0" marL="0" rtl="0" algn="l">
              <a:spcBef>
                <a:spcPts val="750"/>
              </a:spcBef>
              <a:spcAft>
                <a:spcPts val="0"/>
              </a:spcAft>
              <a:buNone/>
            </a:pPr>
            <a:r>
              <a:rPr lang="en" sz="1800"/>
              <a:t>      6 paths through Kilimanjaro, 8 through Mombasa, 2 through both</a:t>
            </a:r>
            <a:endParaRPr sz="1800"/>
          </a:p>
          <a:p>
            <a:pPr indent="0" lvl="0" marL="0" rtl="0" algn="l">
              <a:spcBef>
                <a:spcPts val="750"/>
              </a:spcBef>
              <a:spcAft>
                <a:spcPts val="0"/>
              </a:spcAft>
              <a:buNone/>
            </a:pPr>
            <a:r>
              <a:rPr lang="en" sz="1800"/>
              <a:t>      → 6 + 8 − 2 = 12 paths</a:t>
            </a:r>
            <a:endParaRPr sz="18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67"/>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Counting Basics: Order Matters?</a:t>
            </a:r>
            <a:endParaRPr/>
          </a:p>
        </p:txBody>
      </p:sp>
      <p:sp>
        <p:nvSpPr>
          <p:cNvPr id="420" name="Google Shape;420;p67"/>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b="1" lang="en" sz="1800"/>
              <a:t>Does order matter? Are the objects distinct?</a:t>
            </a:r>
            <a:endParaRPr b="1" sz="1800"/>
          </a:p>
          <a:p>
            <a:pPr indent="0" lvl="0" marL="0" rtl="0" algn="l">
              <a:spcBef>
                <a:spcPts val="750"/>
              </a:spcBef>
              <a:spcAft>
                <a:spcPts val="0"/>
              </a:spcAft>
              <a:buNone/>
            </a:pPr>
            <a:r>
              <a:rPr lang="en" sz="1800"/>
              <a:t>Arrange n distinct objects in a row: n!</a:t>
            </a:r>
            <a:endParaRPr sz="1800"/>
          </a:p>
          <a:p>
            <a:pPr indent="0" lvl="0" marL="0" rtl="0" algn="l">
              <a:spcBef>
                <a:spcPts val="750"/>
              </a:spcBef>
              <a:spcAft>
                <a:spcPts val="0"/>
              </a:spcAft>
              <a:buNone/>
            </a:pPr>
            <a:r>
              <a:rPr lang="en" sz="1800"/>
              <a:t>Ordered picks of k from n (permutations): n! / (n − k)!</a:t>
            </a:r>
            <a:endParaRPr sz="1800"/>
          </a:p>
          <a:p>
            <a:pPr indent="0" lvl="0" marL="0" rtl="0" algn="l">
              <a:spcBef>
                <a:spcPts val="750"/>
              </a:spcBef>
              <a:spcAft>
                <a:spcPts val="0"/>
              </a:spcAft>
              <a:buNone/>
            </a:pPr>
            <a:r>
              <a:rPr lang="en" sz="1800"/>
              <a:t>Unordered picks of k from n (combinations): C(n, k) = n! / (k! (n − k)!)</a:t>
            </a:r>
            <a:endParaRPr sz="1800"/>
          </a:p>
          <a:p>
            <a:pPr indent="0" lvl="0" marL="0" rtl="0" algn="l">
              <a:spcBef>
                <a:spcPts val="750"/>
              </a:spcBef>
              <a:spcAft>
                <a:spcPts val="0"/>
              </a:spcAft>
              <a:buNone/>
            </a:pPr>
            <a:r>
              <a:rPr lang="en" sz="1800"/>
              <a:t>      3 of 4 distinct marbles: ordered 4 · 3 · 2 = 24; unordered 24 / 3! = 4</a:t>
            </a:r>
            <a:endParaRPr sz="1800"/>
          </a:p>
          <a:p>
            <a:pPr indent="0" lvl="0" marL="0" rtl="0" algn="l">
              <a:spcBef>
                <a:spcPts val="750"/>
              </a:spcBef>
              <a:spcAft>
                <a:spcPts val="0"/>
              </a:spcAft>
              <a:buNone/>
            </a:pPr>
            <a:r>
              <a:rPr lang="en" sz="1800"/>
              <a:t>Identical objects: divide out the repeats</a:t>
            </a:r>
            <a:endParaRPr sz="1800"/>
          </a:p>
          <a:p>
            <a:pPr indent="0" lvl="0" marL="0" rtl="0" algn="l">
              <a:spcBef>
                <a:spcPts val="750"/>
              </a:spcBef>
              <a:spcAft>
                <a:spcPts val="0"/>
              </a:spcAft>
              <a:buNone/>
            </a:pPr>
            <a:r>
              <a:rPr lang="en" sz="1800"/>
              <a:t>      BASKETBALL: 10! / (2! 2! 2!) = 453,600</a:t>
            </a:r>
            <a:endParaRPr sz="1800"/>
          </a:p>
        </p:txBody>
      </p:sp>
      <p:sp>
        <p:nvSpPr>
          <p:cNvPr id="421" name="Google Shape;421;p67"/>
          <p:cNvSpPr/>
          <p:nvPr/>
        </p:nvSpPr>
        <p:spPr>
          <a:xfrm>
            <a:off x="508000" y="4089400"/>
            <a:ext cx="8127900" cy="482700"/>
          </a:xfrm>
          <a:prstGeom prst="roundRect">
            <a:avLst>
              <a:gd fmla="val 16667" name="adj"/>
            </a:avLst>
          </a:prstGeom>
          <a:solidFill>
            <a:srgbClr val="F4E6E6"/>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8C1515"/>
                </a:solidFill>
                <a:latin typeface="Calibri"/>
                <a:ea typeface="Calibri"/>
                <a:cs typeface="Calibri"/>
                <a:sym typeface="Calibri"/>
              </a:rPr>
              <a:t>Key idea:  order matters → n! / (n − k)!      order doesn’t → C(n, k) = n! / (k! (n − k)!)</a:t>
            </a:r>
            <a:endParaRPr b="1" sz="1600">
              <a:solidFill>
                <a:srgbClr val="8C1515"/>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68"/>
          <p:cNvSpPr txBox="1"/>
          <p:nvPr>
            <p:ph type="ctrTitle"/>
          </p:nvPr>
        </p:nvSpPr>
        <p:spPr>
          <a:xfrm>
            <a:off x="1004150" y="1751764"/>
            <a:ext cx="7136700" cy="1022400"/>
          </a:xfrm>
          <a:prstGeom prst="rect">
            <a:avLst/>
          </a:prstGeom>
        </p:spPr>
        <p:txBody>
          <a:bodyPr anchorCtr="0" anchor="b" bIns="45700" lIns="0" spcFirstLastPara="1" rIns="0" wrap="square" tIns="45700">
            <a:normAutofit/>
          </a:bodyPr>
          <a:lstStyle/>
          <a:p>
            <a:pPr indent="0" lvl="0" marL="0" rtl="0" algn="ctr">
              <a:spcBef>
                <a:spcPts val="0"/>
              </a:spcBef>
              <a:spcAft>
                <a:spcPts val="0"/>
              </a:spcAft>
              <a:buNone/>
            </a:pPr>
            <a:r>
              <a:rPr lang="en"/>
              <a:t>Conditional Probability</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69"/>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Conditional Probability</a:t>
            </a:r>
            <a:endParaRPr/>
          </a:p>
        </p:txBody>
      </p:sp>
      <p:sp>
        <p:nvSpPr>
          <p:cNvPr id="432" name="Google Shape;432;p69"/>
          <p:cNvSpPr txBox="1"/>
          <p:nvPr>
            <p:ph idx="1" type="body"/>
          </p:nvPr>
        </p:nvSpPr>
        <p:spPr>
          <a:xfrm>
            <a:off x="407965" y="1334748"/>
            <a:ext cx="8503800" cy="3432600"/>
          </a:xfrm>
          <a:prstGeom prst="rect">
            <a:avLst/>
          </a:prstGeom>
          <a:solidFill>
            <a:srgbClr val="000000">
              <a:alpha val="0"/>
            </a:srgbClr>
          </a:solidFill>
          <a:ln>
            <a:noFill/>
          </a:ln>
        </p:spPr>
        <p:txBody>
          <a:bodyPr anchorCtr="0" anchor="t" bIns="45700" lIns="0" spcFirstLastPara="1" rIns="0" wrap="square" tIns="45700">
            <a:normAutofit/>
          </a:bodyPr>
          <a:lstStyle/>
          <a:p>
            <a:pPr indent="0" lvl="0" marL="0" rtl="0" algn="l">
              <a:spcBef>
                <a:spcPts val="750"/>
              </a:spcBef>
              <a:spcAft>
                <a:spcPts val="0"/>
              </a:spcAft>
              <a:buNone/>
            </a:pPr>
            <a:r>
              <a:rPr b="1" lang="en" sz="2100">
                <a:solidFill>
                  <a:srgbClr val="2E2C28"/>
                </a:solidFill>
                <a:latin typeface="Calibri"/>
                <a:ea typeface="Calibri"/>
                <a:cs typeface="Calibri"/>
                <a:sym typeface="Calibri"/>
              </a:rPr>
              <a:t>Def.</a:t>
            </a:r>
            <a:r>
              <a:rPr b="0" lang="en" sz="2100">
                <a:solidFill>
                  <a:srgbClr val="2E2C28"/>
                </a:solidFill>
                <a:latin typeface="Calibri"/>
                <a:ea typeface="Calibri"/>
                <a:cs typeface="Calibri"/>
                <a:sym typeface="Calibri"/>
              </a:rPr>
              <a:t> The </a:t>
            </a:r>
            <a:r>
              <a:rPr b="0" lang="en" sz="2100" u="sng">
                <a:solidFill>
                  <a:srgbClr val="2E2C28"/>
                </a:solidFill>
                <a:latin typeface="Calibri"/>
                <a:ea typeface="Calibri"/>
                <a:cs typeface="Calibri"/>
                <a:sym typeface="Calibri"/>
              </a:rPr>
              <a:t>conditional probability</a:t>
            </a:r>
            <a:r>
              <a:rPr b="0" lang="en" sz="2100">
                <a:solidFill>
                  <a:srgbClr val="2E2C28"/>
                </a:solidFill>
                <a:latin typeface="Calibri"/>
                <a:ea typeface="Calibri"/>
                <a:cs typeface="Calibri"/>
                <a:sym typeface="Calibri"/>
              </a:rPr>
              <a:t> of </a:t>
            </a:r>
            <a:r>
              <a:rPr b="0" i="1" lang="en" sz="2100">
                <a:solidFill>
                  <a:srgbClr val="2E2C28"/>
                </a:solidFill>
                <a:latin typeface="Calibri"/>
                <a:ea typeface="Calibri"/>
                <a:cs typeface="Calibri"/>
                <a:sym typeface="Calibri"/>
              </a:rPr>
              <a:t>E</a:t>
            </a:r>
            <a:r>
              <a:rPr b="0" lang="en" sz="2100">
                <a:solidFill>
                  <a:srgbClr val="2E2C28"/>
                </a:solidFill>
                <a:latin typeface="Calibri"/>
                <a:ea typeface="Calibri"/>
                <a:cs typeface="Calibri"/>
                <a:sym typeface="Calibri"/>
              </a:rPr>
              <a:t> given </a:t>
            </a:r>
            <a:r>
              <a:rPr b="0" i="1" lang="en" sz="2100">
                <a:solidFill>
                  <a:srgbClr val="2E2C28"/>
                </a:solidFill>
                <a:latin typeface="Calibri"/>
                <a:ea typeface="Calibri"/>
                <a:cs typeface="Calibri"/>
                <a:sym typeface="Calibri"/>
              </a:rPr>
              <a:t>F</a:t>
            </a:r>
            <a:r>
              <a:rPr b="0" lang="en" sz="2100">
                <a:solidFill>
                  <a:srgbClr val="2E2C28"/>
                </a:solidFill>
                <a:latin typeface="Calibri"/>
                <a:ea typeface="Calibri"/>
                <a:cs typeface="Calibri"/>
                <a:sym typeface="Calibri"/>
              </a:rPr>
              <a:t> is the probability </a:t>
            </a:r>
            <a:r>
              <a:rPr b="0" i="1" lang="en" sz="2100">
                <a:solidFill>
                  <a:srgbClr val="2E2C28"/>
                </a:solidFill>
                <a:latin typeface="Calibri"/>
                <a:ea typeface="Calibri"/>
                <a:cs typeface="Calibri"/>
                <a:sym typeface="Calibri"/>
              </a:rPr>
              <a:t>E</a:t>
            </a:r>
            <a:r>
              <a:rPr b="0" lang="en" sz="2100">
                <a:solidFill>
                  <a:srgbClr val="2E2C28"/>
                </a:solidFill>
                <a:latin typeface="Calibri"/>
                <a:ea typeface="Calibri"/>
                <a:cs typeface="Calibri"/>
                <a:sym typeface="Calibri"/>
              </a:rPr>
              <a:t> occurs </a:t>
            </a:r>
            <a:r>
              <a:rPr b="0" lang="en" sz="2100" u="sng">
                <a:solidFill>
                  <a:srgbClr val="2E2C28"/>
                </a:solidFill>
                <a:latin typeface="Calibri"/>
                <a:ea typeface="Calibri"/>
                <a:cs typeface="Calibri"/>
                <a:sym typeface="Calibri"/>
              </a:rPr>
              <a:t>given that </a:t>
            </a:r>
            <a:r>
              <a:rPr b="0" i="1" lang="en" sz="2100" u="sng">
                <a:solidFill>
                  <a:srgbClr val="2E2C28"/>
                </a:solidFill>
                <a:latin typeface="Calibri"/>
                <a:ea typeface="Calibri"/>
                <a:cs typeface="Calibri"/>
                <a:sym typeface="Calibri"/>
              </a:rPr>
              <a:t>F</a:t>
            </a:r>
            <a:r>
              <a:rPr b="0" lang="en" sz="2100" u="sng">
                <a:solidFill>
                  <a:srgbClr val="2E2C28"/>
                </a:solidFill>
                <a:latin typeface="Calibri"/>
                <a:ea typeface="Calibri"/>
                <a:cs typeface="Calibri"/>
                <a:sym typeface="Calibri"/>
              </a:rPr>
              <a:t> already occurred</a:t>
            </a:r>
            <a:r>
              <a:rPr b="0" lang="en" sz="2100">
                <a:solidFill>
                  <a:srgbClr val="2E2C28"/>
                </a:solidFill>
                <a:latin typeface="Calibri"/>
                <a:ea typeface="Calibri"/>
                <a:cs typeface="Calibri"/>
                <a:sym typeface="Calibri"/>
              </a:rPr>
              <a:t>. Sometimes this is also “conditioning on </a:t>
            </a:r>
            <a:r>
              <a:rPr b="0" i="1" lang="en" sz="2100">
                <a:solidFill>
                  <a:srgbClr val="2E2C28"/>
                </a:solidFill>
                <a:latin typeface="Calibri"/>
                <a:ea typeface="Calibri"/>
                <a:cs typeface="Calibri"/>
                <a:sym typeface="Calibri"/>
              </a:rPr>
              <a:t>F</a:t>
            </a:r>
            <a:r>
              <a:rPr b="0" lang="en" sz="2100">
                <a:solidFill>
                  <a:srgbClr val="2E2C28"/>
                </a:solidFill>
                <a:latin typeface="Calibri"/>
                <a:ea typeface="Calibri"/>
                <a:cs typeface="Calibri"/>
                <a:sym typeface="Calibri"/>
              </a:rPr>
              <a:t>.”</a:t>
            </a:r>
            <a:endParaRPr b="0" sz="2100">
              <a:solidFill>
                <a:srgbClr val="2E2C28"/>
              </a:solidFill>
              <a:latin typeface="Calibri"/>
              <a:ea typeface="Calibri"/>
              <a:cs typeface="Calibri"/>
              <a:sym typeface="Calibri"/>
            </a:endParaRPr>
          </a:p>
          <a:p>
            <a:pPr indent="0" lvl="0" marL="0" rtl="0" algn="l">
              <a:spcBef>
                <a:spcPts val="2000"/>
              </a:spcBef>
              <a:spcAft>
                <a:spcPts val="0"/>
              </a:spcAft>
              <a:buNone/>
            </a:pPr>
            <a:r>
              <a:rPr b="1" i="1" lang="en" sz="2400">
                <a:solidFill>
                  <a:srgbClr val="8C1515"/>
                </a:solidFill>
                <a:latin typeface="Georgia"/>
                <a:ea typeface="Georgia"/>
                <a:cs typeface="Georgia"/>
                <a:sym typeface="Georgia"/>
              </a:rPr>
              <a:t>P</a:t>
            </a:r>
            <a:r>
              <a:rPr b="1" lang="en" sz="2400">
                <a:solidFill>
                  <a:srgbClr val="8C1515"/>
                </a:solidFill>
                <a:latin typeface="Georgia"/>
                <a:ea typeface="Georgia"/>
                <a:cs typeface="Georgia"/>
                <a:sym typeface="Georgia"/>
              </a:rPr>
              <a:t>(</a:t>
            </a:r>
            <a:r>
              <a:rPr b="1" i="1" lang="en" sz="2400">
                <a:solidFill>
                  <a:srgbClr val="8C1515"/>
                </a:solidFill>
                <a:latin typeface="Georgia"/>
                <a:ea typeface="Georgia"/>
                <a:cs typeface="Georgia"/>
                <a:sym typeface="Georgia"/>
              </a:rPr>
              <a:t>E</a:t>
            </a:r>
            <a:r>
              <a:rPr b="1" lang="en" sz="2400">
                <a:solidFill>
                  <a:srgbClr val="8C1515"/>
                </a:solidFill>
                <a:latin typeface="Georgia"/>
                <a:ea typeface="Georgia"/>
                <a:cs typeface="Georgia"/>
                <a:sym typeface="Georgia"/>
              </a:rPr>
              <a:t> | </a:t>
            </a:r>
            <a:r>
              <a:rPr b="1" i="1" lang="en" sz="2400">
                <a:solidFill>
                  <a:srgbClr val="8C1515"/>
                </a:solidFill>
                <a:latin typeface="Georgia"/>
                <a:ea typeface="Georgia"/>
                <a:cs typeface="Georgia"/>
                <a:sym typeface="Georgia"/>
              </a:rPr>
              <a:t>F</a:t>
            </a:r>
            <a:r>
              <a:rPr b="1" lang="en" sz="2400">
                <a:solidFill>
                  <a:srgbClr val="8C1515"/>
                </a:solidFill>
                <a:latin typeface="Georgia"/>
                <a:ea typeface="Georgia"/>
                <a:cs typeface="Georgia"/>
                <a:sym typeface="Georgia"/>
              </a:rPr>
              <a:t>) =</a:t>
            </a:r>
            <a:endParaRPr b="1" sz="2400">
              <a:solidFill>
                <a:srgbClr val="8C1515"/>
              </a:solidFill>
              <a:latin typeface="Georgia"/>
              <a:ea typeface="Georgia"/>
              <a:cs typeface="Georgia"/>
              <a:sym typeface="Georgia"/>
            </a:endParaRPr>
          </a:p>
          <a:p>
            <a:pPr indent="0" lvl="0" marL="342900" marR="0" rtl="0" algn="l">
              <a:spcBef>
                <a:spcPts val="1200"/>
              </a:spcBef>
              <a:spcAft>
                <a:spcPts val="0"/>
              </a:spcAft>
              <a:buNone/>
            </a:pPr>
            <a:r>
              <a:rPr b="0" lang="en" sz="2000">
                <a:solidFill>
                  <a:srgbClr val="2E2C28"/>
                </a:solidFill>
                <a:latin typeface="Calibri"/>
                <a:ea typeface="Calibri"/>
                <a:cs typeface="Calibri"/>
                <a:sym typeface="Calibri"/>
              </a:rPr>
              <a:t>=  </a:t>
            </a:r>
            <a:r>
              <a:rPr b="0" lang="en" sz="1800">
                <a:solidFill>
                  <a:srgbClr val="555555"/>
                </a:solidFill>
                <a:latin typeface="Calibri"/>
                <a:ea typeface="Calibri"/>
                <a:cs typeface="Calibri"/>
                <a:sym typeface="Calibri"/>
              </a:rPr>
              <a:t>(# outcomes in </a:t>
            </a:r>
            <a:r>
              <a:rPr b="0" i="1" lang="en" sz="1800">
                <a:solidFill>
                  <a:srgbClr val="555555"/>
                </a:solidFill>
                <a:latin typeface="Calibri"/>
                <a:ea typeface="Calibri"/>
                <a:cs typeface="Calibri"/>
                <a:sym typeface="Calibri"/>
              </a:rPr>
              <a:t>E</a:t>
            </a:r>
            <a:r>
              <a:rPr b="0" lang="en" sz="1800">
                <a:solidFill>
                  <a:srgbClr val="555555"/>
                </a:solidFill>
                <a:latin typeface="Calibri"/>
                <a:ea typeface="Calibri"/>
                <a:cs typeface="Calibri"/>
                <a:sym typeface="Calibri"/>
              </a:rPr>
              <a:t> consistent with </a:t>
            </a:r>
            <a:r>
              <a:rPr b="0" i="1" lang="en" sz="1800">
                <a:solidFill>
                  <a:srgbClr val="555555"/>
                </a:solidFill>
                <a:latin typeface="Calibri"/>
                <a:ea typeface="Calibri"/>
                <a:cs typeface="Calibri"/>
                <a:sym typeface="Calibri"/>
              </a:rPr>
              <a:t>F</a:t>
            </a:r>
            <a:r>
              <a:rPr b="0" lang="en" sz="1800">
                <a:solidFill>
                  <a:srgbClr val="555555"/>
                </a:solidFill>
                <a:latin typeface="Calibri"/>
                <a:ea typeface="Calibri"/>
                <a:cs typeface="Calibri"/>
                <a:sym typeface="Calibri"/>
              </a:rPr>
              <a:t>)</a:t>
            </a:r>
            <a:r>
              <a:rPr b="0" lang="en" sz="2000">
                <a:solidFill>
                  <a:srgbClr val="2E2C28"/>
                </a:solidFill>
                <a:latin typeface="Calibri"/>
                <a:ea typeface="Calibri"/>
                <a:cs typeface="Calibri"/>
                <a:sym typeface="Calibri"/>
              </a:rPr>
              <a:t> / </a:t>
            </a:r>
            <a:r>
              <a:rPr b="0" lang="en" sz="1800">
                <a:solidFill>
                  <a:srgbClr val="555555"/>
                </a:solidFill>
                <a:latin typeface="Calibri"/>
                <a:ea typeface="Calibri"/>
                <a:cs typeface="Calibri"/>
                <a:sym typeface="Calibri"/>
              </a:rPr>
              <a:t>(# outcomes in </a:t>
            </a:r>
            <a:r>
              <a:rPr b="0" i="1" lang="en" sz="1800">
                <a:solidFill>
                  <a:srgbClr val="555555"/>
                </a:solidFill>
                <a:latin typeface="Calibri"/>
                <a:ea typeface="Calibri"/>
                <a:cs typeface="Calibri"/>
                <a:sym typeface="Calibri"/>
              </a:rPr>
              <a:t>S</a:t>
            </a:r>
            <a:r>
              <a:rPr b="0" lang="en" sz="1800">
                <a:solidFill>
                  <a:srgbClr val="555555"/>
                </a:solidFill>
                <a:latin typeface="Calibri"/>
                <a:ea typeface="Calibri"/>
                <a:cs typeface="Calibri"/>
                <a:sym typeface="Calibri"/>
              </a:rPr>
              <a:t> consistent with </a:t>
            </a:r>
            <a:r>
              <a:rPr b="0" i="1" lang="en" sz="1800">
                <a:solidFill>
                  <a:srgbClr val="555555"/>
                </a:solidFill>
                <a:latin typeface="Calibri"/>
                <a:ea typeface="Calibri"/>
                <a:cs typeface="Calibri"/>
                <a:sym typeface="Calibri"/>
              </a:rPr>
              <a:t>F</a:t>
            </a:r>
            <a:r>
              <a:rPr b="0" lang="en" sz="1800">
                <a:solidFill>
                  <a:srgbClr val="555555"/>
                </a:solidFill>
                <a:latin typeface="Calibri"/>
                <a:ea typeface="Calibri"/>
                <a:cs typeface="Calibri"/>
                <a:sym typeface="Calibri"/>
              </a:rPr>
              <a:t>)</a:t>
            </a:r>
            <a:endParaRPr b="0" sz="2000">
              <a:solidFill>
                <a:srgbClr val="2E2C28"/>
              </a:solidFill>
              <a:latin typeface="Calibri"/>
              <a:ea typeface="Calibri"/>
              <a:cs typeface="Calibri"/>
              <a:sym typeface="Calibri"/>
            </a:endParaRPr>
          </a:p>
          <a:p>
            <a:pPr indent="0" lvl="0" marL="342900" marR="0" rtl="0" algn="l">
              <a:spcBef>
                <a:spcPts val="1000"/>
              </a:spcBef>
              <a:spcAft>
                <a:spcPts val="0"/>
              </a:spcAft>
              <a:buNone/>
            </a:pPr>
            <a:r>
              <a:rPr b="0" lang="en" sz="2200">
                <a:solidFill>
                  <a:srgbClr val="2E2C28"/>
                </a:solidFill>
                <a:latin typeface="Calibri"/>
                <a:ea typeface="Calibri"/>
                <a:cs typeface="Calibri"/>
                <a:sym typeface="Calibri"/>
              </a:rPr>
              <a:t>=  |</a:t>
            </a:r>
            <a:r>
              <a:rPr b="0" i="1" lang="en" sz="2200">
                <a:solidFill>
                  <a:srgbClr val="2E2C28"/>
                </a:solidFill>
                <a:latin typeface="Calibri"/>
                <a:ea typeface="Calibri"/>
                <a:cs typeface="Calibri"/>
                <a:sym typeface="Calibri"/>
              </a:rPr>
              <a:t>E</a:t>
            </a:r>
            <a:r>
              <a:rPr b="0" lang="en" sz="2200">
                <a:solidFill>
                  <a:srgbClr val="2E2C28"/>
                </a:solidFill>
                <a:latin typeface="Calibri"/>
                <a:ea typeface="Calibri"/>
                <a:cs typeface="Calibri"/>
                <a:sym typeface="Calibri"/>
              </a:rPr>
              <a:t> ∩ </a:t>
            </a:r>
            <a:r>
              <a:rPr b="0" i="1" lang="en" sz="2200">
                <a:solidFill>
                  <a:srgbClr val="2E2C28"/>
                </a:solidFill>
                <a:latin typeface="Calibri"/>
                <a:ea typeface="Calibri"/>
                <a:cs typeface="Calibri"/>
                <a:sym typeface="Calibri"/>
              </a:rPr>
              <a:t>F</a:t>
            </a:r>
            <a:r>
              <a:rPr b="0" lang="en" sz="2200">
                <a:solidFill>
                  <a:srgbClr val="2E2C28"/>
                </a:solidFill>
                <a:latin typeface="Calibri"/>
                <a:ea typeface="Calibri"/>
                <a:cs typeface="Calibri"/>
                <a:sym typeface="Calibri"/>
              </a:rPr>
              <a:t>| / |</a:t>
            </a:r>
            <a:r>
              <a:rPr b="0" i="1" lang="en" sz="2200">
                <a:solidFill>
                  <a:srgbClr val="2E2C28"/>
                </a:solidFill>
                <a:latin typeface="Calibri"/>
                <a:ea typeface="Calibri"/>
                <a:cs typeface="Calibri"/>
                <a:sym typeface="Calibri"/>
              </a:rPr>
              <a:t>S</a:t>
            </a:r>
            <a:r>
              <a:rPr b="0" lang="en" sz="2200">
                <a:solidFill>
                  <a:srgbClr val="2E2C28"/>
                </a:solidFill>
                <a:latin typeface="Calibri"/>
                <a:ea typeface="Calibri"/>
                <a:cs typeface="Calibri"/>
                <a:sym typeface="Calibri"/>
              </a:rPr>
              <a:t> ∩ </a:t>
            </a:r>
            <a:r>
              <a:rPr b="0" i="1" lang="en" sz="2200">
                <a:solidFill>
                  <a:srgbClr val="2E2C28"/>
                </a:solidFill>
                <a:latin typeface="Calibri"/>
                <a:ea typeface="Calibri"/>
                <a:cs typeface="Calibri"/>
                <a:sym typeface="Calibri"/>
              </a:rPr>
              <a:t>F</a:t>
            </a:r>
            <a:r>
              <a:rPr b="0" lang="en" sz="2200">
                <a:solidFill>
                  <a:srgbClr val="2E2C28"/>
                </a:solidFill>
                <a:latin typeface="Calibri"/>
                <a:ea typeface="Calibri"/>
                <a:cs typeface="Calibri"/>
                <a:sym typeface="Calibri"/>
              </a:rPr>
              <a:t>|</a:t>
            </a:r>
            <a:endParaRPr b="0" sz="2200">
              <a:solidFill>
                <a:srgbClr val="2E2C28"/>
              </a:solidFill>
              <a:latin typeface="Calibri"/>
              <a:ea typeface="Calibri"/>
              <a:cs typeface="Calibri"/>
              <a:sym typeface="Calibri"/>
            </a:endParaRPr>
          </a:p>
          <a:p>
            <a:pPr indent="0" lvl="0" marL="342900" marR="0" rtl="0" algn="l">
              <a:spcBef>
                <a:spcPts val="1000"/>
              </a:spcBef>
              <a:spcAft>
                <a:spcPts val="0"/>
              </a:spcAft>
              <a:buNone/>
            </a:pPr>
            <a:r>
              <a:rPr b="1" lang="en" sz="2400">
                <a:solidFill>
                  <a:srgbClr val="8C1515"/>
                </a:solidFill>
                <a:latin typeface="Calibri"/>
                <a:ea typeface="Calibri"/>
                <a:cs typeface="Calibri"/>
                <a:sym typeface="Calibri"/>
              </a:rPr>
              <a:t>=  |</a:t>
            </a:r>
            <a:r>
              <a:rPr b="1" i="1" lang="en" sz="2400">
                <a:solidFill>
                  <a:srgbClr val="8C1515"/>
                </a:solidFill>
                <a:latin typeface="Calibri"/>
                <a:ea typeface="Calibri"/>
                <a:cs typeface="Calibri"/>
                <a:sym typeface="Calibri"/>
              </a:rPr>
              <a:t>E</a:t>
            </a:r>
            <a:r>
              <a:rPr b="1" lang="en" sz="2400">
                <a:solidFill>
                  <a:srgbClr val="8C1515"/>
                </a:solidFill>
                <a:latin typeface="Calibri"/>
                <a:ea typeface="Calibri"/>
                <a:cs typeface="Calibri"/>
                <a:sym typeface="Calibri"/>
              </a:rPr>
              <a:t> ∩ </a:t>
            </a:r>
            <a:r>
              <a:rPr b="1" i="1" lang="en" sz="2400">
                <a:solidFill>
                  <a:srgbClr val="8C1515"/>
                </a:solidFill>
                <a:latin typeface="Calibri"/>
                <a:ea typeface="Calibri"/>
                <a:cs typeface="Calibri"/>
                <a:sym typeface="Calibri"/>
              </a:rPr>
              <a:t>F</a:t>
            </a:r>
            <a:r>
              <a:rPr b="1" lang="en" sz="2400">
                <a:solidFill>
                  <a:srgbClr val="8C1515"/>
                </a:solidFill>
                <a:latin typeface="Calibri"/>
                <a:ea typeface="Calibri"/>
                <a:cs typeface="Calibri"/>
                <a:sym typeface="Calibri"/>
              </a:rPr>
              <a:t>| / |</a:t>
            </a:r>
            <a:r>
              <a:rPr b="1" i="1" lang="en" sz="2400">
                <a:solidFill>
                  <a:srgbClr val="8C1515"/>
                </a:solidFill>
                <a:latin typeface="Calibri"/>
                <a:ea typeface="Calibri"/>
                <a:cs typeface="Calibri"/>
                <a:sym typeface="Calibri"/>
              </a:rPr>
              <a:t>F</a:t>
            </a:r>
            <a:r>
              <a:rPr b="1" lang="en" sz="2400">
                <a:solidFill>
                  <a:srgbClr val="8C1515"/>
                </a:solidFill>
                <a:latin typeface="Calibri"/>
                <a:ea typeface="Calibri"/>
                <a:cs typeface="Calibri"/>
                <a:sym typeface="Calibri"/>
              </a:rPr>
              <a:t>|</a:t>
            </a:r>
            <a:endParaRPr b="1" sz="2400">
              <a:solidFill>
                <a:srgbClr val="8C1515"/>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70"/>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Conditional Probability: Intuition</a:t>
            </a:r>
            <a:endParaRPr/>
          </a:p>
        </p:txBody>
      </p:sp>
      <p:sp>
        <p:nvSpPr>
          <p:cNvPr id="438" name="Google Shape;438;p70"/>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Conditioning on F shrinks the sample space down to F</a:t>
            </a:r>
            <a:endParaRPr sz="1800"/>
          </a:p>
          <a:p>
            <a:pPr indent="0" lvl="0" marL="0" rtl="0" algn="l">
              <a:spcBef>
                <a:spcPts val="750"/>
              </a:spcBef>
              <a:spcAft>
                <a:spcPts val="0"/>
              </a:spcAft>
              <a:buNone/>
            </a:pPr>
            <a:r>
              <a:rPr lang="en" sz="1800"/>
              <a:t>P(E | F) = P(E F) / P(F)      (only defined when P(F) &gt; 0)</a:t>
            </a:r>
            <a:endParaRPr sz="1800"/>
          </a:p>
          <a:p>
            <a:pPr indent="0" lvl="0" marL="0" rtl="0" algn="l">
              <a:spcBef>
                <a:spcPts val="750"/>
              </a:spcBef>
              <a:spcAft>
                <a:spcPts val="0"/>
              </a:spcAft>
              <a:buNone/>
            </a:pPr>
            <a:r>
              <a:t/>
            </a:r>
            <a:endParaRPr sz="1800"/>
          </a:p>
          <a:p>
            <a:pPr indent="0" lvl="0" marL="0" rtl="0" algn="l">
              <a:spcBef>
                <a:spcPts val="750"/>
              </a:spcBef>
              <a:spcAft>
                <a:spcPts val="0"/>
              </a:spcAft>
              <a:buNone/>
            </a:pPr>
            <a:r>
              <a:rPr lang="en" sz="1800"/>
              <a:t>Two dice: E = sum is 4, F = first die is 2</a:t>
            </a:r>
            <a:endParaRPr sz="1800"/>
          </a:p>
          <a:p>
            <a:pPr indent="0" lvl="0" marL="0" rtl="0" algn="l">
              <a:spcBef>
                <a:spcPts val="750"/>
              </a:spcBef>
              <a:spcAft>
                <a:spcPts val="0"/>
              </a:spcAft>
              <a:buNone/>
            </a:pPr>
            <a:r>
              <a:rPr lang="en" sz="1800"/>
              <a:t>      P(E) = 3/36 = 1/12, but P(E | F) = 1/6: only (2,2) of F’s 6 outcomes</a:t>
            </a:r>
            <a:endParaRPr sz="1800"/>
          </a:p>
          <a:p>
            <a:pPr indent="0" lvl="0" marL="0" rtl="0" algn="l">
              <a:spcBef>
                <a:spcPts val="750"/>
              </a:spcBef>
              <a:spcAft>
                <a:spcPts val="0"/>
              </a:spcAft>
              <a:buNone/>
            </a:pPr>
            <a:r>
              <a:t/>
            </a:r>
            <a:endParaRPr sz="1800"/>
          </a:p>
          <a:p>
            <a:pPr indent="0" lvl="0" marL="0" rtl="0" algn="l">
              <a:spcBef>
                <a:spcPts val="750"/>
              </a:spcBef>
              <a:spcAft>
                <a:spcPts val="0"/>
              </a:spcAft>
              <a:buNone/>
            </a:pPr>
            <a:r>
              <a:rPr lang="en" sz="1800"/>
              <a:t>8-sided die: A = even, B = roll ≥ 6 = {6, 7, 8}</a:t>
            </a:r>
            <a:endParaRPr sz="1800"/>
          </a:p>
          <a:p>
            <a:pPr indent="0" lvl="0" marL="0" rtl="0" algn="l">
              <a:spcBef>
                <a:spcPts val="750"/>
              </a:spcBef>
              <a:spcAft>
                <a:spcPts val="0"/>
              </a:spcAft>
              <a:buNone/>
            </a:pPr>
            <a:r>
              <a:rPr lang="en" sz="1800"/>
              <a:t>      P(A | B) = |{6, 8}| / |{6, 7, 8}| = 2/3</a:t>
            </a:r>
            <a:endParaRPr sz="1800"/>
          </a:p>
        </p:txBody>
      </p:sp>
      <p:sp>
        <p:nvSpPr>
          <p:cNvPr id="439" name="Google Shape;439;p70"/>
          <p:cNvSpPr/>
          <p:nvPr/>
        </p:nvSpPr>
        <p:spPr>
          <a:xfrm>
            <a:off x="508000" y="4089400"/>
            <a:ext cx="8127900" cy="482700"/>
          </a:xfrm>
          <a:prstGeom prst="roundRect">
            <a:avLst>
              <a:gd fmla="val 16667" name="adj"/>
            </a:avLst>
          </a:prstGeom>
          <a:solidFill>
            <a:srgbClr val="F4E6E6"/>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8C1515"/>
                </a:solidFill>
                <a:latin typeface="Calibri"/>
                <a:ea typeface="Calibri"/>
                <a:cs typeface="Calibri"/>
                <a:sym typeface="Calibri"/>
              </a:rPr>
              <a:t>Key idea:  P(E | F) = P(EF) / P(F)</a:t>
            </a:r>
            <a:endParaRPr b="1" sz="1600">
              <a:solidFill>
                <a:srgbClr val="8C1515"/>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71"/>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Inside the World of F: Same Rules</a:t>
            </a:r>
            <a:endParaRPr/>
          </a:p>
        </p:txBody>
      </p:sp>
      <p:sp>
        <p:nvSpPr>
          <p:cNvPr id="445" name="Google Shape;445;p71"/>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After conditioning on F, every probability rule still holds:</a:t>
            </a:r>
            <a:endParaRPr sz="1800"/>
          </a:p>
          <a:p>
            <a:pPr indent="0" lvl="0" marL="0" rtl="0" algn="l">
              <a:spcBef>
                <a:spcPts val="750"/>
              </a:spcBef>
              <a:spcAft>
                <a:spcPts val="0"/>
              </a:spcAft>
              <a:buNone/>
            </a:pPr>
            <a:r>
              <a:rPr lang="en" sz="1800"/>
              <a:t>      P(Eᶜ | F) = 1 − P(E | F)</a:t>
            </a:r>
            <a:endParaRPr sz="1800"/>
          </a:p>
          <a:p>
            <a:pPr indent="0" lvl="0" marL="0" rtl="0" algn="l">
              <a:spcBef>
                <a:spcPts val="750"/>
              </a:spcBef>
              <a:spcAft>
                <a:spcPts val="0"/>
              </a:spcAft>
              <a:buNone/>
            </a:pPr>
            <a:r>
              <a:rPr lang="en" sz="1800"/>
              <a:t>      P(E ∪ G | F) = P(E | F) + P(G | F) − P(E G | F)</a:t>
            </a:r>
            <a:endParaRPr sz="1800"/>
          </a:p>
          <a:p>
            <a:pPr indent="0" lvl="0" marL="0" rtl="0" algn="l">
              <a:spcBef>
                <a:spcPts val="750"/>
              </a:spcBef>
              <a:spcAft>
                <a:spcPts val="0"/>
              </a:spcAft>
              <a:buNone/>
            </a:pPr>
            <a:r>
              <a:t/>
            </a:r>
            <a:endParaRPr sz="1800"/>
          </a:p>
          <a:p>
            <a:pPr indent="0" lvl="0" marL="0" rtl="0" algn="l">
              <a:spcBef>
                <a:spcPts val="750"/>
              </a:spcBef>
              <a:spcAft>
                <a:spcPts val="0"/>
              </a:spcAft>
              <a:buNone/>
            </a:pPr>
            <a:r>
              <a:rPr lang="en" sz="1800"/>
              <a:t>Can we draw these?</a:t>
            </a:r>
            <a:endParaRPr sz="18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72"/>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The Chain Rule</a:t>
            </a:r>
            <a:endParaRPr/>
          </a:p>
        </p:txBody>
      </p:sp>
      <p:sp>
        <p:nvSpPr>
          <p:cNvPr id="451" name="Google Shape;451;p72"/>
          <p:cNvSpPr txBox="1"/>
          <p:nvPr>
            <p:ph idx="1" type="body"/>
          </p:nvPr>
        </p:nvSpPr>
        <p:spPr>
          <a:xfrm>
            <a:off x="407670" y="1334770"/>
            <a:ext cx="8191500" cy="3238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750"/>
              </a:spcBef>
              <a:spcAft>
                <a:spcPts val="0"/>
              </a:spcAft>
              <a:buNone/>
            </a:pPr>
            <a:r>
              <a:rPr i="1" lang="en" sz="1800">
                <a:solidFill>
                  <a:srgbClr val="555555"/>
                </a:solidFill>
                <a:latin typeface="Calibri"/>
                <a:ea typeface="Calibri"/>
                <a:cs typeface="Calibri"/>
                <a:sym typeface="Calibri"/>
              </a:rPr>
              <a:t>Super important for language modeling (aside)!</a:t>
            </a:r>
            <a:endParaRPr i="1" sz="1800">
              <a:solidFill>
                <a:srgbClr val="555555"/>
              </a:solidFill>
              <a:latin typeface="Calibri"/>
              <a:ea typeface="Calibri"/>
              <a:cs typeface="Calibri"/>
              <a:sym typeface="Calibri"/>
            </a:endParaRPr>
          </a:p>
          <a:p>
            <a:pPr indent="0" lvl="0" marL="0" rtl="0" algn="l">
              <a:spcBef>
                <a:spcPts val="1050"/>
              </a:spcBef>
              <a:spcAft>
                <a:spcPts val="0"/>
              </a:spcAft>
              <a:buNone/>
            </a:pPr>
            <a:r>
              <a:rPr b="1" i="1" lang="en" sz="2200">
                <a:solidFill>
                  <a:srgbClr val="8C1515"/>
                </a:solidFill>
                <a:highlight>
                  <a:srgbClr val="FFFFFF"/>
                </a:highlight>
                <a:latin typeface="Georgia"/>
                <a:ea typeface="Georgia"/>
                <a:cs typeface="Georgia"/>
                <a:sym typeface="Georgia"/>
              </a:rPr>
              <a:t>P</a:t>
            </a:r>
            <a:r>
              <a:rPr b="1" lang="en" sz="2200">
                <a:solidFill>
                  <a:srgbClr val="8C1515"/>
                </a:solidFill>
                <a:highlight>
                  <a:srgbClr val="FFFFFF"/>
                </a:highlight>
                <a:latin typeface="Georgia"/>
                <a:ea typeface="Georgia"/>
                <a:cs typeface="Georgia"/>
                <a:sym typeface="Georgia"/>
              </a:rPr>
              <a:t>(</a:t>
            </a:r>
            <a:r>
              <a:rPr b="1" i="1" lang="en" sz="2200">
                <a:solidFill>
                  <a:srgbClr val="8C1515"/>
                </a:solidFill>
                <a:highlight>
                  <a:srgbClr val="FFFFFF"/>
                </a:highlight>
                <a:latin typeface="Georgia"/>
                <a:ea typeface="Georgia"/>
                <a:cs typeface="Georgia"/>
                <a:sym typeface="Georgia"/>
              </a:rPr>
              <a:t>E F</a:t>
            </a:r>
            <a:r>
              <a:rPr b="1" lang="en" sz="2200">
                <a:solidFill>
                  <a:srgbClr val="8C1515"/>
                </a:solidFill>
                <a:highlight>
                  <a:srgbClr val="FFFFFF"/>
                </a:highlight>
                <a:latin typeface="Georgia"/>
                <a:ea typeface="Georgia"/>
                <a:cs typeface="Georgia"/>
                <a:sym typeface="Georgia"/>
              </a:rPr>
              <a:t>) = </a:t>
            </a:r>
            <a:r>
              <a:rPr b="1" i="1" lang="en" sz="2200">
                <a:solidFill>
                  <a:srgbClr val="8C1515"/>
                </a:solidFill>
                <a:highlight>
                  <a:srgbClr val="FFFFFF"/>
                </a:highlight>
                <a:latin typeface="Georgia"/>
                <a:ea typeface="Georgia"/>
                <a:cs typeface="Georgia"/>
                <a:sym typeface="Georgia"/>
              </a:rPr>
              <a:t>P</a:t>
            </a:r>
            <a:r>
              <a:rPr b="1" lang="en" sz="2200">
                <a:solidFill>
                  <a:srgbClr val="8C1515"/>
                </a:solidFill>
                <a:highlight>
                  <a:srgbClr val="FFFFFF"/>
                </a:highlight>
                <a:latin typeface="Georgia"/>
                <a:ea typeface="Georgia"/>
                <a:cs typeface="Georgia"/>
                <a:sym typeface="Georgia"/>
              </a:rPr>
              <a:t>(</a:t>
            </a:r>
            <a:r>
              <a:rPr b="1" i="1" lang="en" sz="2200">
                <a:solidFill>
                  <a:srgbClr val="8C1515"/>
                </a:solidFill>
                <a:highlight>
                  <a:srgbClr val="FFFFFF"/>
                </a:highlight>
                <a:latin typeface="Georgia"/>
                <a:ea typeface="Georgia"/>
                <a:cs typeface="Georgia"/>
                <a:sym typeface="Georgia"/>
              </a:rPr>
              <a:t>E</a:t>
            </a:r>
            <a:r>
              <a:rPr b="1" lang="en" sz="2200">
                <a:solidFill>
                  <a:srgbClr val="8C1515"/>
                </a:solidFill>
                <a:highlight>
                  <a:srgbClr val="FFFFFF"/>
                </a:highlight>
                <a:latin typeface="Georgia"/>
                <a:ea typeface="Georgia"/>
                <a:cs typeface="Georgia"/>
                <a:sym typeface="Georgia"/>
              </a:rPr>
              <a:t> | </a:t>
            </a:r>
            <a:r>
              <a:rPr b="1" i="1" lang="en" sz="2200">
                <a:solidFill>
                  <a:srgbClr val="8C1515"/>
                </a:solidFill>
                <a:highlight>
                  <a:srgbClr val="FFFFFF"/>
                </a:highlight>
                <a:latin typeface="Georgia"/>
                <a:ea typeface="Georgia"/>
                <a:cs typeface="Georgia"/>
                <a:sym typeface="Georgia"/>
              </a:rPr>
              <a:t>F</a:t>
            </a:r>
            <a:r>
              <a:rPr b="1" lang="en" sz="2200">
                <a:solidFill>
                  <a:srgbClr val="8C1515"/>
                </a:solidFill>
                <a:highlight>
                  <a:srgbClr val="FFFFFF"/>
                </a:highlight>
                <a:latin typeface="Georgia"/>
                <a:ea typeface="Georgia"/>
                <a:cs typeface="Georgia"/>
                <a:sym typeface="Georgia"/>
              </a:rPr>
              <a:t>) · </a:t>
            </a:r>
            <a:r>
              <a:rPr b="1" i="1" lang="en" sz="2200">
                <a:solidFill>
                  <a:srgbClr val="8C1515"/>
                </a:solidFill>
                <a:highlight>
                  <a:srgbClr val="FFFFFF"/>
                </a:highlight>
                <a:latin typeface="Georgia"/>
                <a:ea typeface="Georgia"/>
                <a:cs typeface="Georgia"/>
                <a:sym typeface="Georgia"/>
              </a:rPr>
              <a:t>P</a:t>
            </a:r>
            <a:r>
              <a:rPr b="1" lang="en" sz="2200">
                <a:solidFill>
                  <a:srgbClr val="8C1515"/>
                </a:solidFill>
                <a:highlight>
                  <a:srgbClr val="FFFFFF"/>
                </a:highlight>
                <a:latin typeface="Georgia"/>
                <a:ea typeface="Georgia"/>
                <a:cs typeface="Georgia"/>
                <a:sym typeface="Georgia"/>
              </a:rPr>
              <a:t>(</a:t>
            </a:r>
            <a:r>
              <a:rPr b="1" i="1" lang="en" sz="2200">
                <a:solidFill>
                  <a:srgbClr val="8C1515"/>
                </a:solidFill>
                <a:highlight>
                  <a:srgbClr val="FFFFFF"/>
                </a:highlight>
                <a:latin typeface="Georgia"/>
                <a:ea typeface="Georgia"/>
                <a:cs typeface="Georgia"/>
                <a:sym typeface="Georgia"/>
              </a:rPr>
              <a:t>F</a:t>
            </a:r>
            <a:r>
              <a:rPr b="1" lang="en" sz="2200">
                <a:solidFill>
                  <a:srgbClr val="8C1515"/>
                </a:solidFill>
                <a:highlight>
                  <a:srgbClr val="FFFFFF"/>
                </a:highlight>
                <a:latin typeface="Georgia"/>
                <a:ea typeface="Georgia"/>
                <a:cs typeface="Georgia"/>
                <a:sym typeface="Georgia"/>
              </a:rPr>
              <a:t>)</a:t>
            </a:r>
            <a:endParaRPr b="1" sz="2200">
              <a:solidFill>
                <a:srgbClr val="8C1515"/>
              </a:solidFill>
              <a:highlight>
                <a:srgbClr val="FFFFFF"/>
              </a:highlight>
              <a:latin typeface="Georgia"/>
              <a:ea typeface="Georgia"/>
              <a:cs typeface="Georgia"/>
              <a:sym typeface="Georgia"/>
            </a:endParaRPr>
          </a:p>
          <a:p>
            <a:pPr indent="0" lvl="0" marL="0" rtl="0" algn="l">
              <a:spcBef>
                <a:spcPts val="900"/>
              </a:spcBef>
              <a:spcAft>
                <a:spcPts val="0"/>
              </a:spcAft>
              <a:buNone/>
            </a:pPr>
            <a:r>
              <a:rPr lang="en" sz="1500">
                <a:solidFill>
                  <a:srgbClr val="555555"/>
                </a:solidFill>
                <a:highlight>
                  <a:srgbClr val="FFFFFF"/>
                </a:highlight>
                <a:latin typeface="Calibri"/>
                <a:ea typeface="Calibri"/>
                <a:cs typeface="Calibri"/>
                <a:sym typeface="Calibri"/>
              </a:rPr>
              <a:t>This goes the other way too!</a:t>
            </a:r>
            <a:endParaRPr sz="1500">
              <a:solidFill>
                <a:srgbClr val="555555"/>
              </a:solidFill>
              <a:highlight>
                <a:srgbClr val="FFFFFF"/>
              </a:highlight>
              <a:latin typeface="Calibri"/>
              <a:ea typeface="Calibri"/>
              <a:cs typeface="Calibri"/>
              <a:sym typeface="Calibri"/>
            </a:endParaRPr>
          </a:p>
          <a:p>
            <a:pPr indent="0" lvl="0" marL="0" rtl="0" algn="l">
              <a:spcBef>
                <a:spcPts val="750"/>
              </a:spcBef>
              <a:spcAft>
                <a:spcPts val="0"/>
              </a:spcAft>
              <a:buNone/>
            </a:pPr>
            <a:r>
              <a:rPr b="1" i="1" lang="en" sz="2200">
                <a:solidFill>
                  <a:srgbClr val="8C1515"/>
                </a:solidFill>
                <a:highlight>
                  <a:srgbClr val="FFFFFF"/>
                </a:highlight>
                <a:latin typeface="Georgia"/>
                <a:ea typeface="Georgia"/>
                <a:cs typeface="Georgia"/>
                <a:sym typeface="Georgia"/>
              </a:rPr>
              <a:t>P</a:t>
            </a:r>
            <a:r>
              <a:rPr b="1" lang="en" sz="2200">
                <a:solidFill>
                  <a:srgbClr val="8C1515"/>
                </a:solidFill>
                <a:highlight>
                  <a:srgbClr val="FFFFFF"/>
                </a:highlight>
                <a:latin typeface="Georgia"/>
                <a:ea typeface="Georgia"/>
                <a:cs typeface="Georgia"/>
                <a:sym typeface="Georgia"/>
              </a:rPr>
              <a:t>(</a:t>
            </a:r>
            <a:r>
              <a:rPr b="1" i="1" lang="en" sz="2200">
                <a:solidFill>
                  <a:srgbClr val="8C1515"/>
                </a:solidFill>
                <a:highlight>
                  <a:srgbClr val="FFFFFF"/>
                </a:highlight>
                <a:latin typeface="Georgia"/>
                <a:ea typeface="Georgia"/>
                <a:cs typeface="Georgia"/>
                <a:sym typeface="Georgia"/>
              </a:rPr>
              <a:t>E F</a:t>
            </a:r>
            <a:r>
              <a:rPr b="1" lang="en" sz="2200">
                <a:solidFill>
                  <a:srgbClr val="8C1515"/>
                </a:solidFill>
                <a:highlight>
                  <a:srgbClr val="FFFFFF"/>
                </a:highlight>
                <a:latin typeface="Georgia"/>
                <a:ea typeface="Georgia"/>
                <a:cs typeface="Georgia"/>
                <a:sym typeface="Georgia"/>
              </a:rPr>
              <a:t>) = </a:t>
            </a:r>
            <a:r>
              <a:rPr b="1" i="1" lang="en" sz="2200">
                <a:solidFill>
                  <a:srgbClr val="8C1515"/>
                </a:solidFill>
                <a:highlight>
                  <a:srgbClr val="FFFFFF"/>
                </a:highlight>
                <a:latin typeface="Georgia"/>
                <a:ea typeface="Georgia"/>
                <a:cs typeface="Georgia"/>
                <a:sym typeface="Georgia"/>
              </a:rPr>
              <a:t>P</a:t>
            </a:r>
            <a:r>
              <a:rPr b="1" lang="en" sz="2200">
                <a:solidFill>
                  <a:srgbClr val="8C1515"/>
                </a:solidFill>
                <a:highlight>
                  <a:srgbClr val="FFFFFF"/>
                </a:highlight>
                <a:latin typeface="Georgia"/>
                <a:ea typeface="Georgia"/>
                <a:cs typeface="Georgia"/>
                <a:sym typeface="Georgia"/>
              </a:rPr>
              <a:t>(</a:t>
            </a:r>
            <a:r>
              <a:rPr b="1" i="1" lang="en" sz="2200">
                <a:solidFill>
                  <a:srgbClr val="8C1515"/>
                </a:solidFill>
                <a:highlight>
                  <a:srgbClr val="FFFFFF"/>
                </a:highlight>
                <a:latin typeface="Georgia"/>
                <a:ea typeface="Georgia"/>
                <a:cs typeface="Georgia"/>
                <a:sym typeface="Georgia"/>
              </a:rPr>
              <a:t>F</a:t>
            </a:r>
            <a:r>
              <a:rPr b="1" lang="en" sz="2200">
                <a:solidFill>
                  <a:srgbClr val="8C1515"/>
                </a:solidFill>
                <a:highlight>
                  <a:srgbClr val="FFFFFF"/>
                </a:highlight>
                <a:latin typeface="Georgia"/>
                <a:ea typeface="Georgia"/>
                <a:cs typeface="Georgia"/>
                <a:sym typeface="Georgia"/>
              </a:rPr>
              <a:t> | </a:t>
            </a:r>
            <a:r>
              <a:rPr b="1" i="1" lang="en" sz="2200">
                <a:solidFill>
                  <a:srgbClr val="8C1515"/>
                </a:solidFill>
                <a:highlight>
                  <a:srgbClr val="FFFFFF"/>
                </a:highlight>
                <a:latin typeface="Georgia"/>
                <a:ea typeface="Georgia"/>
                <a:cs typeface="Georgia"/>
                <a:sym typeface="Georgia"/>
              </a:rPr>
              <a:t>E</a:t>
            </a:r>
            <a:r>
              <a:rPr b="1" lang="en" sz="2200">
                <a:solidFill>
                  <a:srgbClr val="8C1515"/>
                </a:solidFill>
                <a:highlight>
                  <a:srgbClr val="FFFFFF"/>
                </a:highlight>
                <a:latin typeface="Georgia"/>
                <a:ea typeface="Georgia"/>
                <a:cs typeface="Georgia"/>
                <a:sym typeface="Georgia"/>
              </a:rPr>
              <a:t>) · </a:t>
            </a:r>
            <a:r>
              <a:rPr b="1" i="1" lang="en" sz="2200">
                <a:solidFill>
                  <a:srgbClr val="8C1515"/>
                </a:solidFill>
                <a:highlight>
                  <a:srgbClr val="FFFFFF"/>
                </a:highlight>
                <a:latin typeface="Georgia"/>
                <a:ea typeface="Georgia"/>
                <a:cs typeface="Georgia"/>
                <a:sym typeface="Georgia"/>
              </a:rPr>
              <a:t>P</a:t>
            </a:r>
            <a:r>
              <a:rPr b="1" lang="en" sz="2200">
                <a:solidFill>
                  <a:srgbClr val="8C1515"/>
                </a:solidFill>
                <a:highlight>
                  <a:srgbClr val="FFFFFF"/>
                </a:highlight>
                <a:latin typeface="Georgia"/>
                <a:ea typeface="Georgia"/>
                <a:cs typeface="Georgia"/>
                <a:sym typeface="Georgia"/>
              </a:rPr>
              <a:t>(</a:t>
            </a:r>
            <a:r>
              <a:rPr b="1" i="1" lang="en" sz="2200">
                <a:solidFill>
                  <a:srgbClr val="8C1515"/>
                </a:solidFill>
                <a:highlight>
                  <a:srgbClr val="FFFFFF"/>
                </a:highlight>
                <a:latin typeface="Georgia"/>
                <a:ea typeface="Georgia"/>
                <a:cs typeface="Georgia"/>
                <a:sym typeface="Georgia"/>
              </a:rPr>
              <a:t>E</a:t>
            </a:r>
            <a:r>
              <a:rPr b="1" lang="en" sz="2200">
                <a:solidFill>
                  <a:srgbClr val="8C1515"/>
                </a:solidFill>
                <a:highlight>
                  <a:srgbClr val="FFFFFF"/>
                </a:highlight>
                <a:latin typeface="Georgia"/>
                <a:ea typeface="Georgia"/>
                <a:cs typeface="Georgia"/>
                <a:sym typeface="Georgia"/>
              </a:rPr>
              <a:t>)</a:t>
            </a:r>
            <a:endParaRPr b="1" sz="2200">
              <a:solidFill>
                <a:srgbClr val="8C1515"/>
              </a:solidFill>
              <a:highlight>
                <a:srgbClr val="FFFFFF"/>
              </a:highlight>
              <a:latin typeface="Georgia"/>
              <a:ea typeface="Georgia"/>
              <a:cs typeface="Georgia"/>
              <a:sym typeface="Georgia"/>
            </a:endParaRPr>
          </a:p>
          <a:p>
            <a:pPr indent="0" lvl="0" marL="0" rtl="0" algn="l">
              <a:spcBef>
                <a:spcPts val="900"/>
              </a:spcBef>
              <a:spcAft>
                <a:spcPts val="0"/>
              </a:spcAft>
              <a:buNone/>
            </a:pPr>
            <a:r>
              <a:rPr lang="en" sz="1500">
                <a:solidFill>
                  <a:srgbClr val="555555"/>
                </a:solidFill>
                <a:highlight>
                  <a:srgbClr val="FFFFFF"/>
                </a:highlight>
                <a:latin typeface="Calibri"/>
                <a:ea typeface="Calibri"/>
                <a:cs typeface="Calibri"/>
                <a:sym typeface="Calibri"/>
              </a:rPr>
              <a:t>And with more events</a:t>
            </a:r>
            <a:endParaRPr sz="1500">
              <a:solidFill>
                <a:srgbClr val="555555"/>
              </a:solidFill>
              <a:highlight>
                <a:srgbClr val="FFFFFF"/>
              </a:highlight>
              <a:latin typeface="Calibri"/>
              <a:ea typeface="Calibri"/>
              <a:cs typeface="Calibri"/>
              <a:sym typeface="Calibri"/>
            </a:endParaRPr>
          </a:p>
          <a:p>
            <a:pPr indent="0" lvl="0" marL="0" rtl="0" algn="l">
              <a:spcBef>
                <a:spcPts val="750"/>
              </a:spcBef>
              <a:spcAft>
                <a:spcPts val="0"/>
              </a:spcAft>
              <a:buNone/>
            </a:pPr>
            <a:r>
              <a:rPr b="1" i="1" lang="en" sz="2200">
                <a:solidFill>
                  <a:srgbClr val="8C1515"/>
                </a:solidFill>
                <a:highlight>
                  <a:srgbClr val="FFFFFF"/>
                </a:highlight>
                <a:latin typeface="Georgia"/>
                <a:ea typeface="Georgia"/>
                <a:cs typeface="Georgia"/>
                <a:sym typeface="Georgia"/>
              </a:rPr>
              <a:t>P</a:t>
            </a:r>
            <a:r>
              <a:rPr b="1" lang="en" sz="2200">
                <a:solidFill>
                  <a:srgbClr val="8C1515"/>
                </a:solidFill>
                <a:highlight>
                  <a:srgbClr val="FFFFFF"/>
                </a:highlight>
                <a:latin typeface="Georgia"/>
                <a:ea typeface="Georgia"/>
                <a:cs typeface="Georgia"/>
                <a:sym typeface="Georgia"/>
              </a:rPr>
              <a:t>(</a:t>
            </a:r>
            <a:r>
              <a:rPr b="1" i="1" lang="en" sz="2200">
                <a:solidFill>
                  <a:srgbClr val="8C1515"/>
                </a:solidFill>
                <a:highlight>
                  <a:srgbClr val="FFFFFF"/>
                </a:highlight>
                <a:latin typeface="Georgia"/>
                <a:ea typeface="Georgia"/>
                <a:cs typeface="Georgia"/>
                <a:sym typeface="Georgia"/>
              </a:rPr>
              <a:t>E F G</a:t>
            </a:r>
            <a:r>
              <a:rPr b="1" lang="en" sz="2200">
                <a:solidFill>
                  <a:srgbClr val="8C1515"/>
                </a:solidFill>
                <a:highlight>
                  <a:srgbClr val="FFFFFF"/>
                </a:highlight>
                <a:latin typeface="Georgia"/>
                <a:ea typeface="Georgia"/>
                <a:cs typeface="Georgia"/>
                <a:sym typeface="Georgia"/>
              </a:rPr>
              <a:t>) = </a:t>
            </a:r>
            <a:r>
              <a:rPr b="1" i="1" lang="en" sz="2200">
                <a:solidFill>
                  <a:srgbClr val="8C1515"/>
                </a:solidFill>
                <a:highlight>
                  <a:srgbClr val="FFFFFF"/>
                </a:highlight>
                <a:latin typeface="Georgia"/>
                <a:ea typeface="Georgia"/>
                <a:cs typeface="Georgia"/>
                <a:sym typeface="Georgia"/>
              </a:rPr>
              <a:t>P</a:t>
            </a:r>
            <a:r>
              <a:rPr b="1" lang="en" sz="2200">
                <a:solidFill>
                  <a:srgbClr val="8C1515"/>
                </a:solidFill>
                <a:highlight>
                  <a:srgbClr val="FFFFFF"/>
                </a:highlight>
                <a:latin typeface="Georgia"/>
                <a:ea typeface="Georgia"/>
                <a:cs typeface="Georgia"/>
                <a:sym typeface="Georgia"/>
              </a:rPr>
              <a:t>(</a:t>
            </a:r>
            <a:r>
              <a:rPr b="1" i="1" lang="en" sz="2200">
                <a:solidFill>
                  <a:srgbClr val="8C1515"/>
                </a:solidFill>
                <a:highlight>
                  <a:srgbClr val="FFFFFF"/>
                </a:highlight>
                <a:latin typeface="Georgia"/>
                <a:ea typeface="Georgia"/>
                <a:cs typeface="Georgia"/>
                <a:sym typeface="Georgia"/>
              </a:rPr>
              <a:t>E</a:t>
            </a:r>
            <a:r>
              <a:rPr b="1" lang="en" sz="2200">
                <a:solidFill>
                  <a:srgbClr val="8C1515"/>
                </a:solidFill>
                <a:highlight>
                  <a:srgbClr val="FFFFFF"/>
                </a:highlight>
                <a:latin typeface="Georgia"/>
                <a:ea typeface="Georgia"/>
                <a:cs typeface="Georgia"/>
                <a:sym typeface="Georgia"/>
              </a:rPr>
              <a:t>) · </a:t>
            </a:r>
            <a:r>
              <a:rPr b="1" i="1" lang="en" sz="2200">
                <a:solidFill>
                  <a:srgbClr val="8C1515"/>
                </a:solidFill>
                <a:highlight>
                  <a:srgbClr val="FFFFFF"/>
                </a:highlight>
                <a:latin typeface="Georgia"/>
                <a:ea typeface="Georgia"/>
                <a:cs typeface="Georgia"/>
                <a:sym typeface="Georgia"/>
              </a:rPr>
              <a:t>P</a:t>
            </a:r>
            <a:r>
              <a:rPr b="1" lang="en" sz="2200">
                <a:solidFill>
                  <a:srgbClr val="8C1515"/>
                </a:solidFill>
                <a:highlight>
                  <a:srgbClr val="FFFFFF"/>
                </a:highlight>
                <a:latin typeface="Georgia"/>
                <a:ea typeface="Georgia"/>
                <a:cs typeface="Georgia"/>
                <a:sym typeface="Georgia"/>
              </a:rPr>
              <a:t>(</a:t>
            </a:r>
            <a:r>
              <a:rPr b="1" i="1" lang="en" sz="2200">
                <a:solidFill>
                  <a:srgbClr val="8C1515"/>
                </a:solidFill>
                <a:highlight>
                  <a:srgbClr val="FFFFFF"/>
                </a:highlight>
                <a:latin typeface="Georgia"/>
                <a:ea typeface="Georgia"/>
                <a:cs typeface="Georgia"/>
                <a:sym typeface="Georgia"/>
              </a:rPr>
              <a:t>F</a:t>
            </a:r>
            <a:r>
              <a:rPr b="1" lang="en" sz="2200">
                <a:solidFill>
                  <a:srgbClr val="8C1515"/>
                </a:solidFill>
                <a:highlight>
                  <a:srgbClr val="FFFFFF"/>
                </a:highlight>
                <a:latin typeface="Georgia"/>
                <a:ea typeface="Georgia"/>
                <a:cs typeface="Georgia"/>
                <a:sym typeface="Georgia"/>
              </a:rPr>
              <a:t> | </a:t>
            </a:r>
            <a:r>
              <a:rPr b="1" i="1" lang="en" sz="2200">
                <a:solidFill>
                  <a:srgbClr val="8C1515"/>
                </a:solidFill>
                <a:highlight>
                  <a:srgbClr val="FFFFFF"/>
                </a:highlight>
                <a:latin typeface="Georgia"/>
                <a:ea typeface="Georgia"/>
                <a:cs typeface="Georgia"/>
                <a:sym typeface="Georgia"/>
              </a:rPr>
              <a:t>E</a:t>
            </a:r>
            <a:r>
              <a:rPr b="1" lang="en" sz="2200">
                <a:solidFill>
                  <a:srgbClr val="8C1515"/>
                </a:solidFill>
                <a:highlight>
                  <a:srgbClr val="FFFFFF"/>
                </a:highlight>
                <a:latin typeface="Georgia"/>
                <a:ea typeface="Georgia"/>
                <a:cs typeface="Georgia"/>
                <a:sym typeface="Georgia"/>
              </a:rPr>
              <a:t>) · </a:t>
            </a:r>
            <a:r>
              <a:rPr b="1" i="1" lang="en" sz="2200">
                <a:solidFill>
                  <a:srgbClr val="8C1515"/>
                </a:solidFill>
                <a:highlight>
                  <a:srgbClr val="FFFFFF"/>
                </a:highlight>
                <a:latin typeface="Georgia"/>
                <a:ea typeface="Georgia"/>
                <a:cs typeface="Georgia"/>
                <a:sym typeface="Georgia"/>
              </a:rPr>
              <a:t>P</a:t>
            </a:r>
            <a:r>
              <a:rPr b="1" lang="en" sz="2200">
                <a:solidFill>
                  <a:srgbClr val="8C1515"/>
                </a:solidFill>
                <a:highlight>
                  <a:srgbClr val="FFFFFF"/>
                </a:highlight>
                <a:latin typeface="Georgia"/>
                <a:ea typeface="Georgia"/>
                <a:cs typeface="Georgia"/>
                <a:sym typeface="Georgia"/>
              </a:rPr>
              <a:t>(</a:t>
            </a:r>
            <a:r>
              <a:rPr b="1" i="1" lang="en" sz="2200">
                <a:solidFill>
                  <a:srgbClr val="8C1515"/>
                </a:solidFill>
                <a:highlight>
                  <a:srgbClr val="FFFFFF"/>
                </a:highlight>
                <a:latin typeface="Georgia"/>
                <a:ea typeface="Georgia"/>
                <a:cs typeface="Georgia"/>
                <a:sym typeface="Georgia"/>
              </a:rPr>
              <a:t>G</a:t>
            </a:r>
            <a:r>
              <a:rPr b="1" lang="en" sz="2200">
                <a:solidFill>
                  <a:srgbClr val="8C1515"/>
                </a:solidFill>
                <a:highlight>
                  <a:srgbClr val="FFFFFF"/>
                </a:highlight>
                <a:latin typeface="Georgia"/>
                <a:ea typeface="Georgia"/>
                <a:cs typeface="Georgia"/>
                <a:sym typeface="Georgia"/>
              </a:rPr>
              <a:t> | </a:t>
            </a:r>
            <a:r>
              <a:rPr b="1" i="1" lang="en" sz="2200">
                <a:solidFill>
                  <a:srgbClr val="8C1515"/>
                </a:solidFill>
                <a:highlight>
                  <a:srgbClr val="FFFFFF"/>
                </a:highlight>
                <a:latin typeface="Georgia"/>
                <a:ea typeface="Georgia"/>
                <a:cs typeface="Georgia"/>
                <a:sym typeface="Georgia"/>
              </a:rPr>
              <a:t>E</a:t>
            </a:r>
            <a:r>
              <a:rPr b="1" lang="en" sz="2200">
                <a:solidFill>
                  <a:srgbClr val="8C1515"/>
                </a:solidFill>
                <a:highlight>
                  <a:srgbClr val="FFFFFF"/>
                </a:highlight>
                <a:latin typeface="Georgia"/>
                <a:ea typeface="Georgia"/>
                <a:cs typeface="Georgia"/>
                <a:sym typeface="Georgia"/>
              </a:rPr>
              <a:t>, </a:t>
            </a:r>
            <a:r>
              <a:rPr b="1" i="1" lang="en" sz="2200">
                <a:solidFill>
                  <a:srgbClr val="8C1515"/>
                </a:solidFill>
                <a:highlight>
                  <a:srgbClr val="FFFFFF"/>
                </a:highlight>
                <a:latin typeface="Georgia"/>
                <a:ea typeface="Georgia"/>
                <a:cs typeface="Georgia"/>
                <a:sym typeface="Georgia"/>
              </a:rPr>
              <a:t>F</a:t>
            </a:r>
            <a:r>
              <a:rPr b="1" lang="en" sz="2200">
                <a:solidFill>
                  <a:srgbClr val="8C1515"/>
                </a:solidFill>
                <a:highlight>
                  <a:srgbClr val="FFFFFF"/>
                </a:highlight>
                <a:latin typeface="Georgia"/>
                <a:ea typeface="Georgia"/>
                <a:cs typeface="Georgia"/>
                <a:sym typeface="Georgia"/>
              </a:rPr>
              <a:t>)</a:t>
            </a:r>
            <a:endParaRPr b="1" sz="2200">
              <a:solidFill>
                <a:srgbClr val="8C1515"/>
              </a:solidFill>
              <a:highlight>
                <a:srgbClr val="FFFFFF"/>
              </a:highlight>
              <a:latin typeface="Georgia"/>
              <a:ea typeface="Georgia"/>
              <a:cs typeface="Georgia"/>
              <a:sym typeface="Georgia"/>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73"/>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Chain Rule: Examples</a:t>
            </a:r>
            <a:endParaRPr/>
          </a:p>
        </p:txBody>
      </p:sp>
      <p:sp>
        <p:nvSpPr>
          <p:cNvPr id="457" name="Google Shape;457;p73"/>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Hungry puppy (lecture): P(H) = 0.5, P(K | H) = 0.5</a:t>
            </a:r>
            <a:endParaRPr sz="1800"/>
          </a:p>
          <a:p>
            <a:pPr indent="0" lvl="0" marL="0" rtl="0" algn="l">
              <a:spcBef>
                <a:spcPts val="750"/>
              </a:spcBef>
              <a:spcAft>
                <a:spcPts val="0"/>
              </a:spcAft>
              <a:buNone/>
            </a:pPr>
            <a:r>
              <a:rPr lang="en" sz="1800"/>
              <a:t>      P(H K) = P(H) · P(K | H) = 0.5 · 0.5 = 0.25</a:t>
            </a:r>
            <a:endParaRPr sz="1800"/>
          </a:p>
          <a:p>
            <a:pPr indent="0" lvl="0" marL="0" rtl="0" algn="l">
              <a:spcBef>
                <a:spcPts val="750"/>
              </a:spcBef>
              <a:spcAft>
                <a:spcPts val="0"/>
              </a:spcAft>
              <a:buNone/>
            </a:pPr>
            <a:r>
              <a:rPr lang="en" sz="1800"/>
              <a:t>Three aces in a row from a shuffled deck (no replacement):</a:t>
            </a:r>
            <a:endParaRPr sz="1800"/>
          </a:p>
          <a:p>
            <a:pPr indent="0" lvl="0" marL="0" rtl="0" algn="l">
              <a:spcBef>
                <a:spcPts val="750"/>
              </a:spcBef>
              <a:spcAft>
                <a:spcPts val="0"/>
              </a:spcAft>
              <a:buNone/>
            </a:pPr>
            <a:r>
              <a:rPr lang="en" sz="1800"/>
              <a:t>      P(A₁ A₂ A₃) = P(A₁) · P(A₂ | A₁) · P(A₃ | A₁ A₂)</a:t>
            </a:r>
            <a:endParaRPr sz="1800"/>
          </a:p>
          <a:p>
            <a:pPr indent="0" lvl="0" marL="0" rtl="0" algn="l">
              <a:spcBef>
                <a:spcPts val="750"/>
              </a:spcBef>
              <a:spcAft>
                <a:spcPts val="0"/>
              </a:spcAft>
              <a:buNone/>
            </a:pPr>
            <a:r>
              <a:rPr lang="en" sz="1800"/>
              <a:t>                         = 4/52 · 3/51 · 2/50 = 1/5525</a:t>
            </a:r>
            <a:endParaRPr sz="1800"/>
          </a:p>
          <a:p>
            <a:pPr indent="0" lvl="0" marL="0" rtl="0" algn="l">
              <a:spcBef>
                <a:spcPts val="750"/>
              </a:spcBef>
              <a:spcAft>
                <a:spcPts val="0"/>
              </a:spcAft>
              <a:buNone/>
            </a:pPr>
            <a:r>
              <a:t/>
            </a:r>
            <a:endParaRPr sz="1800"/>
          </a:p>
        </p:txBody>
      </p:sp>
      <p:sp>
        <p:nvSpPr>
          <p:cNvPr id="458" name="Google Shape;458;p73"/>
          <p:cNvSpPr/>
          <p:nvPr/>
        </p:nvSpPr>
        <p:spPr>
          <a:xfrm>
            <a:off x="508000" y="4089400"/>
            <a:ext cx="8127900" cy="482700"/>
          </a:xfrm>
          <a:prstGeom prst="roundRect">
            <a:avLst>
              <a:gd fmla="val 16667" name="adj"/>
            </a:avLst>
          </a:prstGeom>
          <a:solidFill>
            <a:srgbClr val="F4E6E6"/>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8C1515"/>
                </a:solidFill>
                <a:latin typeface="Calibri"/>
                <a:ea typeface="Calibri"/>
                <a:cs typeface="Calibri"/>
                <a:sym typeface="Calibri"/>
              </a:rPr>
              <a:t>Key idea:  </a:t>
            </a:r>
            <a:r>
              <a:rPr b="1" lang="en" sz="1600">
                <a:solidFill>
                  <a:srgbClr val="8C1515"/>
                </a:solidFill>
                <a:latin typeface="Calibri"/>
                <a:ea typeface="Calibri"/>
                <a:cs typeface="Calibri"/>
                <a:sym typeface="Calibri"/>
              </a:rPr>
              <a:t>P(E₁E₂E₃) = P(E₁) · P(E₂ | E₁) · P(E₃ | E₁E₂), and so on for more events</a:t>
            </a:r>
            <a:endParaRPr b="1" sz="1600">
              <a:solidFill>
                <a:srgbClr val="8C1515"/>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4"/>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How can we use the chain rule for LLMs?</a:t>
            </a:r>
            <a:endParaRPr/>
          </a:p>
        </p:txBody>
      </p:sp>
      <p:sp>
        <p:nvSpPr>
          <p:cNvPr id="464" name="Google Shape;464;p74"/>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0" lvl="0" marL="0" rtl="0" algn="l">
              <a:spcBef>
                <a:spcPts val="750"/>
              </a:spcBef>
              <a:spcAft>
                <a:spcPts val="0"/>
              </a:spcAft>
              <a:buNone/>
            </a:pPr>
            <a:r>
              <a:rPr lang="en"/>
              <a:t>What is the modeling task given some text corpus D = “The dog ran over the fence then jumped into the lake for a swim?”</a:t>
            </a:r>
            <a:endParaRPr/>
          </a:p>
          <a:p>
            <a:pPr indent="0" lvl="0" marL="0" rtl="0" algn="l">
              <a:spcBef>
                <a:spcPts val="750"/>
              </a:spcBef>
              <a:spcAft>
                <a:spcPts val="0"/>
              </a:spcAft>
              <a:buNone/>
            </a:pPr>
            <a:r>
              <a:t/>
            </a:r>
            <a:endParaRPr/>
          </a:p>
          <a:p>
            <a:pPr indent="0" lvl="0" marL="0" rtl="0" algn="l">
              <a:spcBef>
                <a:spcPts val="750"/>
              </a:spcBef>
              <a:spcAft>
                <a:spcPts val="0"/>
              </a:spcAft>
              <a:buNone/>
            </a:pPr>
            <a:r>
              <a:rPr lang="en"/>
              <a:t>You want to maximize the likelihood of D:</a:t>
            </a:r>
            <a:endParaRPr/>
          </a:p>
          <a:p>
            <a:pPr indent="0" lvl="0" marL="0" rtl="0" algn="l">
              <a:spcBef>
                <a:spcPts val="750"/>
              </a:spcBef>
              <a:spcAft>
                <a:spcPts val="0"/>
              </a:spcAft>
              <a:buNone/>
            </a:pPr>
            <a:r>
              <a:rPr lang="en"/>
              <a:t>P(D) = P(“The”) * P(“dog”|</a:t>
            </a:r>
            <a:r>
              <a:rPr lang="en"/>
              <a:t>“The”</a:t>
            </a:r>
            <a:r>
              <a:rPr lang="en"/>
              <a:t>) * P(“ran”|”The”, “dog”) *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75"/>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0" name="Google Shape;470;p75"/>
          <p:cNvSpPr/>
          <p:nvPr/>
        </p:nvSpPr>
        <p:spPr>
          <a:xfrm>
            <a:off x="0" y="1200150"/>
            <a:ext cx="9144000" cy="3562200"/>
          </a:xfrm>
          <a:prstGeom prst="rect">
            <a:avLst/>
          </a:prstGeom>
          <a:solidFill>
            <a:srgbClr val="E7E6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1" name="Google Shape;471;p75"/>
          <p:cNvSpPr txBox="1"/>
          <p:nvPr/>
        </p:nvSpPr>
        <p:spPr>
          <a:xfrm>
            <a:off x="323850" y="266700"/>
            <a:ext cx="8496300" cy="819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800">
                <a:solidFill>
                  <a:srgbClr val="8C1515"/>
                </a:solidFill>
                <a:latin typeface="Georgia"/>
                <a:ea typeface="Georgia"/>
                <a:cs typeface="Georgia"/>
                <a:sym typeface="Georgia"/>
              </a:rPr>
              <a:t>After conditional probability, what changed when we learned something</a:t>
            </a:r>
            <a:endParaRPr sz="2800">
              <a:solidFill>
                <a:srgbClr val="8C1515"/>
              </a:solidFill>
              <a:latin typeface="Georgia"/>
              <a:ea typeface="Georgia"/>
              <a:cs typeface="Georgia"/>
              <a:sym typeface="Georgia"/>
            </a:endParaRPr>
          </a:p>
        </p:txBody>
      </p:sp>
      <p:grpSp>
        <p:nvGrpSpPr>
          <p:cNvPr id="472" name="Google Shape;472;p75"/>
          <p:cNvGrpSpPr/>
          <p:nvPr/>
        </p:nvGrpSpPr>
        <p:grpSpPr>
          <a:xfrm>
            <a:off x="476250" y="1428750"/>
            <a:ext cx="3905400" cy="1905000"/>
            <a:chOff x="0" y="0"/>
            <a:chExt cx="3905400" cy="1905000"/>
          </a:xfrm>
        </p:grpSpPr>
        <p:sp>
          <p:nvSpPr>
            <p:cNvPr id="473" name="Google Shape;473;p75"/>
            <p:cNvSpPr/>
            <p:nvPr/>
          </p:nvSpPr>
          <p:spPr>
            <a:xfrm>
              <a:off x="0" y="0"/>
              <a:ext cx="3905400" cy="1905000"/>
            </a:xfrm>
            <a:prstGeom prst="roundRect">
              <a:avLst>
                <a:gd fmla="val 6000" name="adj"/>
              </a:avLst>
            </a:prstGeom>
            <a:solidFill>
              <a:srgbClr val="FFFFFF"/>
            </a:solidFill>
            <a:ln cap="flat" cmpd="sng" w="14300">
              <a:solidFill>
                <a:srgbClr val="D0D0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4" name="Google Shape;474;p75"/>
            <p:cNvSpPr txBox="1"/>
            <p:nvPr/>
          </p:nvSpPr>
          <p:spPr>
            <a:xfrm>
              <a:off x="190500" y="171450"/>
              <a:ext cx="3524400" cy="1562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8C1515"/>
                  </a:solidFill>
                  <a:latin typeface="Calibri"/>
                  <a:ea typeface="Calibri"/>
                  <a:cs typeface="Calibri"/>
                  <a:sym typeface="Calibri"/>
                </a:rPr>
                <a:t>Question 1</a:t>
              </a:r>
              <a:endParaRPr b="1" sz="1400">
                <a:solidFill>
                  <a:srgbClr val="8C1515"/>
                </a:solidFill>
                <a:latin typeface="Calibri"/>
                <a:ea typeface="Calibri"/>
                <a:cs typeface="Calibri"/>
                <a:sym typeface="Calibri"/>
              </a:endParaRPr>
            </a:p>
            <a:p>
              <a:pPr indent="0" lvl="0" marL="0" rtl="0" algn="l">
                <a:spcBef>
                  <a:spcPts val="600"/>
                </a:spcBef>
                <a:spcAft>
                  <a:spcPts val="0"/>
                </a:spcAft>
                <a:buNone/>
              </a:pPr>
              <a:r>
                <a:rPr b="0" lang="en" sz="1500">
                  <a:solidFill>
                    <a:srgbClr val="2E2C28"/>
                  </a:solidFill>
                  <a:latin typeface="Calibri"/>
                  <a:ea typeface="Calibri"/>
                  <a:cs typeface="Calibri"/>
                  <a:sym typeface="Calibri"/>
                </a:rPr>
                <a:t>“Given that the sum of two dice is 7, what is the probability the first die is 2?”</a:t>
              </a:r>
              <a:endParaRPr b="0" sz="1500">
                <a:solidFill>
                  <a:srgbClr val="2E2C28"/>
                </a:solidFill>
                <a:latin typeface="Calibri"/>
                <a:ea typeface="Calibri"/>
                <a:cs typeface="Calibri"/>
                <a:sym typeface="Calibri"/>
              </a:endParaRPr>
            </a:p>
            <a:p>
              <a:pPr indent="0" lvl="0" marL="0" rtl="0" algn="l">
                <a:spcBef>
                  <a:spcPts val="900"/>
                </a:spcBef>
                <a:spcAft>
                  <a:spcPts val="0"/>
                </a:spcAft>
                <a:buNone/>
              </a:pPr>
              <a:r>
                <a:t/>
              </a:r>
              <a:endParaRPr>
                <a:latin typeface="Calibri"/>
                <a:ea typeface="Calibri"/>
                <a:cs typeface="Calibri"/>
                <a:sym typeface="Calibri"/>
              </a:endParaRPr>
            </a:p>
          </p:txBody>
        </p:sp>
      </p:grpSp>
      <p:grpSp>
        <p:nvGrpSpPr>
          <p:cNvPr id="475" name="Google Shape;475;p75"/>
          <p:cNvGrpSpPr/>
          <p:nvPr/>
        </p:nvGrpSpPr>
        <p:grpSpPr>
          <a:xfrm>
            <a:off x="4762500" y="1428750"/>
            <a:ext cx="3905400" cy="1905000"/>
            <a:chOff x="0" y="0"/>
            <a:chExt cx="3905400" cy="1905000"/>
          </a:xfrm>
        </p:grpSpPr>
        <p:sp>
          <p:nvSpPr>
            <p:cNvPr id="476" name="Google Shape;476;p75"/>
            <p:cNvSpPr/>
            <p:nvPr/>
          </p:nvSpPr>
          <p:spPr>
            <a:xfrm>
              <a:off x="0" y="0"/>
              <a:ext cx="3905400" cy="1905000"/>
            </a:xfrm>
            <a:prstGeom prst="roundRect">
              <a:avLst>
                <a:gd fmla="val 6000" name="adj"/>
              </a:avLst>
            </a:prstGeom>
            <a:solidFill>
              <a:srgbClr val="FFFFFF"/>
            </a:solidFill>
            <a:ln cap="flat" cmpd="sng" w="14300">
              <a:solidFill>
                <a:srgbClr val="D0D0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7" name="Google Shape;477;p75"/>
            <p:cNvSpPr txBox="1"/>
            <p:nvPr/>
          </p:nvSpPr>
          <p:spPr>
            <a:xfrm>
              <a:off x="190500" y="171450"/>
              <a:ext cx="3524400" cy="1562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8C1515"/>
                  </a:solidFill>
                  <a:latin typeface="Calibri"/>
                  <a:ea typeface="Calibri"/>
                  <a:cs typeface="Calibri"/>
                  <a:sym typeface="Calibri"/>
                </a:rPr>
                <a:t>Question 2</a:t>
              </a:r>
              <a:endParaRPr b="1" sz="1400">
                <a:solidFill>
                  <a:srgbClr val="8C1515"/>
                </a:solidFill>
                <a:latin typeface="Calibri"/>
                <a:ea typeface="Calibri"/>
                <a:cs typeface="Calibri"/>
                <a:sym typeface="Calibri"/>
              </a:endParaRPr>
            </a:p>
            <a:p>
              <a:pPr indent="0" lvl="0" marL="0" rtl="0" algn="l">
                <a:spcBef>
                  <a:spcPts val="600"/>
                </a:spcBef>
                <a:spcAft>
                  <a:spcPts val="0"/>
                </a:spcAft>
                <a:buNone/>
              </a:pPr>
              <a:r>
                <a:rPr b="0" lang="en" sz="1500">
                  <a:solidFill>
                    <a:srgbClr val="2E2C28"/>
                  </a:solidFill>
                  <a:latin typeface="Calibri"/>
                  <a:ea typeface="Calibri"/>
                  <a:cs typeface="Calibri"/>
                  <a:sym typeface="Calibri"/>
                </a:rPr>
                <a:t>“Given that the first die is 2, what is the probability the sum is 7?”</a:t>
              </a:r>
              <a:endParaRPr b="0" sz="1500">
                <a:solidFill>
                  <a:srgbClr val="2E2C28"/>
                </a:solidFill>
                <a:latin typeface="Calibri"/>
                <a:ea typeface="Calibri"/>
                <a:cs typeface="Calibri"/>
                <a:sym typeface="Calibri"/>
              </a:endParaRPr>
            </a:p>
            <a:p>
              <a:pPr indent="0" lvl="0" marL="0" rtl="0" algn="l">
                <a:spcBef>
                  <a:spcPts val="900"/>
                </a:spcBef>
                <a:spcAft>
                  <a:spcPts val="0"/>
                </a:spcAft>
                <a:buNone/>
              </a:pPr>
              <a:r>
                <a:t/>
              </a:r>
              <a:endParaRPr>
                <a:latin typeface="Calibri"/>
                <a:ea typeface="Calibri"/>
                <a:cs typeface="Calibri"/>
                <a:sym typeface="Calibri"/>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76"/>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3" name="Google Shape;483;p76"/>
          <p:cNvSpPr/>
          <p:nvPr/>
        </p:nvSpPr>
        <p:spPr>
          <a:xfrm>
            <a:off x="0" y="1200150"/>
            <a:ext cx="9144000" cy="3562200"/>
          </a:xfrm>
          <a:prstGeom prst="rect">
            <a:avLst/>
          </a:prstGeom>
          <a:solidFill>
            <a:srgbClr val="E7E6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4" name="Google Shape;484;p76"/>
          <p:cNvSpPr txBox="1"/>
          <p:nvPr/>
        </p:nvSpPr>
        <p:spPr>
          <a:xfrm>
            <a:off x="323850" y="266700"/>
            <a:ext cx="8496300" cy="819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800">
                <a:solidFill>
                  <a:srgbClr val="8C1515"/>
                </a:solidFill>
                <a:latin typeface="Georgia"/>
                <a:ea typeface="Georgia"/>
                <a:cs typeface="Georgia"/>
                <a:sym typeface="Georgia"/>
              </a:rPr>
              <a:t>After conditional probability, what changed when we learned something</a:t>
            </a:r>
            <a:endParaRPr sz="2800">
              <a:solidFill>
                <a:srgbClr val="8C1515"/>
              </a:solidFill>
              <a:latin typeface="Georgia"/>
              <a:ea typeface="Georgia"/>
              <a:cs typeface="Georgia"/>
              <a:sym typeface="Georgia"/>
            </a:endParaRPr>
          </a:p>
        </p:txBody>
      </p:sp>
      <p:grpSp>
        <p:nvGrpSpPr>
          <p:cNvPr id="485" name="Google Shape;485;p76"/>
          <p:cNvGrpSpPr/>
          <p:nvPr/>
        </p:nvGrpSpPr>
        <p:grpSpPr>
          <a:xfrm>
            <a:off x="476250" y="1428750"/>
            <a:ext cx="3905400" cy="1905000"/>
            <a:chOff x="0" y="0"/>
            <a:chExt cx="3905400" cy="1905000"/>
          </a:xfrm>
        </p:grpSpPr>
        <p:sp>
          <p:nvSpPr>
            <p:cNvPr id="486" name="Google Shape;486;p76"/>
            <p:cNvSpPr/>
            <p:nvPr/>
          </p:nvSpPr>
          <p:spPr>
            <a:xfrm>
              <a:off x="0" y="0"/>
              <a:ext cx="3905400" cy="1905000"/>
            </a:xfrm>
            <a:prstGeom prst="roundRect">
              <a:avLst>
                <a:gd fmla="val 6000" name="adj"/>
              </a:avLst>
            </a:prstGeom>
            <a:solidFill>
              <a:srgbClr val="FFFFFF"/>
            </a:solidFill>
            <a:ln cap="flat" cmpd="sng" w="14300">
              <a:solidFill>
                <a:srgbClr val="D0D0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7" name="Google Shape;487;p76"/>
            <p:cNvSpPr txBox="1"/>
            <p:nvPr/>
          </p:nvSpPr>
          <p:spPr>
            <a:xfrm>
              <a:off x="190500" y="171450"/>
              <a:ext cx="3524400" cy="1562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8C1515"/>
                  </a:solidFill>
                  <a:latin typeface="Calibri"/>
                  <a:ea typeface="Calibri"/>
                  <a:cs typeface="Calibri"/>
                  <a:sym typeface="Calibri"/>
                </a:rPr>
                <a:t>Question 1</a:t>
              </a:r>
              <a:endParaRPr b="1" sz="1400">
                <a:solidFill>
                  <a:srgbClr val="8C1515"/>
                </a:solidFill>
                <a:latin typeface="Calibri"/>
                <a:ea typeface="Calibri"/>
                <a:cs typeface="Calibri"/>
                <a:sym typeface="Calibri"/>
              </a:endParaRPr>
            </a:p>
            <a:p>
              <a:pPr indent="0" lvl="0" marL="0" rtl="0" algn="l">
                <a:spcBef>
                  <a:spcPts val="600"/>
                </a:spcBef>
                <a:spcAft>
                  <a:spcPts val="0"/>
                </a:spcAft>
                <a:buNone/>
              </a:pPr>
              <a:r>
                <a:rPr b="0" lang="en" sz="1500">
                  <a:solidFill>
                    <a:srgbClr val="2E2C28"/>
                  </a:solidFill>
                  <a:latin typeface="Calibri"/>
                  <a:ea typeface="Calibri"/>
                  <a:cs typeface="Calibri"/>
                  <a:sym typeface="Calibri"/>
                </a:rPr>
                <a:t>“Given that the sum of two dice is 7, what is the probability the first die is 2?”</a:t>
              </a:r>
              <a:endParaRPr b="0" sz="1500">
                <a:solidFill>
                  <a:srgbClr val="2E2C28"/>
                </a:solidFill>
                <a:latin typeface="Calibri"/>
                <a:ea typeface="Calibri"/>
                <a:cs typeface="Calibri"/>
                <a:sym typeface="Calibri"/>
              </a:endParaRPr>
            </a:p>
            <a:p>
              <a:pPr indent="0" lvl="0" marL="0" rtl="0" algn="l">
                <a:spcBef>
                  <a:spcPts val="900"/>
                </a:spcBef>
                <a:spcAft>
                  <a:spcPts val="0"/>
                </a:spcAft>
                <a:buNone/>
              </a:pPr>
              <a:r>
                <a:rPr b="1" lang="en" sz="1300">
                  <a:solidFill>
                    <a:srgbClr val="555555"/>
                  </a:solidFill>
                  <a:latin typeface="Calibri"/>
                  <a:ea typeface="Calibri"/>
                  <a:cs typeface="Calibri"/>
                  <a:sym typeface="Calibri"/>
                </a:rPr>
                <a:t>Result:</a:t>
              </a:r>
              <a:r>
                <a:rPr b="1" lang="en" sz="1800">
                  <a:solidFill>
                    <a:srgbClr val="8C1515"/>
                  </a:solidFill>
                  <a:latin typeface="Georgia"/>
                  <a:ea typeface="Georgia"/>
                  <a:cs typeface="Georgia"/>
                  <a:sym typeface="Georgia"/>
                </a:rPr>
                <a:t>1/6</a:t>
              </a:r>
              <a:endParaRPr>
                <a:latin typeface="Calibri"/>
                <a:ea typeface="Calibri"/>
                <a:cs typeface="Calibri"/>
                <a:sym typeface="Calibri"/>
              </a:endParaRPr>
            </a:p>
          </p:txBody>
        </p:sp>
      </p:grpSp>
      <p:grpSp>
        <p:nvGrpSpPr>
          <p:cNvPr id="488" name="Google Shape;488;p76"/>
          <p:cNvGrpSpPr/>
          <p:nvPr/>
        </p:nvGrpSpPr>
        <p:grpSpPr>
          <a:xfrm>
            <a:off x="4762500" y="1428750"/>
            <a:ext cx="3905400" cy="1905000"/>
            <a:chOff x="0" y="0"/>
            <a:chExt cx="3905400" cy="1905000"/>
          </a:xfrm>
        </p:grpSpPr>
        <p:sp>
          <p:nvSpPr>
            <p:cNvPr id="489" name="Google Shape;489;p76"/>
            <p:cNvSpPr/>
            <p:nvPr/>
          </p:nvSpPr>
          <p:spPr>
            <a:xfrm>
              <a:off x="0" y="0"/>
              <a:ext cx="3905400" cy="1905000"/>
            </a:xfrm>
            <a:prstGeom prst="roundRect">
              <a:avLst>
                <a:gd fmla="val 6000" name="adj"/>
              </a:avLst>
            </a:prstGeom>
            <a:solidFill>
              <a:srgbClr val="FFFFFF"/>
            </a:solidFill>
            <a:ln cap="flat" cmpd="sng" w="14300">
              <a:solidFill>
                <a:srgbClr val="D0D0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0" name="Google Shape;490;p76"/>
            <p:cNvSpPr txBox="1"/>
            <p:nvPr/>
          </p:nvSpPr>
          <p:spPr>
            <a:xfrm>
              <a:off x="190500" y="171450"/>
              <a:ext cx="3524400" cy="1562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8C1515"/>
                  </a:solidFill>
                  <a:latin typeface="Calibri"/>
                  <a:ea typeface="Calibri"/>
                  <a:cs typeface="Calibri"/>
                  <a:sym typeface="Calibri"/>
                </a:rPr>
                <a:t>Question 2</a:t>
              </a:r>
              <a:endParaRPr b="1" sz="1400">
                <a:solidFill>
                  <a:srgbClr val="8C1515"/>
                </a:solidFill>
                <a:latin typeface="Calibri"/>
                <a:ea typeface="Calibri"/>
                <a:cs typeface="Calibri"/>
                <a:sym typeface="Calibri"/>
              </a:endParaRPr>
            </a:p>
            <a:p>
              <a:pPr indent="0" lvl="0" marL="0" rtl="0" algn="l">
                <a:spcBef>
                  <a:spcPts val="600"/>
                </a:spcBef>
                <a:spcAft>
                  <a:spcPts val="0"/>
                </a:spcAft>
                <a:buNone/>
              </a:pPr>
              <a:r>
                <a:rPr b="0" lang="en" sz="1500">
                  <a:solidFill>
                    <a:srgbClr val="2E2C28"/>
                  </a:solidFill>
                  <a:latin typeface="Calibri"/>
                  <a:ea typeface="Calibri"/>
                  <a:cs typeface="Calibri"/>
                  <a:sym typeface="Calibri"/>
                </a:rPr>
                <a:t>“Given that the first die is 2, what is the probability the sum is 7?”</a:t>
              </a:r>
              <a:endParaRPr b="0" sz="1500">
                <a:solidFill>
                  <a:srgbClr val="2E2C28"/>
                </a:solidFill>
                <a:latin typeface="Calibri"/>
                <a:ea typeface="Calibri"/>
                <a:cs typeface="Calibri"/>
                <a:sym typeface="Calibri"/>
              </a:endParaRPr>
            </a:p>
            <a:p>
              <a:pPr indent="0" lvl="0" marL="0" rtl="0" algn="l">
                <a:spcBef>
                  <a:spcPts val="900"/>
                </a:spcBef>
                <a:spcAft>
                  <a:spcPts val="0"/>
                </a:spcAft>
                <a:buNone/>
              </a:pPr>
              <a:r>
                <a:rPr b="1" lang="en" sz="1300">
                  <a:solidFill>
                    <a:srgbClr val="555555"/>
                  </a:solidFill>
                  <a:latin typeface="Calibri"/>
                  <a:ea typeface="Calibri"/>
                  <a:cs typeface="Calibri"/>
                  <a:sym typeface="Calibri"/>
                </a:rPr>
                <a:t>Result:</a:t>
              </a:r>
              <a:r>
                <a:rPr b="1" lang="en" sz="1800">
                  <a:solidFill>
                    <a:srgbClr val="8C1515"/>
                  </a:solidFill>
                  <a:latin typeface="Georgia"/>
                  <a:ea typeface="Georgia"/>
                  <a:cs typeface="Georgia"/>
                  <a:sym typeface="Georgia"/>
                </a:rPr>
                <a:t>1/6</a:t>
              </a:r>
              <a:endParaRPr>
                <a:latin typeface="Calibri"/>
                <a:ea typeface="Calibri"/>
                <a:cs typeface="Calibri"/>
                <a:sym typeface="Calibri"/>
              </a:endParaRPr>
            </a:p>
          </p:txBody>
        </p:sp>
      </p:grpSp>
      <p:grpSp>
        <p:nvGrpSpPr>
          <p:cNvPr id="491" name="Google Shape;491;p76"/>
          <p:cNvGrpSpPr/>
          <p:nvPr/>
        </p:nvGrpSpPr>
        <p:grpSpPr>
          <a:xfrm>
            <a:off x="1714500" y="3571875"/>
            <a:ext cx="5715000" cy="857400"/>
            <a:chOff x="0" y="0"/>
            <a:chExt cx="5715000" cy="857400"/>
          </a:xfrm>
        </p:grpSpPr>
        <p:sp>
          <p:nvSpPr>
            <p:cNvPr id="492" name="Google Shape;492;p76"/>
            <p:cNvSpPr/>
            <p:nvPr/>
          </p:nvSpPr>
          <p:spPr>
            <a:xfrm>
              <a:off x="0" y="0"/>
              <a:ext cx="5715000" cy="857400"/>
            </a:xfrm>
            <a:prstGeom prst="roundRect">
              <a:avLst>
                <a:gd fmla="val 13333" name="adj"/>
              </a:avLst>
            </a:prstGeom>
            <a:solidFill>
              <a:srgbClr val="FFFFFF"/>
            </a:solidFill>
            <a:ln cap="flat" cmpd="sng" w="19050">
              <a:solidFill>
                <a:srgbClr val="8C15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3" name="Google Shape;493;p76"/>
            <p:cNvSpPr txBox="1"/>
            <p:nvPr/>
          </p:nvSpPr>
          <p:spPr>
            <a:xfrm>
              <a:off x="190500" y="114300"/>
              <a:ext cx="5334000" cy="628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800">
                  <a:solidFill>
                    <a:srgbClr val="2E2C28"/>
                  </a:solidFill>
                  <a:latin typeface="Calibri"/>
                  <a:ea typeface="Calibri"/>
                  <a:cs typeface="Calibri"/>
                  <a:sym typeface="Calibri"/>
                </a:rPr>
                <a:t>Did those answers have to match?</a:t>
              </a:r>
              <a:endParaRPr b="1" sz="1800">
                <a:solidFill>
                  <a:srgbClr val="2E2C28"/>
                </a:solidFill>
                <a:latin typeface="Calibri"/>
                <a:ea typeface="Calibri"/>
                <a:cs typeface="Calibri"/>
                <a:sym typeface="Calibri"/>
              </a:endParaRPr>
            </a:p>
            <a:p>
              <a:pPr indent="0" lvl="0" marL="0" rtl="0" algn="ctr">
                <a:spcBef>
                  <a:spcPts val="300"/>
                </a:spcBef>
                <a:spcAft>
                  <a:spcPts val="0"/>
                </a:spcAft>
                <a:buNone/>
              </a:pPr>
              <a:r>
                <a:rPr b="0" i="1" lang="en" sz="1300">
                  <a:solidFill>
                    <a:srgbClr val="8C1515"/>
                  </a:solidFill>
                  <a:latin typeface="Calibri"/>
                  <a:ea typeface="Calibri"/>
                  <a:cs typeface="Calibri"/>
                  <a:sym typeface="Calibri"/>
                </a:rPr>
                <a:t>This tees up Bayes’ Theorem</a:t>
              </a:r>
              <a:endParaRPr b="0" i="1" sz="1300">
                <a:solidFill>
                  <a:srgbClr val="8C1515"/>
                </a:solidFill>
                <a:latin typeface="Calibri"/>
                <a:ea typeface="Calibri"/>
                <a:cs typeface="Calibri"/>
                <a:sym typeface="Calibri"/>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77"/>
          <p:cNvSpPr txBox="1"/>
          <p:nvPr>
            <p:ph type="ctrTitle"/>
          </p:nvPr>
        </p:nvSpPr>
        <p:spPr>
          <a:xfrm>
            <a:off x="1004150" y="1751764"/>
            <a:ext cx="7136700" cy="1022400"/>
          </a:xfrm>
          <a:prstGeom prst="rect">
            <a:avLst/>
          </a:prstGeom>
        </p:spPr>
        <p:txBody>
          <a:bodyPr anchorCtr="0" anchor="b" bIns="45700" lIns="0" spcFirstLastPara="1" rIns="0" wrap="square" tIns="45700">
            <a:normAutofit/>
          </a:bodyPr>
          <a:lstStyle/>
          <a:p>
            <a:pPr indent="0" lvl="0" marL="0" rtl="0" algn="ctr">
              <a:spcBef>
                <a:spcPts val="0"/>
              </a:spcBef>
              <a:spcAft>
                <a:spcPts val="0"/>
              </a:spcAft>
              <a:buNone/>
            </a:pPr>
            <a:r>
              <a:rPr lang="en"/>
              <a:t>Bayes’ Theorem</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78"/>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4" name="Google Shape;504;p78"/>
          <p:cNvSpPr/>
          <p:nvPr/>
        </p:nvSpPr>
        <p:spPr>
          <a:xfrm>
            <a:off x="0" y="1200150"/>
            <a:ext cx="9144000" cy="3562200"/>
          </a:xfrm>
          <a:prstGeom prst="rect">
            <a:avLst/>
          </a:prstGeom>
          <a:solidFill>
            <a:srgbClr val="E7E6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5" name="Google Shape;505;p78"/>
          <p:cNvSpPr txBox="1"/>
          <p:nvPr/>
        </p:nvSpPr>
        <p:spPr>
          <a:xfrm>
            <a:off x="323850" y="266700"/>
            <a:ext cx="8496300" cy="819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800">
                <a:solidFill>
                  <a:srgbClr val="8C1515"/>
                </a:solidFill>
                <a:latin typeface="Georgia"/>
                <a:ea typeface="Georgia"/>
                <a:cs typeface="Georgia"/>
                <a:sym typeface="Georgia"/>
              </a:rPr>
              <a:t>Bayes’ Theorem (my favorite, and everyone’s)</a:t>
            </a:r>
            <a:endParaRPr b="0" sz="2800">
              <a:solidFill>
                <a:srgbClr val="8C1515"/>
              </a:solidFill>
              <a:latin typeface="Georgia"/>
              <a:ea typeface="Georgia"/>
              <a:cs typeface="Georgia"/>
              <a:sym typeface="Georgia"/>
            </a:endParaRPr>
          </a:p>
        </p:txBody>
      </p:sp>
      <p:sp>
        <p:nvSpPr>
          <p:cNvPr id="506" name="Google Shape;506;p78"/>
          <p:cNvSpPr txBox="1"/>
          <p:nvPr/>
        </p:nvSpPr>
        <p:spPr>
          <a:xfrm>
            <a:off x="407670" y="1334770"/>
            <a:ext cx="84963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800">
                <a:solidFill>
                  <a:srgbClr val="2E2C28"/>
                </a:solidFill>
                <a:latin typeface="Calibri"/>
                <a:ea typeface="Calibri"/>
                <a:cs typeface="Calibri"/>
                <a:sym typeface="Calibri"/>
              </a:rPr>
              <a:t>The #1 rule to remember from this class… can we derive this?</a:t>
            </a:r>
            <a:endParaRPr b="1" sz="1800">
              <a:solidFill>
                <a:srgbClr val="2E2C28"/>
              </a:solidFill>
              <a:latin typeface="Calibri"/>
              <a:ea typeface="Calibri"/>
              <a:cs typeface="Calibri"/>
              <a:sym typeface="Calibri"/>
            </a:endParaRPr>
          </a:p>
        </p:txBody>
      </p:sp>
      <p:grpSp>
        <p:nvGrpSpPr>
          <p:cNvPr id="507" name="Google Shape;507;p78"/>
          <p:cNvGrpSpPr/>
          <p:nvPr/>
        </p:nvGrpSpPr>
        <p:grpSpPr>
          <a:xfrm>
            <a:off x="1905000" y="2190750"/>
            <a:ext cx="5334000" cy="1428900"/>
            <a:chOff x="0" y="0"/>
            <a:chExt cx="5334000" cy="1428900"/>
          </a:xfrm>
        </p:grpSpPr>
        <p:sp>
          <p:nvSpPr>
            <p:cNvPr id="508" name="Google Shape;508;p78"/>
            <p:cNvSpPr/>
            <p:nvPr/>
          </p:nvSpPr>
          <p:spPr>
            <a:xfrm>
              <a:off x="0" y="0"/>
              <a:ext cx="5334000" cy="1428900"/>
            </a:xfrm>
            <a:prstGeom prst="roundRect">
              <a:avLst>
                <a:gd fmla="val 8000" name="adj"/>
              </a:avLst>
            </a:prstGeom>
            <a:solidFill>
              <a:srgbClr val="FFFFFF"/>
            </a:solidFill>
            <a:ln cap="flat" cmpd="sng" w="19050">
              <a:solidFill>
                <a:srgbClr val="8C15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9" name="Google Shape;509;p78"/>
            <p:cNvSpPr txBox="1"/>
            <p:nvPr/>
          </p:nvSpPr>
          <p:spPr>
            <a:xfrm>
              <a:off x="190500" y="190500"/>
              <a:ext cx="4953000" cy="1047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800">
                  <a:solidFill>
                    <a:srgbClr val="2E2C28"/>
                  </a:solidFill>
                  <a:latin typeface="Georgia"/>
                  <a:ea typeface="Georgia"/>
                  <a:cs typeface="Georgia"/>
                  <a:sym typeface="Georgia"/>
                </a:rPr>
                <a:t>P(A|B) = </a:t>
              </a:r>
              <a:r>
                <a:rPr lang="en" sz="2800">
                  <a:solidFill>
                    <a:srgbClr val="8C1515"/>
                  </a:solidFill>
                  <a:latin typeface="Georgia"/>
                  <a:ea typeface="Georgia"/>
                  <a:cs typeface="Georgia"/>
                  <a:sym typeface="Georgia"/>
                </a:rPr>
                <a:t>P(B|A) · P(A)</a:t>
              </a:r>
              <a:r>
                <a:rPr lang="en" sz="2800">
                  <a:solidFill>
                    <a:srgbClr val="2E2C28"/>
                  </a:solidFill>
                  <a:latin typeface="Georgia"/>
                  <a:ea typeface="Georgia"/>
                  <a:cs typeface="Georgia"/>
                  <a:sym typeface="Georgia"/>
                </a:rPr>
                <a:t> / </a:t>
              </a:r>
              <a:r>
                <a:rPr lang="en" sz="2800">
                  <a:solidFill>
                    <a:srgbClr val="071699"/>
                  </a:solidFill>
                  <a:latin typeface="Georgia"/>
                  <a:ea typeface="Georgia"/>
                  <a:cs typeface="Georgia"/>
                  <a:sym typeface="Georgia"/>
                </a:rPr>
                <a:t>P(B)</a:t>
              </a:r>
              <a:endParaRPr sz="2800">
                <a:solidFill>
                  <a:srgbClr val="2E2C28"/>
                </a:solidFill>
                <a:latin typeface="Georgia"/>
                <a:ea typeface="Georgia"/>
                <a:cs typeface="Georgia"/>
                <a:sym typeface="Georgia"/>
              </a:endParaRPr>
            </a:p>
          </p:txBody>
        </p:sp>
      </p:grpSp>
      <p:grpSp>
        <p:nvGrpSpPr>
          <p:cNvPr id="510" name="Google Shape;510;p78"/>
          <p:cNvGrpSpPr/>
          <p:nvPr/>
        </p:nvGrpSpPr>
        <p:grpSpPr>
          <a:xfrm>
            <a:off x="762000" y="3905250"/>
            <a:ext cx="1714500" cy="666900"/>
            <a:chOff x="0" y="0"/>
            <a:chExt cx="1714500" cy="666900"/>
          </a:xfrm>
        </p:grpSpPr>
        <p:sp>
          <p:nvSpPr>
            <p:cNvPr id="511" name="Google Shape;511;p78"/>
            <p:cNvSpPr/>
            <p:nvPr/>
          </p:nvSpPr>
          <p:spPr>
            <a:xfrm>
              <a:off x="0" y="0"/>
              <a:ext cx="1714500" cy="666900"/>
            </a:xfrm>
            <a:prstGeom prst="roundRect">
              <a:avLst>
                <a:gd fmla="val 11428" name="adj"/>
              </a:avLst>
            </a:prstGeom>
            <a:solidFill>
              <a:srgbClr val="FFFFFF"/>
            </a:solidFill>
            <a:ln cap="flat" cmpd="sng" w="9525">
              <a:solidFill>
                <a:srgbClr val="D0D0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2" name="Google Shape;512;p78"/>
            <p:cNvSpPr txBox="1"/>
            <p:nvPr/>
          </p:nvSpPr>
          <p:spPr>
            <a:xfrm>
              <a:off x="95250" y="76200"/>
              <a:ext cx="15240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300">
                  <a:solidFill>
                    <a:srgbClr val="2E2C28"/>
                  </a:solidFill>
                  <a:latin typeface="Calibri"/>
                  <a:ea typeface="Calibri"/>
                  <a:cs typeface="Calibri"/>
                  <a:sym typeface="Calibri"/>
                </a:rPr>
                <a:t>Posterior</a:t>
              </a:r>
              <a:endParaRPr b="1" sz="1300">
                <a:solidFill>
                  <a:srgbClr val="2E2C28"/>
                </a:solidFill>
                <a:latin typeface="Calibri"/>
                <a:ea typeface="Calibri"/>
                <a:cs typeface="Calibri"/>
                <a:sym typeface="Calibri"/>
              </a:endParaRPr>
            </a:p>
          </p:txBody>
        </p:sp>
        <p:sp>
          <p:nvSpPr>
            <p:cNvPr id="513" name="Google Shape;513;p78"/>
            <p:cNvSpPr txBox="1"/>
            <p:nvPr/>
          </p:nvSpPr>
          <p:spPr>
            <a:xfrm>
              <a:off x="95250" y="304800"/>
              <a:ext cx="1524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35">
                  <a:solidFill>
                    <a:srgbClr val="555555"/>
                  </a:solidFill>
                  <a:latin typeface="Calibri"/>
                  <a:ea typeface="Calibri"/>
                  <a:cs typeface="Calibri"/>
                  <a:sym typeface="Calibri"/>
                </a:rPr>
                <a:t>P(A|B): Updated belief after evidence</a:t>
              </a:r>
              <a:endParaRPr sz="935">
                <a:solidFill>
                  <a:srgbClr val="555555"/>
                </a:solidFill>
                <a:latin typeface="Calibri"/>
                <a:ea typeface="Calibri"/>
                <a:cs typeface="Calibri"/>
                <a:sym typeface="Calibri"/>
              </a:endParaRPr>
            </a:p>
          </p:txBody>
        </p:sp>
      </p:grpSp>
      <p:grpSp>
        <p:nvGrpSpPr>
          <p:cNvPr id="514" name="Google Shape;514;p78"/>
          <p:cNvGrpSpPr/>
          <p:nvPr/>
        </p:nvGrpSpPr>
        <p:grpSpPr>
          <a:xfrm>
            <a:off x="2762250" y="3905250"/>
            <a:ext cx="1714500" cy="666900"/>
            <a:chOff x="0" y="0"/>
            <a:chExt cx="1714500" cy="666900"/>
          </a:xfrm>
        </p:grpSpPr>
        <p:sp>
          <p:nvSpPr>
            <p:cNvPr id="515" name="Google Shape;515;p78"/>
            <p:cNvSpPr/>
            <p:nvPr/>
          </p:nvSpPr>
          <p:spPr>
            <a:xfrm>
              <a:off x="0" y="0"/>
              <a:ext cx="1714500" cy="666900"/>
            </a:xfrm>
            <a:prstGeom prst="roundRect">
              <a:avLst>
                <a:gd fmla="val 11428" name="adj"/>
              </a:avLst>
            </a:prstGeom>
            <a:solidFill>
              <a:srgbClr val="FFFFFF"/>
            </a:solidFill>
            <a:ln cap="flat" cmpd="sng" w="9525">
              <a:solidFill>
                <a:srgbClr val="D0D0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6" name="Google Shape;516;p78"/>
            <p:cNvSpPr txBox="1"/>
            <p:nvPr/>
          </p:nvSpPr>
          <p:spPr>
            <a:xfrm>
              <a:off x="95250" y="76200"/>
              <a:ext cx="15240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300">
                  <a:solidFill>
                    <a:srgbClr val="8C1515"/>
                  </a:solidFill>
                  <a:latin typeface="Calibri"/>
                  <a:ea typeface="Calibri"/>
                  <a:cs typeface="Calibri"/>
                  <a:sym typeface="Calibri"/>
                </a:rPr>
                <a:t>Likelihood &amp; Prior</a:t>
              </a:r>
              <a:endParaRPr b="1" sz="1300">
                <a:solidFill>
                  <a:srgbClr val="8C1515"/>
                </a:solidFill>
                <a:latin typeface="Calibri"/>
                <a:ea typeface="Calibri"/>
                <a:cs typeface="Calibri"/>
                <a:sym typeface="Calibri"/>
              </a:endParaRPr>
            </a:p>
          </p:txBody>
        </p:sp>
        <p:sp>
          <p:nvSpPr>
            <p:cNvPr id="517" name="Google Shape;517;p78"/>
            <p:cNvSpPr txBox="1"/>
            <p:nvPr/>
          </p:nvSpPr>
          <p:spPr>
            <a:xfrm>
              <a:off x="95250" y="304800"/>
              <a:ext cx="1524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35">
                  <a:solidFill>
                    <a:srgbClr val="555555"/>
                  </a:solidFill>
                  <a:latin typeface="Calibri"/>
                  <a:ea typeface="Calibri"/>
                  <a:cs typeface="Calibri"/>
                  <a:sym typeface="Calibri"/>
                </a:rPr>
                <a:t>P(B|A) · P(A): Evidence fit &amp; initial belief</a:t>
              </a:r>
              <a:endParaRPr sz="935">
                <a:solidFill>
                  <a:srgbClr val="555555"/>
                </a:solidFill>
                <a:latin typeface="Calibri"/>
                <a:ea typeface="Calibri"/>
                <a:cs typeface="Calibri"/>
                <a:sym typeface="Calibri"/>
              </a:endParaRPr>
            </a:p>
          </p:txBody>
        </p:sp>
      </p:grpSp>
      <p:grpSp>
        <p:nvGrpSpPr>
          <p:cNvPr id="518" name="Google Shape;518;p78"/>
          <p:cNvGrpSpPr/>
          <p:nvPr/>
        </p:nvGrpSpPr>
        <p:grpSpPr>
          <a:xfrm>
            <a:off x="4762500" y="3905250"/>
            <a:ext cx="1714500" cy="666900"/>
            <a:chOff x="0" y="0"/>
            <a:chExt cx="1714500" cy="666900"/>
          </a:xfrm>
        </p:grpSpPr>
        <p:sp>
          <p:nvSpPr>
            <p:cNvPr id="519" name="Google Shape;519;p78"/>
            <p:cNvSpPr/>
            <p:nvPr/>
          </p:nvSpPr>
          <p:spPr>
            <a:xfrm>
              <a:off x="0" y="0"/>
              <a:ext cx="1714500" cy="666900"/>
            </a:xfrm>
            <a:prstGeom prst="roundRect">
              <a:avLst>
                <a:gd fmla="val 11428" name="adj"/>
              </a:avLst>
            </a:prstGeom>
            <a:solidFill>
              <a:srgbClr val="FFFFFF"/>
            </a:solidFill>
            <a:ln cap="flat" cmpd="sng" w="9525">
              <a:solidFill>
                <a:srgbClr val="D0D0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0" name="Google Shape;520;p78"/>
            <p:cNvSpPr txBox="1"/>
            <p:nvPr/>
          </p:nvSpPr>
          <p:spPr>
            <a:xfrm>
              <a:off x="95250" y="76200"/>
              <a:ext cx="15240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300">
                  <a:solidFill>
                    <a:srgbClr val="071699"/>
                  </a:solidFill>
                  <a:latin typeface="Calibri"/>
                  <a:ea typeface="Calibri"/>
                  <a:cs typeface="Calibri"/>
                  <a:sym typeface="Calibri"/>
                </a:rPr>
                <a:t>Marginal</a:t>
              </a:r>
              <a:endParaRPr b="1" sz="1300">
                <a:solidFill>
                  <a:srgbClr val="071699"/>
                </a:solidFill>
                <a:latin typeface="Calibri"/>
                <a:ea typeface="Calibri"/>
                <a:cs typeface="Calibri"/>
                <a:sym typeface="Calibri"/>
              </a:endParaRPr>
            </a:p>
          </p:txBody>
        </p:sp>
        <p:sp>
          <p:nvSpPr>
            <p:cNvPr id="521" name="Google Shape;521;p78"/>
            <p:cNvSpPr txBox="1"/>
            <p:nvPr/>
          </p:nvSpPr>
          <p:spPr>
            <a:xfrm>
              <a:off x="95250" y="304800"/>
              <a:ext cx="1524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35">
                  <a:solidFill>
                    <a:srgbClr val="555555"/>
                  </a:solidFill>
                  <a:latin typeface="Calibri"/>
                  <a:ea typeface="Calibri"/>
                  <a:cs typeface="Calibri"/>
                  <a:sym typeface="Calibri"/>
                </a:rPr>
                <a:t>P(B): Total probability of evidence</a:t>
              </a:r>
              <a:endParaRPr sz="935">
                <a:solidFill>
                  <a:srgbClr val="555555"/>
                </a:solidFill>
                <a:latin typeface="Calibri"/>
                <a:ea typeface="Calibri"/>
                <a:cs typeface="Calibri"/>
                <a:sym typeface="Calibri"/>
              </a:endParaRPr>
            </a:p>
          </p:txBody>
        </p:sp>
      </p:grpSp>
      <p:pic>
        <p:nvPicPr>
          <p:cNvPr id="522" name="Google Shape;522;p78"/>
          <p:cNvPicPr preferRelativeResize="0"/>
          <p:nvPr/>
        </p:nvPicPr>
        <p:blipFill rotWithShape="1">
          <a:blip r:embed="rId3">
            <a:alphaModFix/>
          </a:blip>
          <a:srcRect b="0" l="0" r="0" t="0"/>
          <a:stretch/>
        </p:blipFill>
        <p:spPr>
          <a:xfrm>
            <a:off x="1614488" y="3328988"/>
            <a:ext cx="866700" cy="585900"/>
          </a:xfrm>
          <a:prstGeom prst="rect">
            <a:avLst/>
          </a:prstGeom>
          <a:noFill/>
          <a:ln>
            <a:noFill/>
          </a:ln>
        </p:spPr>
      </p:pic>
      <p:pic>
        <p:nvPicPr>
          <p:cNvPr id="523" name="Google Shape;523;p78"/>
          <p:cNvPicPr preferRelativeResize="0"/>
          <p:nvPr/>
        </p:nvPicPr>
        <p:blipFill rotWithShape="1">
          <a:blip r:embed="rId4">
            <a:alphaModFix/>
          </a:blip>
          <a:srcRect b="0" l="0" r="0" t="0"/>
          <a:stretch/>
        </p:blipFill>
        <p:spPr>
          <a:xfrm>
            <a:off x="3614738" y="3328988"/>
            <a:ext cx="676200" cy="581100"/>
          </a:xfrm>
          <a:prstGeom prst="rect">
            <a:avLst/>
          </a:prstGeom>
          <a:noFill/>
          <a:ln>
            <a:noFill/>
          </a:ln>
        </p:spPr>
      </p:pic>
      <p:pic>
        <p:nvPicPr>
          <p:cNvPr id="524" name="Google Shape;524;p78"/>
          <p:cNvPicPr preferRelativeResize="0"/>
          <p:nvPr/>
        </p:nvPicPr>
        <p:blipFill rotWithShape="1">
          <a:blip r:embed="rId5">
            <a:alphaModFix/>
          </a:blip>
          <a:srcRect b="0" l="0" r="0" t="0"/>
          <a:stretch/>
        </p:blipFill>
        <p:spPr>
          <a:xfrm>
            <a:off x="5048250" y="3333750"/>
            <a:ext cx="576300" cy="5763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pic>
        <p:nvPicPr>
          <p:cNvPr id="529" name="Google Shape;529;p79"/>
          <p:cNvPicPr preferRelativeResize="0"/>
          <p:nvPr/>
        </p:nvPicPr>
        <p:blipFill>
          <a:blip r:embed="rId3">
            <a:alphaModFix/>
          </a:blip>
          <a:stretch>
            <a:fillRect/>
          </a:stretch>
        </p:blipFill>
        <p:spPr>
          <a:xfrm>
            <a:off x="2872012" y="119550"/>
            <a:ext cx="3399974" cy="48387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80"/>
          <p:cNvSpPr txBox="1"/>
          <p:nvPr>
            <p:ph type="ctrTitle"/>
          </p:nvPr>
        </p:nvSpPr>
        <p:spPr>
          <a:xfrm>
            <a:off x="1004150" y="1751764"/>
            <a:ext cx="7136700" cy="1022400"/>
          </a:xfrm>
          <a:prstGeom prst="rect">
            <a:avLst/>
          </a:prstGeom>
        </p:spPr>
        <p:txBody>
          <a:bodyPr anchorCtr="0" anchor="b" bIns="45700" lIns="0" spcFirstLastPara="1" rIns="0" wrap="square" tIns="45700">
            <a:normAutofit fontScale="90000"/>
          </a:bodyPr>
          <a:lstStyle/>
          <a:p>
            <a:pPr indent="0" lvl="0" marL="0" rtl="0" algn="ctr">
              <a:spcBef>
                <a:spcPts val="0"/>
              </a:spcBef>
              <a:spcAft>
                <a:spcPts val="0"/>
              </a:spcAft>
              <a:buNone/>
            </a:pPr>
            <a:r>
              <a:rPr lang="en"/>
              <a:t>Law of Total Probability</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81"/>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SzPts val="990"/>
              <a:buNone/>
            </a:pPr>
            <a:r>
              <a:rPr lang="en" sz="2780"/>
              <a:t>Law of Total Probability (often need with Bayes’ rule)</a:t>
            </a:r>
            <a:endParaRPr sz="2780"/>
          </a:p>
        </p:txBody>
      </p:sp>
      <p:sp>
        <p:nvSpPr>
          <p:cNvPr id="540" name="Google Shape;540;p81"/>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a:t>Split E into pieces using an event M you can condition on:</a:t>
            </a:r>
            <a:endParaRPr/>
          </a:p>
          <a:p>
            <a:pPr indent="0" lvl="0" marL="0" rtl="0" algn="l">
              <a:spcBef>
                <a:spcPts val="750"/>
              </a:spcBef>
              <a:spcAft>
                <a:spcPts val="0"/>
              </a:spcAft>
              <a:buNone/>
            </a:pPr>
            <a:r>
              <a:t/>
            </a:r>
            <a:endParaRPr/>
          </a:p>
          <a:p>
            <a:pPr indent="0" lvl="0" marL="0" rtl="0" algn="l">
              <a:spcBef>
                <a:spcPts val="750"/>
              </a:spcBef>
              <a:spcAft>
                <a:spcPts val="0"/>
              </a:spcAft>
              <a:buNone/>
            </a:pPr>
            <a:r>
              <a:rPr lang="en"/>
              <a:t>P(E) = P(EM) + P(EMᶜ)          (Mᶜ = “not M”)</a:t>
            </a:r>
            <a:endParaRPr/>
          </a:p>
          <a:p>
            <a:pPr indent="0" lvl="0" marL="0" rtl="0" algn="l">
              <a:spcBef>
                <a:spcPts val="750"/>
              </a:spcBef>
              <a:spcAft>
                <a:spcPts val="0"/>
              </a:spcAft>
              <a:buNone/>
            </a:pPr>
            <a:r>
              <a:rPr lang="en"/>
              <a:t>        = P(E | M) · P(M) + P(E | Mᶜ) · P(Mᶜ)</a:t>
            </a:r>
            <a:endParaRPr/>
          </a:p>
          <a:p>
            <a:pPr indent="0" lvl="0" marL="0" rtl="0" algn="l">
              <a:spcBef>
                <a:spcPts val="750"/>
              </a:spcBef>
              <a:spcAft>
                <a:spcPts val="0"/>
              </a:spcAft>
              <a:buNone/>
            </a:pPr>
            <a:r>
              <a:t/>
            </a:r>
            <a:endParaRPr/>
          </a:p>
          <a:p>
            <a:pPr indent="0" lvl="0" marL="0" rtl="0" algn="l">
              <a:spcBef>
                <a:spcPts val="750"/>
              </a:spcBef>
              <a:spcAft>
                <a:spcPts val="0"/>
              </a:spcAft>
              <a:buNone/>
            </a:pPr>
            <a:r>
              <a:t/>
            </a:r>
            <a:endParaRPr/>
          </a:p>
          <a:p>
            <a:pPr indent="0" lvl="0" marL="0" rtl="0" algn="l">
              <a:spcBef>
                <a:spcPts val="750"/>
              </a:spcBef>
              <a:spcAft>
                <a:spcPts val="0"/>
              </a:spcAft>
              <a:buNone/>
            </a:pPr>
            <a:r>
              <a:rPr lang="en"/>
              <a:t>General: if B₁, B₂, … partition S, P(E) = Σᵢ P(E | Bᵢ) · P(Bᵢ)</a:t>
            </a:r>
            <a:endParaRPr/>
          </a:p>
          <a:p>
            <a:pPr indent="0" lvl="0" marL="0" rtl="0" algn="l">
              <a:spcBef>
                <a:spcPts val="750"/>
              </a:spcBef>
              <a:spcAft>
                <a:spcPts val="0"/>
              </a:spcAft>
              <a:buNone/>
            </a:pPr>
            <a:r>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82"/>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A Good Visual</a:t>
            </a:r>
            <a:endParaRPr/>
          </a:p>
        </p:txBody>
      </p:sp>
      <p:pic>
        <p:nvPicPr>
          <p:cNvPr id="546" name="Google Shape;546;p82" title="Screenshot 2026-09-28 at 9.26.12 PM.png"/>
          <p:cNvPicPr preferRelativeResize="0"/>
          <p:nvPr/>
        </p:nvPicPr>
        <p:blipFill>
          <a:blip r:embed="rId3">
            <a:alphaModFix/>
          </a:blip>
          <a:stretch>
            <a:fillRect/>
          </a:stretch>
        </p:blipFill>
        <p:spPr>
          <a:xfrm>
            <a:off x="558025" y="1695274"/>
            <a:ext cx="8027851" cy="245202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83"/>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Law of Total Probability Example</a:t>
            </a:r>
            <a:endParaRPr/>
          </a:p>
        </p:txBody>
      </p:sp>
      <p:sp>
        <p:nvSpPr>
          <p:cNvPr id="552" name="Google Shape;552;p83"/>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0" lvl="0" marL="0" rtl="0" algn="l">
              <a:spcBef>
                <a:spcPts val="750"/>
              </a:spcBef>
              <a:spcAft>
                <a:spcPts val="0"/>
              </a:spcAft>
              <a:buNone/>
            </a:pPr>
            <a:r>
              <a:rPr b="1" lang="en">
                <a:solidFill>
                  <a:schemeClr val="dk1"/>
                </a:solidFill>
              </a:rPr>
              <a:t>Ex (lecture): 10% of bacteria have a mutation (M). Survival (E): 20% if M, 1% if not.</a:t>
            </a:r>
            <a:endParaRPr b="1">
              <a:solidFill>
                <a:schemeClr val="dk1"/>
              </a:solidFill>
            </a:endParaRPr>
          </a:p>
          <a:p>
            <a:pPr indent="0" lvl="0" marL="0" rtl="0" algn="l">
              <a:spcBef>
                <a:spcPts val="750"/>
              </a:spcBef>
              <a:spcAft>
                <a:spcPts val="0"/>
              </a:spcAft>
              <a:buNone/>
            </a:pPr>
            <a:r>
              <a:t/>
            </a:r>
            <a:endParaRPr>
              <a:solidFill>
                <a:schemeClr val="dk1"/>
              </a:solidFill>
            </a:endParaRPr>
          </a:p>
          <a:p>
            <a:pPr indent="0" lvl="0" marL="0" rtl="0" algn="l">
              <a:spcBef>
                <a:spcPts val="750"/>
              </a:spcBef>
              <a:spcAft>
                <a:spcPts val="0"/>
              </a:spcAft>
              <a:buNone/>
            </a:pPr>
            <a:r>
              <a:rPr lang="en"/>
              <a:t>P(E) = (0.20)(0.10) + (0.01)(0.90) = 0.020 + 0.009 = 0.029</a:t>
            </a:r>
            <a:endParaRPr/>
          </a:p>
          <a:p>
            <a:pPr indent="0" lvl="0" marL="0" rtl="0" algn="l">
              <a:spcBef>
                <a:spcPts val="750"/>
              </a:spcBef>
              <a:spcAft>
                <a:spcPts val="0"/>
              </a:spcAft>
              <a:buNone/>
            </a:pPr>
            <a:r>
              <a:t/>
            </a:r>
            <a:endParaRPr/>
          </a:p>
          <a:p>
            <a:pPr indent="0" lvl="0" marL="0" rtl="0" algn="l">
              <a:spcBef>
                <a:spcPts val="750"/>
              </a:spcBef>
              <a:spcAft>
                <a:spcPts val="0"/>
              </a:spcAft>
              <a:buNone/>
            </a:pPr>
            <a:r>
              <a:rPr i="1" lang="en"/>
              <a:t>Followup: can we draw this visually?</a:t>
            </a:r>
            <a:endParaRPr i="1"/>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84"/>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LOTP: Think in Trees</a:t>
            </a:r>
            <a:endParaRPr/>
          </a:p>
        </p:txBody>
      </p:sp>
      <p:sp>
        <p:nvSpPr>
          <p:cNvPr id="558" name="Google Shape;558;p84"/>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Branch first on what you can condition on (M or Mᶜ), then on E</a:t>
            </a:r>
            <a:endParaRPr sz="1800"/>
          </a:p>
          <a:p>
            <a:pPr indent="0" lvl="0" marL="0" rtl="0" algn="l">
              <a:spcBef>
                <a:spcPts val="750"/>
              </a:spcBef>
              <a:spcAft>
                <a:spcPts val="0"/>
              </a:spcAft>
              <a:buNone/>
            </a:pPr>
            <a:r>
              <a:rPr lang="en" sz="1800"/>
              <a:t>Multiply along a branch (chain rule): P(E M) = P(M) · P(E | M)</a:t>
            </a:r>
            <a:endParaRPr sz="1800"/>
          </a:p>
          <a:p>
            <a:pPr indent="0" lvl="0" marL="0" rtl="0" algn="l">
              <a:spcBef>
                <a:spcPts val="750"/>
              </a:spcBef>
              <a:spcAft>
                <a:spcPts val="0"/>
              </a:spcAft>
              <a:buNone/>
            </a:pPr>
            <a:r>
              <a:rPr lang="en" sz="1800"/>
              <a:t>Add up the branches that end in E (LOTP)</a:t>
            </a:r>
            <a:endParaRPr sz="1800"/>
          </a:p>
          <a:p>
            <a:pPr indent="0" lvl="0" marL="0" rtl="0" algn="l">
              <a:spcBef>
                <a:spcPts val="750"/>
              </a:spcBef>
              <a:spcAft>
                <a:spcPts val="0"/>
              </a:spcAft>
              <a:buNone/>
            </a:pPr>
            <a:r>
              <a:rPr lang="en" sz="1800"/>
              <a:t>Bacteria: M (0.10) → survive (0.20) = 0.020</a:t>
            </a:r>
            <a:endParaRPr sz="1800"/>
          </a:p>
          <a:p>
            <a:pPr indent="0" lvl="0" marL="0" rtl="0" algn="l">
              <a:spcBef>
                <a:spcPts val="750"/>
              </a:spcBef>
              <a:spcAft>
                <a:spcPts val="0"/>
              </a:spcAft>
              <a:buNone/>
            </a:pPr>
            <a:r>
              <a:rPr lang="en" sz="1800"/>
              <a:t>                Mᶜ (0.90) → survive (0.01) = 0.009</a:t>
            </a:r>
            <a:endParaRPr sz="1800"/>
          </a:p>
          <a:p>
            <a:pPr indent="0" lvl="0" marL="0" rtl="0" algn="l">
              <a:spcBef>
                <a:spcPts val="750"/>
              </a:spcBef>
              <a:spcAft>
                <a:spcPts val="0"/>
              </a:spcAft>
              <a:buNone/>
            </a:pPr>
            <a:r>
              <a:rPr lang="en" sz="1800"/>
              <a:t>P(E) = 0.029: a weighted average of 20% and 1%</a:t>
            </a:r>
            <a:endParaRPr sz="1800"/>
          </a:p>
          <a:p>
            <a:pPr indent="0" lvl="0" marL="0" rtl="0" algn="l">
              <a:spcBef>
                <a:spcPts val="750"/>
              </a:spcBef>
              <a:spcAft>
                <a:spcPts val="0"/>
              </a:spcAft>
              <a:buNone/>
            </a:pPr>
            <a:r>
              <a:rPr lang="en" sz="1800"/>
              <a:t>Branches must partition S: no overlaps, nothing missing</a:t>
            </a:r>
            <a:endParaRPr sz="1800"/>
          </a:p>
        </p:txBody>
      </p:sp>
      <p:sp>
        <p:nvSpPr>
          <p:cNvPr id="559" name="Google Shape;559;p84"/>
          <p:cNvSpPr/>
          <p:nvPr/>
        </p:nvSpPr>
        <p:spPr>
          <a:xfrm>
            <a:off x="508000" y="4089400"/>
            <a:ext cx="8127900" cy="482700"/>
          </a:xfrm>
          <a:prstGeom prst="roundRect">
            <a:avLst>
              <a:gd fmla="val 16667" name="adj"/>
            </a:avLst>
          </a:prstGeom>
          <a:solidFill>
            <a:srgbClr val="F4E6E6"/>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8C1515"/>
                </a:solidFill>
                <a:latin typeface="Calibri"/>
                <a:ea typeface="Calibri"/>
                <a:cs typeface="Calibri"/>
                <a:sym typeface="Calibri"/>
              </a:rPr>
              <a:t>Key idea:  P(E) = Σᵢ P(E | Bᵢ) P(Bᵢ)   for any partition </a:t>
            </a:r>
            <a:r>
              <a:rPr b="1" lang="en" sz="1600">
                <a:solidFill>
                  <a:srgbClr val="8C1515"/>
                </a:solidFill>
                <a:latin typeface="Calibri"/>
                <a:ea typeface="Calibri"/>
                <a:cs typeface="Calibri"/>
                <a:sym typeface="Calibri"/>
              </a:rPr>
              <a:t>B₁, B₂, …</a:t>
            </a:r>
            <a:endParaRPr b="1" sz="1600">
              <a:solidFill>
                <a:srgbClr val="8C1515"/>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85"/>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Deriving Bayes’ Theorem</a:t>
            </a:r>
            <a:endParaRPr/>
          </a:p>
        </p:txBody>
      </p:sp>
      <p:sp>
        <p:nvSpPr>
          <p:cNvPr id="565" name="Google Shape;565;p85"/>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Chain rule, both ways: P(M E) = P(M | E) · P(E) = P(E | M) · P(M)</a:t>
            </a:r>
            <a:endParaRPr sz="1800"/>
          </a:p>
          <a:p>
            <a:pPr indent="0" lvl="0" marL="0" rtl="0" algn="l">
              <a:spcBef>
                <a:spcPts val="750"/>
              </a:spcBef>
              <a:spcAft>
                <a:spcPts val="0"/>
              </a:spcAft>
              <a:buNone/>
            </a:pPr>
            <a:r>
              <a:rPr lang="en" sz="1800"/>
              <a:t>Divide by P(E):   P(M | E) = P(E | M) · P(M) / P(E)</a:t>
            </a:r>
            <a:endParaRPr sz="1800"/>
          </a:p>
          <a:p>
            <a:pPr indent="0" lvl="0" marL="0" rtl="0" algn="l">
              <a:spcBef>
                <a:spcPts val="750"/>
              </a:spcBef>
              <a:spcAft>
                <a:spcPts val="0"/>
              </a:spcAft>
              <a:buNone/>
            </a:pPr>
            <a:r>
              <a:rPr lang="en" sz="1800"/>
              <a:t>The denominator usually comes from LOTP:</a:t>
            </a:r>
            <a:endParaRPr sz="1800"/>
          </a:p>
          <a:p>
            <a:pPr indent="0" lvl="0" marL="0" rtl="0" algn="l">
              <a:spcBef>
                <a:spcPts val="750"/>
              </a:spcBef>
              <a:spcAft>
                <a:spcPts val="0"/>
              </a:spcAft>
              <a:buNone/>
            </a:pPr>
            <a:r>
              <a:rPr lang="en" sz="1800"/>
              <a:t>      P(E) = P(E | M) · P(M) + P(E | Mᶜ) · P(Mᶜ)</a:t>
            </a:r>
            <a:endParaRPr sz="1800"/>
          </a:p>
          <a:p>
            <a:pPr indent="0" lvl="0" marL="0" rtl="0" algn="l">
              <a:spcBef>
                <a:spcPts val="750"/>
              </a:spcBef>
              <a:spcAft>
                <a:spcPts val="0"/>
              </a:spcAft>
              <a:buNone/>
            </a:pPr>
            <a:r>
              <a:rPr lang="en" sz="1800"/>
              <a:t>Bacteria: P(M | E) = (0.20)(0.10) / 0.029 ≈ 0.69</a:t>
            </a:r>
            <a:endParaRPr sz="1800"/>
          </a:p>
          <a:p>
            <a:pPr indent="0" lvl="0" marL="0" rtl="0" algn="l">
              <a:spcBef>
                <a:spcPts val="750"/>
              </a:spcBef>
              <a:spcAft>
                <a:spcPts val="0"/>
              </a:spcAft>
              <a:buNone/>
            </a:pPr>
            <a:r>
              <a:rPr lang="en" sz="1800"/>
              <a:t>Surviving raises our belief in “mutation” from 10% to 69%</a:t>
            </a:r>
            <a:endParaRPr sz="1800"/>
          </a:p>
          <a:p>
            <a:pPr indent="0" lvl="0" marL="0" rtl="0" algn="l">
              <a:spcBef>
                <a:spcPts val="750"/>
              </a:spcBef>
              <a:spcAft>
                <a:spcPts val="0"/>
              </a:spcAft>
              <a:buNone/>
            </a:pPr>
            <a:r>
              <a:rPr lang="en" sz="1800"/>
              <a:t>Bayes needs no independence assumption: it’s just the definition, rearranged</a:t>
            </a:r>
            <a:endParaRPr sz="1800"/>
          </a:p>
        </p:txBody>
      </p:sp>
      <p:sp>
        <p:nvSpPr>
          <p:cNvPr id="566" name="Google Shape;566;p85"/>
          <p:cNvSpPr/>
          <p:nvPr/>
        </p:nvSpPr>
        <p:spPr>
          <a:xfrm>
            <a:off x="508000" y="4089400"/>
            <a:ext cx="8127900" cy="482700"/>
          </a:xfrm>
          <a:prstGeom prst="roundRect">
            <a:avLst>
              <a:gd fmla="val 16667" name="adj"/>
            </a:avLst>
          </a:prstGeom>
          <a:solidFill>
            <a:srgbClr val="F4E6E6"/>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8C1515"/>
                </a:solidFill>
                <a:latin typeface="Calibri"/>
                <a:ea typeface="Calibri"/>
                <a:cs typeface="Calibri"/>
                <a:sym typeface="Calibri"/>
              </a:rPr>
              <a:t>Key idea:  P(M | E) = P(E | M) P(M) / P(E)</a:t>
            </a:r>
            <a:endParaRPr b="1" sz="1600">
              <a:solidFill>
                <a:srgbClr val="8C1515"/>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86"/>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Bayes Vocabulary: Spam Example</a:t>
            </a:r>
            <a:endParaRPr/>
          </a:p>
        </p:txBody>
      </p:sp>
      <p:sp>
        <p:nvSpPr>
          <p:cNvPr id="572" name="Google Shape;572;p86"/>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60% of email is spam (S). 20% of spam contains “Dear” (D); 1% of non-spam does.</a:t>
            </a:r>
            <a:endParaRPr sz="1800"/>
          </a:p>
          <a:p>
            <a:pPr indent="0" lvl="0" marL="0" rtl="0" algn="l">
              <a:spcBef>
                <a:spcPts val="750"/>
              </a:spcBef>
              <a:spcAft>
                <a:spcPts val="0"/>
              </a:spcAft>
              <a:buNone/>
            </a:pPr>
            <a:r>
              <a:rPr lang="en" sz="1800"/>
              <a:t>Prior: P(S) = 0.60 (belief before seeing the email)</a:t>
            </a:r>
            <a:endParaRPr sz="1800"/>
          </a:p>
          <a:p>
            <a:pPr indent="0" lvl="0" marL="0" rtl="0" algn="l">
              <a:spcBef>
                <a:spcPts val="750"/>
              </a:spcBef>
              <a:spcAft>
                <a:spcPts val="0"/>
              </a:spcAft>
              <a:buNone/>
            </a:pPr>
            <a:r>
              <a:rPr lang="en" sz="1800"/>
              <a:t>Likelihood: P(D | S) = 0.20 (how well “spam” explains the evidence)</a:t>
            </a:r>
            <a:endParaRPr sz="1800"/>
          </a:p>
          <a:p>
            <a:pPr indent="0" lvl="0" marL="0" rtl="0" algn="l">
              <a:spcBef>
                <a:spcPts val="750"/>
              </a:spcBef>
              <a:spcAft>
                <a:spcPts val="0"/>
              </a:spcAft>
              <a:buNone/>
            </a:pPr>
            <a:r>
              <a:rPr lang="en" sz="1800"/>
              <a:t>Normalizing constant: P(D) = (0.20)(0.60) + (0.01)(0.40) = 0.124</a:t>
            </a:r>
            <a:endParaRPr sz="1800"/>
          </a:p>
          <a:p>
            <a:pPr indent="0" lvl="0" marL="0" rtl="0" algn="l">
              <a:spcBef>
                <a:spcPts val="750"/>
              </a:spcBef>
              <a:spcAft>
                <a:spcPts val="0"/>
              </a:spcAft>
              <a:buNone/>
            </a:pPr>
            <a:r>
              <a:rPr lang="en" sz="1800"/>
              <a:t>Posterior: P(S | D) = 0.12 / 0.124 ≈ 0.97 (belief after the evidence)</a:t>
            </a:r>
            <a:endParaRPr sz="1800"/>
          </a:p>
        </p:txBody>
      </p:sp>
      <p:sp>
        <p:nvSpPr>
          <p:cNvPr id="573" name="Google Shape;573;p86"/>
          <p:cNvSpPr/>
          <p:nvPr/>
        </p:nvSpPr>
        <p:spPr>
          <a:xfrm>
            <a:off x="508000" y="4089400"/>
            <a:ext cx="8127900" cy="482700"/>
          </a:xfrm>
          <a:prstGeom prst="roundRect">
            <a:avLst>
              <a:gd fmla="val 16667" name="adj"/>
            </a:avLst>
          </a:prstGeom>
          <a:solidFill>
            <a:srgbClr val="F4E6E6"/>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8C1515"/>
                </a:solidFill>
                <a:latin typeface="Calibri"/>
                <a:ea typeface="Calibri"/>
                <a:cs typeface="Calibri"/>
                <a:sym typeface="Calibri"/>
              </a:rPr>
              <a:t>Key idea:  posterior = likelihood × prior / normalizing constant</a:t>
            </a:r>
            <a:endParaRPr b="1" sz="1600">
              <a:solidFill>
                <a:srgbClr val="8C1515"/>
              </a:solidFill>
              <a:latin typeface="Calibri"/>
              <a:ea typeface="Calibri"/>
              <a:cs typeface="Calibri"/>
              <a:sym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87"/>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Solving Bayes Problems: A Recipe</a:t>
            </a:r>
            <a:endParaRPr/>
          </a:p>
        </p:txBody>
      </p:sp>
      <p:sp>
        <p:nvSpPr>
          <p:cNvPr id="579" name="Google Shape;579;p87"/>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1. Define events with letters (Z = has Zika, T = tests positive)</a:t>
            </a:r>
            <a:endParaRPr sz="1800"/>
          </a:p>
          <a:p>
            <a:pPr indent="0" lvl="0" marL="0" rtl="0" algn="l">
              <a:spcBef>
                <a:spcPts val="750"/>
              </a:spcBef>
              <a:spcAft>
                <a:spcPts val="0"/>
              </a:spcAft>
              <a:buNone/>
            </a:pPr>
            <a:r>
              <a:rPr lang="en" sz="1800"/>
              <a:t>2. Write the goal: P(Z | T)</a:t>
            </a:r>
            <a:endParaRPr sz="1800"/>
          </a:p>
          <a:p>
            <a:pPr indent="0" lvl="0" marL="0" rtl="0" algn="l">
              <a:spcBef>
                <a:spcPts val="750"/>
              </a:spcBef>
              <a:spcAft>
                <a:spcPts val="0"/>
              </a:spcAft>
              <a:buNone/>
            </a:pPr>
            <a:r>
              <a:rPr lang="en" sz="1800"/>
              <a:t>3. Inventory what you know: prior P(Z), likelihoods P(T | Z), P(T | Zᶜ)</a:t>
            </a:r>
            <a:endParaRPr sz="1800"/>
          </a:p>
          <a:p>
            <a:pPr indent="0" lvl="0" marL="0" rtl="0" algn="l">
              <a:spcBef>
                <a:spcPts val="750"/>
              </a:spcBef>
              <a:spcAft>
                <a:spcPts val="0"/>
              </a:spcAft>
              <a:buNone/>
            </a:pPr>
            <a:r>
              <a:rPr lang="en" sz="1800"/>
              <a:t>4. Apply Bayes: P(Z | T) = P(T | Z) P(Z) / P(T)</a:t>
            </a:r>
            <a:endParaRPr sz="1800"/>
          </a:p>
          <a:p>
            <a:pPr indent="0" lvl="0" marL="0" rtl="0" algn="l">
              <a:spcBef>
                <a:spcPts val="750"/>
              </a:spcBef>
              <a:spcAft>
                <a:spcPts val="0"/>
              </a:spcAft>
              <a:buNone/>
            </a:pPr>
            <a:r>
              <a:rPr lang="en" sz="1800"/>
              <a:t>5. Get P(T) from LOTP</a:t>
            </a:r>
            <a:endParaRPr sz="1800"/>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88"/>
          <p:cNvSpPr txBox="1"/>
          <p:nvPr>
            <p:ph type="ctrTitle"/>
          </p:nvPr>
        </p:nvSpPr>
        <p:spPr>
          <a:xfrm>
            <a:off x="1004150" y="1751764"/>
            <a:ext cx="7136700" cy="1022400"/>
          </a:xfrm>
          <a:prstGeom prst="rect">
            <a:avLst/>
          </a:prstGeom>
        </p:spPr>
        <p:txBody>
          <a:bodyPr anchorCtr="0" anchor="b" bIns="45700" lIns="0" spcFirstLastPara="1" rIns="0" wrap="square" tIns="45700">
            <a:normAutofit fontScale="90000"/>
          </a:bodyPr>
          <a:lstStyle/>
          <a:p>
            <a:pPr indent="0" lvl="0" marL="0" rtl="0" algn="ctr">
              <a:spcBef>
                <a:spcPts val="0"/>
              </a:spcBef>
              <a:spcAft>
                <a:spcPts val="0"/>
              </a:spcAft>
              <a:buNone/>
            </a:pPr>
            <a:r>
              <a:rPr lang="en"/>
              <a:t>Someone ask me a question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89"/>
          <p:cNvSpPr txBox="1"/>
          <p:nvPr>
            <p:ph type="ctrTitle"/>
          </p:nvPr>
        </p:nvSpPr>
        <p:spPr>
          <a:xfrm>
            <a:off x="1004150" y="1751764"/>
            <a:ext cx="7136700" cy="1022400"/>
          </a:xfrm>
          <a:prstGeom prst="rect">
            <a:avLst/>
          </a:prstGeom>
        </p:spPr>
        <p:txBody>
          <a:bodyPr anchorCtr="0" anchor="b" bIns="45700" lIns="0" spcFirstLastPara="1" rIns="0" wrap="square" tIns="45700">
            <a:normAutofit/>
          </a:bodyPr>
          <a:lstStyle/>
          <a:p>
            <a:pPr indent="0" lvl="0" marL="0" rtl="0" algn="ctr">
              <a:spcBef>
                <a:spcPts val="0"/>
              </a:spcBef>
              <a:spcAft>
                <a:spcPts val="0"/>
              </a:spcAft>
              <a:buNone/>
            </a:pPr>
            <a:r>
              <a:rPr lang="en"/>
              <a:t>Independence</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90"/>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Mutually Exclusive or Independent?</a:t>
            </a:r>
            <a:endParaRPr/>
          </a:p>
        </p:txBody>
      </p:sp>
      <p:sp>
        <p:nvSpPr>
          <p:cNvPr id="595" name="Google Shape;595;p90"/>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0" lvl="0" marL="0" rtl="0" algn="l">
              <a:spcBef>
                <a:spcPts val="750"/>
              </a:spcBef>
              <a:spcAft>
                <a:spcPts val="0"/>
              </a:spcAft>
              <a:buNone/>
            </a:pPr>
            <a:r>
              <a:t/>
            </a:r>
            <a:endParaRPr/>
          </a:p>
        </p:txBody>
      </p:sp>
      <p:pic>
        <p:nvPicPr>
          <p:cNvPr id="596" name="Google Shape;596;p90" title="Screenshot 2026-09-24 at 9.32.38 AM.png"/>
          <p:cNvPicPr preferRelativeResize="0"/>
          <p:nvPr/>
        </p:nvPicPr>
        <p:blipFill>
          <a:blip r:embed="rId3">
            <a:alphaModFix/>
          </a:blip>
          <a:stretch>
            <a:fillRect/>
          </a:stretch>
        </p:blipFill>
        <p:spPr>
          <a:xfrm>
            <a:off x="685800" y="1498600"/>
            <a:ext cx="7772400" cy="295275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91"/>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Independent vs. Mutually Exclusive</a:t>
            </a:r>
            <a:endParaRPr/>
          </a:p>
        </p:txBody>
      </p:sp>
      <p:sp>
        <p:nvSpPr>
          <p:cNvPr id="602" name="Google Shape;602;p91"/>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Independent: P(E F) = P(E) · P(F), or equivalently P(E | F) = P(E)</a:t>
            </a:r>
            <a:endParaRPr sz="1800"/>
          </a:p>
          <a:p>
            <a:pPr indent="0" lvl="0" marL="0" rtl="0" algn="l">
              <a:spcBef>
                <a:spcPts val="750"/>
              </a:spcBef>
              <a:spcAft>
                <a:spcPts val="0"/>
              </a:spcAft>
              <a:buNone/>
            </a:pPr>
            <a:r>
              <a:rPr lang="en" sz="1800"/>
              <a:t>      Learning F tells you nothing about E</a:t>
            </a:r>
            <a:endParaRPr sz="1800"/>
          </a:p>
          <a:p>
            <a:pPr indent="0" lvl="0" marL="0" rtl="0" algn="l">
              <a:spcBef>
                <a:spcPts val="750"/>
              </a:spcBef>
              <a:spcAft>
                <a:spcPts val="0"/>
              </a:spcAft>
              <a:buNone/>
            </a:pPr>
            <a:r>
              <a:rPr lang="en" sz="1800"/>
              <a:t>Mutually exclusive: E F = ∅, so P(E F) = 0</a:t>
            </a:r>
            <a:endParaRPr sz="1800"/>
          </a:p>
          <a:p>
            <a:pPr indent="0" lvl="0" marL="0" rtl="0" algn="l">
              <a:spcBef>
                <a:spcPts val="750"/>
              </a:spcBef>
              <a:spcAft>
                <a:spcPts val="0"/>
              </a:spcAft>
              <a:buNone/>
            </a:pPr>
            <a:r>
              <a:rPr lang="en" sz="1800"/>
              <a:t>      Learning F tells you E did NOT happen</a:t>
            </a:r>
            <a:endParaRPr sz="1800"/>
          </a:p>
          <a:p>
            <a:pPr indent="0" lvl="0" marL="0" rtl="0" algn="l">
              <a:spcBef>
                <a:spcPts val="750"/>
              </a:spcBef>
              <a:spcAft>
                <a:spcPts val="0"/>
              </a:spcAft>
              <a:buNone/>
            </a:pPr>
            <a:r>
              <a:rPr b="1" lang="en" sz="1800">
                <a:solidFill>
                  <a:schemeClr val="dk1"/>
                </a:solidFill>
              </a:rPr>
              <a:t>	Implies P(E ∪ F) = P(E) + P(F)</a:t>
            </a:r>
            <a:endParaRPr b="1" sz="1800">
              <a:solidFill>
                <a:schemeClr val="dk1"/>
              </a:solidFill>
            </a:endParaRPr>
          </a:p>
          <a:p>
            <a:pPr indent="0" lvl="0" marL="0" rtl="0" algn="l">
              <a:spcBef>
                <a:spcPts val="750"/>
              </a:spcBef>
              <a:spcAft>
                <a:spcPts val="0"/>
              </a:spcAft>
              <a:buNone/>
            </a:pPr>
            <a:r>
              <a:t/>
            </a:r>
            <a:endParaRPr b="1" sz="1800"/>
          </a:p>
          <a:p>
            <a:pPr indent="0" lvl="0" marL="0" rtl="0" algn="l">
              <a:spcBef>
                <a:spcPts val="750"/>
              </a:spcBef>
              <a:spcAft>
                <a:spcPts val="0"/>
              </a:spcAft>
              <a:buNone/>
            </a:pPr>
            <a:r>
              <a:rPr lang="en" sz="1800"/>
              <a:t>If P(E) &gt; 0 and P(F) &gt; 0, mutually exclusive events are always dependent</a:t>
            </a:r>
            <a:endParaRPr sz="1800"/>
          </a:p>
          <a:p>
            <a:pPr indent="0" lvl="0" marL="0" rtl="0" algn="l">
              <a:spcBef>
                <a:spcPts val="750"/>
              </a:spcBef>
              <a:spcAft>
                <a:spcPts val="0"/>
              </a:spcAft>
              <a:buNone/>
            </a:pPr>
            <a:r>
              <a:rPr lang="en" sz="1800"/>
              <a:t>	</a:t>
            </a:r>
            <a:r>
              <a:rPr b="1" lang="en" sz="1800"/>
              <a:t>Can we prove this?</a:t>
            </a:r>
            <a:endParaRPr b="1" sz="1800"/>
          </a:p>
        </p:txBody>
      </p:sp>
      <p:sp>
        <p:nvSpPr>
          <p:cNvPr id="603" name="Google Shape;603;p91"/>
          <p:cNvSpPr/>
          <p:nvPr/>
        </p:nvSpPr>
        <p:spPr>
          <a:xfrm>
            <a:off x="508000" y="4089400"/>
            <a:ext cx="8127900" cy="482700"/>
          </a:xfrm>
          <a:prstGeom prst="roundRect">
            <a:avLst>
              <a:gd fmla="val 16667" name="adj"/>
            </a:avLst>
          </a:prstGeom>
          <a:solidFill>
            <a:srgbClr val="F4E6E6"/>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8C1515"/>
                </a:solidFill>
                <a:latin typeface="Calibri"/>
                <a:ea typeface="Calibri"/>
                <a:cs typeface="Calibri"/>
                <a:sym typeface="Calibri"/>
              </a:rPr>
              <a:t>Key idea:  independent → P(EF) = P(E) P(F)      mutually exclusive → P(EF) = 0</a:t>
            </a:r>
            <a:endParaRPr b="1" sz="1600">
              <a:solidFill>
                <a:srgbClr val="8C1515"/>
              </a:solidFill>
              <a:latin typeface="Calibri"/>
              <a:ea typeface="Calibri"/>
              <a:cs typeface="Calibri"/>
              <a:sym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92"/>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A Visual</a:t>
            </a:r>
            <a:endParaRPr/>
          </a:p>
        </p:txBody>
      </p:sp>
      <p:pic>
        <p:nvPicPr>
          <p:cNvPr id="609" name="Google Shape;609;p92" title="Screenshot 2026-09-28 at 9.42.17 PM.png"/>
          <p:cNvPicPr preferRelativeResize="0"/>
          <p:nvPr/>
        </p:nvPicPr>
        <p:blipFill>
          <a:blip r:embed="rId3">
            <a:alphaModFix/>
          </a:blip>
          <a:stretch>
            <a:fillRect/>
          </a:stretch>
        </p:blipFill>
        <p:spPr>
          <a:xfrm>
            <a:off x="384633" y="1278724"/>
            <a:ext cx="8374743" cy="343260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93"/>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How to Prove Two Events Independent?</a:t>
            </a:r>
            <a:endParaRPr/>
          </a:p>
        </p:txBody>
      </p:sp>
      <p:sp>
        <p:nvSpPr>
          <p:cNvPr id="615" name="Google Shape;615;p93"/>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0" lvl="0" marL="0" rtl="0" algn="l">
              <a:spcBef>
                <a:spcPts val="750"/>
              </a:spcBef>
              <a:spcAft>
                <a:spcPts val="0"/>
              </a:spcAft>
              <a:buNone/>
            </a:pPr>
            <a:r>
              <a:rPr b="1" lang="en"/>
              <a:t>Show that the probability of both together equals the probability of each multiplied!</a:t>
            </a:r>
            <a:endParaRPr b="1"/>
          </a:p>
          <a:p>
            <a:pPr indent="0" lvl="0" marL="0" rtl="0" algn="l">
              <a:spcBef>
                <a:spcPts val="750"/>
              </a:spcBef>
              <a:spcAft>
                <a:spcPts val="0"/>
              </a:spcAft>
              <a:buNone/>
            </a:pPr>
            <a:r>
              <a:t/>
            </a:r>
            <a:endParaRPr b="1"/>
          </a:p>
          <a:p>
            <a:pPr indent="0" lvl="0" marL="0" rtl="0" algn="l">
              <a:spcBef>
                <a:spcPts val="750"/>
              </a:spcBef>
              <a:spcAft>
                <a:spcPts val="0"/>
              </a:spcAft>
              <a:buNone/>
            </a:pPr>
            <a:r>
              <a:rPr lang="en">
                <a:solidFill>
                  <a:schemeClr val="dk1"/>
                </a:solidFill>
              </a:rPr>
              <a:t>Assume we have two events A and B — show P(AB) = P(A) P(B)</a:t>
            </a:r>
            <a:endParaRPr>
              <a:solidFill>
                <a:schemeClr val="dk1"/>
              </a:solidFill>
            </a:endParaRPr>
          </a:p>
          <a:p>
            <a:pPr indent="0" lvl="0" marL="0" rtl="0" algn="l">
              <a:spcBef>
                <a:spcPts val="750"/>
              </a:spcBef>
              <a:spcAft>
                <a:spcPts val="0"/>
              </a:spcAft>
              <a:buNone/>
            </a:pPr>
            <a:r>
              <a:t/>
            </a:r>
            <a:endParaRPr>
              <a:solidFill>
                <a:schemeClr val="dk1"/>
              </a:solidFill>
            </a:endParaRPr>
          </a:p>
          <a:p>
            <a:pPr indent="0" lvl="0" marL="0" rtl="0" algn="l">
              <a:spcBef>
                <a:spcPts val="750"/>
              </a:spcBef>
              <a:spcAft>
                <a:spcPts val="0"/>
              </a:spcAft>
              <a:buNone/>
            </a:pPr>
            <a:r>
              <a:rPr lang="en">
                <a:solidFill>
                  <a:schemeClr val="dk1"/>
                </a:solidFill>
              </a:rPr>
              <a:t>That’s it!</a:t>
            </a:r>
            <a:endParaRPr>
              <a:solidFill>
                <a:schemeClr val="dk1"/>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94"/>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Independence: Problem</a:t>
            </a:r>
            <a:endParaRPr/>
          </a:p>
        </p:txBody>
      </p:sp>
      <p:sp>
        <p:nvSpPr>
          <p:cNvPr id="621" name="Google Shape;621;p94"/>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2100">
                <a:solidFill>
                  <a:schemeClr val="dk1"/>
                </a:solidFill>
              </a:rPr>
              <a:t>Roll two dice. E = first die is 1, F = sum is 7, G = sum is 5</a:t>
            </a:r>
            <a:endParaRPr sz="2100">
              <a:solidFill>
                <a:schemeClr val="dk1"/>
              </a:solidFill>
            </a:endParaRPr>
          </a:p>
          <a:p>
            <a:pPr indent="0" lvl="0" marL="0" rtl="0" algn="l">
              <a:spcBef>
                <a:spcPts val="750"/>
              </a:spcBef>
              <a:spcAft>
                <a:spcPts val="0"/>
              </a:spcAft>
              <a:buNone/>
            </a:pPr>
            <a:r>
              <a:t/>
            </a:r>
            <a:endParaRPr sz="2100"/>
          </a:p>
          <a:p>
            <a:pPr indent="0" lvl="0" marL="0" rtl="0" algn="l">
              <a:spcBef>
                <a:spcPts val="750"/>
              </a:spcBef>
              <a:spcAft>
                <a:spcPts val="0"/>
              </a:spcAft>
              <a:buNone/>
            </a:pPr>
            <a:r>
              <a:t/>
            </a:r>
            <a:endParaRPr sz="2100"/>
          </a:p>
          <a:p>
            <a:pPr indent="0" lvl="0" marL="0" rtl="0" algn="l">
              <a:spcBef>
                <a:spcPts val="750"/>
              </a:spcBef>
              <a:spcAft>
                <a:spcPts val="0"/>
              </a:spcAft>
              <a:buNone/>
            </a:pPr>
            <a:r>
              <a:rPr b="1" lang="en" sz="2100"/>
              <a:t>Task for you: which are dependent? Which are independent?</a:t>
            </a:r>
            <a:endParaRPr b="1" sz="2100"/>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95"/>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Independence: Solution</a:t>
            </a:r>
            <a:endParaRPr/>
          </a:p>
        </p:txBody>
      </p:sp>
      <p:sp>
        <p:nvSpPr>
          <p:cNvPr id="627" name="Google Shape;627;p95"/>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0" lvl="0" marL="0" rtl="0" algn="l">
              <a:spcBef>
                <a:spcPts val="750"/>
              </a:spcBef>
              <a:spcAft>
                <a:spcPts val="0"/>
              </a:spcAft>
              <a:buNone/>
            </a:pPr>
            <a:r>
              <a:rPr lang="en" sz="1800"/>
              <a:t>P(E) = 1/6,  P(F) = 6/36 = 1/6,  P(G) = 4/36 = 1/9</a:t>
            </a:r>
            <a:endParaRPr sz="1800"/>
          </a:p>
          <a:p>
            <a:pPr indent="0" lvl="0" marL="0" rtl="0" algn="l">
              <a:spcBef>
                <a:spcPts val="750"/>
              </a:spcBef>
              <a:spcAft>
                <a:spcPts val="0"/>
              </a:spcAft>
              <a:buNone/>
            </a:pPr>
            <a:r>
              <a:t/>
            </a:r>
            <a:endParaRPr sz="1800"/>
          </a:p>
          <a:p>
            <a:pPr indent="0" lvl="0" marL="0" rtl="0" algn="l">
              <a:spcBef>
                <a:spcPts val="750"/>
              </a:spcBef>
              <a:spcAft>
                <a:spcPts val="0"/>
              </a:spcAft>
              <a:buNone/>
            </a:pPr>
            <a:r>
              <a:rPr lang="en" sz="1800"/>
              <a:t>P(E F) = P{(1,6)} = 1/36 = P(E) · P(F)  →  independent</a:t>
            </a:r>
            <a:endParaRPr sz="1800"/>
          </a:p>
          <a:p>
            <a:pPr indent="0" lvl="0" marL="0" rtl="0" algn="l">
              <a:spcBef>
                <a:spcPts val="750"/>
              </a:spcBef>
              <a:spcAft>
                <a:spcPts val="0"/>
              </a:spcAft>
              <a:buNone/>
            </a:pPr>
            <a:r>
              <a:t/>
            </a:r>
            <a:endParaRPr sz="1800"/>
          </a:p>
          <a:p>
            <a:pPr indent="0" lvl="0" marL="0" rtl="0" algn="l">
              <a:spcBef>
                <a:spcPts val="750"/>
              </a:spcBef>
              <a:spcAft>
                <a:spcPts val="0"/>
              </a:spcAft>
              <a:buNone/>
            </a:pPr>
            <a:r>
              <a:rPr lang="en" sz="1800"/>
              <a:t>P(E G) = P{(1,4)} = 1/36 ≠ (1/6)(1/9) = 1/54  →  dependent</a:t>
            </a:r>
            <a:endParaRPr sz="1800"/>
          </a:p>
          <a:p>
            <a:pPr indent="0" lvl="0" marL="0" rtl="0" algn="l">
              <a:spcBef>
                <a:spcPts val="750"/>
              </a:spcBef>
              <a:spcAft>
                <a:spcPts val="0"/>
              </a:spcAft>
              <a:buNone/>
            </a:pPr>
            <a:r>
              <a:t/>
            </a:r>
            <a:endParaRPr sz="1800"/>
          </a:p>
          <a:p>
            <a:pPr indent="0" lvl="0" marL="0" rtl="0" algn="l">
              <a:spcBef>
                <a:spcPts val="750"/>
              </a:spcBef>
              <a:spcAft>
                <a:spcPts val="0"/>
              </a:spcAft>
              <a:buNone/>
            </a:pPr>
            <a:r>
              <a:rPr lang="en" sz="1800"/>
              <a:t>Why? Whatever die 1 shows, exactly one value of die 2 makes a sum of 7. For a sum of 5, a 5 or 6 on die 1 makes it impossible.</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96"/>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Inclusion-Exclusion</a:t>
            </a:r>
            <a:endParaRPr/>
          </a:p>
        </p:txBody>
      </p:sp>
      <p:pic>
        <p:nvPicPr>
          <p:cNvPr id="633" name="Google Shape;633;p96" title="Screenshot 2026-09-27 at 8.36.16 PM.png"/>
          <p:cNvPicPr preferRelativeResize="0"/>
          <p:nvPr/>
        </p:nvPicPr>
        <p:blipFill>
          <a:blip r:embed="rId3">
            <a:alphaModFix/>
          </a:blip>
          <a:stretch>
            <a:fillRect/>
          </a:stretch>
        </p:blipFill>
        <p:spPr>
          <a:xfrm>
            <a:off x="1390625" y="1288700"/>
            <a:ext cx="6160999" cy="3397051"/>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97"/>
          <p:cNvSpPr txBox="1"/>
          <p:nvPr>
            <p:ph type="ctrTitle"/>
          </p:nvPr>
        </p:nvSpPr>
        <p:spPr>
          <a:xfrm>
            <a:off x="1004150" y="1751764"/>
            <a:ext cx="7136700" cy="1022400"/>
          </a:xfrm>
          <a:prstGeom prst="rect">
            <a:avLst/>
          </a:prstGeom>
        </p:spPr>
        <p:txBody>
          <a:bodyPr anchorCtr="0" anchor="b" bIns="45700" lIns="0" spcFirstLastPara="1" rIns="0" wrap="square" tIns="45700">
            <a:normAutofit/>
          </a:bodyPr>
          <a:lstStyle/>
          <a:p>
            <a:pPr indent="0" lvl="0" marL="0" rtl="0" algn="ctr">
              <a:spcBef>
                <a:spcPts val="0"/>
              </a:spcBef>
              <a:spcAft>
                <a:spcPts val="0"/>
              </a:spcAft>
              <a:buNone/>
            </a:pPr>
            <a:r>
              <a:rPr lang="en"/>
              <a:t>Review Problems</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98"/>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Frisbee Problem</a:t>
            </a:r>
            <a:endParaRPr/>
          </a:p>
        </p:txBody>
      </p:sp>
      <p:pic>
        <p:nvPicPr>
          <p:cNvPr id="644" name="Google Shape;644;p98" title="Screenshot 2026-09-24 at 9.56.04 AM.png"/>
          <p:cNvPicPr preferRelativeResize="0"/>
          <p:nvPr/>
        </p:nvPicPr>
        <p:blipFill>
          <a:blip r:embed="rId3">
            <a:alphaModFix/>
          </a:blip>
          <a:stretch>
            <a:fillRect/>
          </a:stretch>
        </p:blipFill>
        <p:spPr>
          <a:xfrm>
            <a:off x="363650" y="1915975"/>
            <a:ext cx="8592449" cy="1592025"/>
          </a:xfrm>
          <a:prstGeom prst="rect">
            <a:avLst/>
          </a:prstGeom>
          <a:noFill/>
          <a:ln>
            <a:noFill/>
          </a:ln>
        </p:spPr>
      </p:pic>
      <p:sp>
        <p:nvSpPr>
          <p:cNvPr id="645" name="Google Shape;645;p98"/>
          <p:cNvSpPr/>
          <p:nvPr/>
        </p:nvSpPr>
        <p:spPr>
          <a:xfrm>
            <a:off x="7696200" y="101600"/>
            <a:ext cx="1219200" cy="279300"/>
          </a:xfrm>
          <a:prstGeom prst="roundRect">
            <a:avLst>
              <a:gd fmla="val 16667" name="adj"/>
            </a:avLst>
          </a:prstGeom>
          <a:solidFill>
            <a:srgbClr val="8C1515"/>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PRACTICE</a:t>
            </a:r>
            <a:endParaRPr b="1" sz="1100">
              <a:solidFill>
                <a:srgbClr val="FFFFFF"/>
              </a:solidFill>
              <a:latin typeface="Calibri"/>
              <a:ea typeface="Calibri"/>
              <a:cs typeface="Calibri"/>
              <a:sym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99"/>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Frisbee Problem: Solution</a:t>
            </a:r>
            <a:endParaRPr/>
          </a:p>
        </p:txBody>
      </p:sp>
      <p:sp>
        <p:nvSpPr>
          <p:cNvPr id="651" name="Google Shape;651;p99"/>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Let H₁, H₂ = frisbee 1, 2 lands heads. The two flips are independent.</a:t>
            </a:r>
            <a:endParaRPr sz="1800"/>
          </a:p>
          <a:p>
            <a:pPr indent="0" lvl="0" marL="0" rtl="0" algn="l">
              <a:spcBef>
                <a:spcPts val="750"/>
              </a:spcBef>
              <a:spcAft>
                <a:spcPts val="0"/>
              </a:spcAft>
              <a:buNone/>
            </a:pPr>
            <a:r>
              <a:rPr lang="en" sz="1800"/>
              <a:t>Even = (both heads) OR (both tails). These can’t both happen → mutually exclusive → just add (easy OR)</a:t>
            </a:r>
            <a:endParaRPr sz="1800"/>
          </a:p>
          <a:p>
            <a:pPr indent="0" lvl="0" marL="0" rtl="0" algn="l">
              <a:spcBef>
                <a:spcPts val="750"/>
              </a:spcBef>
              <a:spcAft>
                <a:spcPts val="0"/>
              </a:spcAft>
              <a:buNone/>
            </a:pPr>
            <a:r>
              <a:rPr lang="en" sz="1800"/>
              <a:t>P(both heads) = P(H₁) · P(H₂) = 0.6 · 0.6 = 0.36   (easy AND)</a:t>
            </a:r>
            <a:endParaRPr sz="1800"/>
          </a:p>
          <a:p>
            <a:pPr indent="0" lvl="0" marL="0" rtl="0" algn="l">
              <a:spcBef>
                <a:spcPts val="750"/>
              </a:spcBef>
              <a:spcAft>
                <a:spcPts val="0"/>
              </a:spcAft>
              <a:buNone/>
            </a:pPr>
            <a:r>
              <a:rPr lang="en" sz="1800"/>
              <a:t>P(both tails) = P(H₁ᶜ) · P(H₂ᶜ) = 0.4 · 0.4 = 0.16</a:t>
            </a:r>
            <a:endParaRPr sz="1800"/>
          </a:p>
        </p:txBody>
      </p:sp>
      <p:sp>
        <p:nvSpPr>
          <p:cNvPr id="652" name="Google Shape;652;p99"/>
          <p:cNvSpPr/>
          <p:nvPr/>
        </p:nvSpPr>
        <p:spPr>
          <a:xfrm>
            <a:off x="7696200" y="101600"/>
            <a:ext cx="1219200" cy="279300"/>
          </a:xfrm>
          <a:prstGeom prst="roundRect">
            <a:avLst>
              <a:gd fmla="val 16667" name="adj"/>
            </a:avLst>
          </a:prstGeom>
          <a:solidFill>
            <a:srgbClr val="175E54"/>
          </a:solidFill>
          <a:ln cap="flat" cmpd="sng" w="9525">
            <a:solidFill>
              <a:srgbClr val="175E5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SOLUTION</a:t>
            </a:r>
            <a:endParaRPr b="1" sz="1100">
              <a:solidFill>
                <a:srgbClr val="FFFFFF"/>
              </a:solidFill>
              <a:latin typeface="Calibri"/>
              <a:ea typeface="Calibri"/>
              <a:cs typeface="Calibri"/>
              <a:sym typeface="Calibri"/>
            </a:endParaRPr>
          </a:p>
        </p:txBody>
      </p:sp>
      <p:sp>
        <p:nvSpPr>
          <p:cNvPr id="653" name="Google Shape;653;p99"/>
          <p:cNvSpPr/>
          <p:nvPr/>
        </p:nvSpPr>
        <p:spPr>
          <a:xfrm>
            <a:off x="508000" y="4089400"/>
            <a:ext cx="8127900" cy="482700"/>
          </a:xfrm>
          <a:prstGeom prst="roundRect">
            <a:avLst>
              <a:gd fmla="val 16667" name="adj"/>
            </a:avLst>
          </a:prstGeom>
          <a:solidFill>
            <a:srgbClr val="FFFFFF"/>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8C1515"/>
                </a:solidFill>
                <a:latin typeface="Calibri"/>
                <a:ea typeface="Calibri"/>
                <a:cs typeface="Calibri"/>
                <a:sym typeface="Calibri"/>
              </a:rPr>
              <a:t>Answer:  P(even) = 0.36 + 0.16 = 0.52</a:t>
            </a:r>
            <a:endParaRPr b="1" sz="1600">
              <a:solidFill>
                <a:srgbClr val="8C1515"/>
              </a:solidFill>
              <a:latin typeface="Calibri"/>
              <a:ea typeface="Calibri"/>
              <a:cs typeface="Calibri"/>
              <a:sym typeface="Calibri"/>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100"/>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Network Reliability</a:t>
            </a:r>
            <a:endParaRPr/>
          </a:p>
        </p:txBody>
      </p:sp>
      <p:sp>
        <p:nvSpPr>
          <p:cNvPr id="659" name="Google Shape;659;p100"/>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0" lvl="0" marL="0" rtl="0" algn="l">
              <a:spcBef>
                <a:spcPts val="750"/>
              </a:spcBef>
              <a:spcAft>
                <a:spcPts val="0"/>
              </a:spcAft>
              <a:buNone/>
            </a:pPr>
            <a:r>
              <a:t/>
            </a:r>
            <a:endParaRPr/>
          </a:p>
        </p:txBody>
      </p:sp>
      <p:pic>
        <p:nvPicPr>
          <p:cNvPr id="660" name="Google Shape;660;p100" title="Screenshot 2026-09-24 at 9.56.30 AM.png"/>
          <p:cNvPicPr preferRelativeResize="0"/>
          <p:nvPr/>
        </p:nvPicPr>
        <p:blipFill rotWithShape="1">
          <a:blip r:embed="rId3">
            <a:alphaModFix/>
          </a:blip>
          <a:srcRect b="0" l="0" r="0" t="22384"/>
          <a:stretch/>
        </p:blipFill>
        <p:spPr>
          <a:xfrm>
            <a:off x="882650" y="2101850"/>
            <a:ext cx="7381875" cy="1752150"/>
          </a:xfrm>
          <a:prstGeom prst="rect">
            <a:avLst/>
          </a:prstGeom>
          <a:noFill/>
          <a:ln>
            <a:noFill/>
          </a:ln>
        </p:spPr>
      </p:pic>
      <p:sp>
        <p:nvSpPr>
          <p:cNvPr id="661" name="Google Shape;661;p100"/>
          <p:cNvSpPr/>
          <p:nvPr/>
        </p:nvSpPr>
        <p:spPr>
          <a:xfrm>
            <a:off x="7696200" y="101600"/>
            <a:ext cx="1219200" cy="279300"/>
          </a:xfrm>
          <a:prstGeom prst="roundRect">
            <a:avLst>
              <a:gd fmla="val 16667" name="adj"/>
            </a:avLst>
          </a:prstGeom>
          <a:solidFill>
            <a:srgbClr val="8C1515"/>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PRACTICE</a:t>
            </a:r>
            <a:endParaRPr b="1" sz="1100">
              <a:solidFill>
                <a:srgbClr val="FFFFFF"/>
              </a:solidFill>
              <a:latin typeface="Calibri"/>
              <a:ea typeface="Calibri"/>
              <a:cs typeface="Calibri"/>
              <a:sym typeface="Calibri"/>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101"/>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Network Reliability: Solution</a:t>
            </a:r>
            <a:endParaRPr/>
          </a:p>
        </p:txBody>
      </p:sp>
      <p:sp>
        <p:nvSpPr>
          <p:cNvPr id="667" name="Google Shape;667;p101"/>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E = at least one router works: an OR of n overlapping events (hard OR)</a:t>
            </a:r>
            <a:endParaRPr sz="1800"/>
          </a:p>
          <a:p>
            <a:pPr indent="0" lvl="0" marL="0" rtl="0" algn="l">
              <a:spcBef>
                <a:spcPts val="750"/>
              </a:spcBef>
              <a:spcAft>
                <a:spcPts val="0"/>
              </a:spcAft>
              <a:buNone/>
            </a:pPr>
            <a:r>
              <a:rPr lang="en" sz="1800"/>
              <a:t>Flip it (De Morgan): Eᶜ = every router fails: an AND of independent events (easy AND)</a:t>
            </a:r>
            <a:endParaRPr sz="1800"/>
          </a:p>
          <a:p>
            <a:pPr indent="0" lvl="0" marL="0" rtl="0" algn="l">
              <a:spcBef>
                <a:spcPts val="750"/>
              </a:spcBef>
              <a:spcAft>
                <a:spcPts val="0"/>
              </a:spcAft>
              <a:buNone/>
            </a:pPr>
            <a:r>
              <a:rPr lang="en" sz="1800"/>
              <a:t>P(Eᶜ) = (1 − p₁)(1 − p₂) ⋯ = ∏ᵢ (1 − pᵢ)     (product over i = 1, …, n)</a:t>
            </a:r>
            <a:endParaRPr sz="1800"/>
          </a:p>
          <a:p>
            <a:pPr indent="0" lvl="0" marL="0" rtl="0" algn="l">
              <a:spcBef>
                <a:spcPts val="750"/>
              </a:spcBef>
              <a:spcAft>
                <a:spcPts val="0"/>
              </a:spcAft>
              <a:buNone/>
            </a:pPr>
            <a:r>
              <a:rPr lang="en" sz="1800"/>
              <a:t>Sanity check: 3 routers, each pᵢ = 0.9 → P(E) = 1 − (0.1)³ = 0.999</a:t>
            </a:r>
            <a:endParaRPr sz="1800"/>
          </a:p>
        </p:txBody>
      </p:sp>
      <p:sp>
        <p:nvSpPr>
          <p:cNvPr id="668" name="Google Shape;668;p101"/>
          <p:cNvSpPr/>
          <p:nvPr/>
        </p:nvSpPr>
        <p:spPr>
          <a:xfrm>
            <a:off x="7696200" y="101600"/>
            <a:ext cx="1219200" cy="279300"/>
          </a:xfrm>
          <a:prstGeom prst="roundRect">
            <a:avLst>
              <a:gd fmla="val 16667" name="adj"/>
            </a:avLst>
          </a:prstGeom>
          <a:solidFill>
            <a:srgbClr val="175E54"/>
          </a:solidFill>
          <a:ln cap="flat" cmpd="sng" w="9525">
            <a:solidFill>
              <a:srgbClr val="175E5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SOLUTION</a:t>
            </a:r>
            <a:endParaRPr b="1" sz="1100">
              <a:solidFill>
                <a:srgbClr val="FFFFFF"/>
              </a:solidFill>
              <a:latin typeface="Calibri"/>
              <a:ea typeface="Calibri"/>
              <a:cs typeface="Calibri"/>
              <a:sym typeface="Calibri"/>
            </a:endParaRPr>
          </a:p>
        </p:txBody>
      </p:sp>
      <p:sp>
        <p:nvSpPr>
          <p:cNvPr id="669" name="Google Shape;669;p101"/>
          <p:cNvSpPr/>
          <p:nvPr/>
        </p:nvSpPr>
        <p:spPr>
          <a:xfrm>
            <a:off x="508000" y="4089400"/>
            <a:ext cx="8127900" cy="482700"/>
          </a:xfrm>
          <a:prstGeom prst="roundRect">
            <a:avLst>
              <a:gd fmla="val 16667" name="adj"/>
            </a:avLst>
          </a:prstGeom>
          <a:solidFill>
            <a:srgbClr val="FFFFFF"/>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8C1515"/>
                </a:solidFill>
                <a:latin typeface="Calibri"/>
                <a:ea typeface="Calibri"/>
                <a:cs typeface="Calibri"/>
                <a:sym typeface="Calibri"/>
              </a:rPr>
              <a:t>Answer:  P(E) = 1 − ∏ᵢ (1 − pᵢ)</a:t>
            </a:r>
            <a:endParaRPr b="1" sz="1600">
              <a:solidFill>
                <a:srgbClr val="8C1515"/>
              </a:solidFill>
              <a:latin typeface="Calibri"/>
              <a:ea typeface="Calibri"/>
              <a:cs typeface="Calibri"/>
              <a:sym typeface="Calibri"/>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102"/>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Zika Virus…</a:t>
            </a:r>
            <a:endParaRPr/>
          </a:p>
        </p:txBody>
      </p:sp>
      <p:sp>
        <p:nvSpPr>
          <p:cNvPr id="675" name="Google Shape;675;p102"/>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0" lvl="0" marL="0" rtl="0" algn="l">
              <a:spcBef>
                <a:spcPts val="750"/>
              </a:spcBef>
              <a:spcAft>
                <a:spcPts val="0"/>
              </a:spcAft>
              <a:buNone/>
            </a:pPr>
            <a:r>
              <a:t/>
            </a:r>
            <a:endParaRPr/>
          </a:p>
        </p:txBody>
      </p:sp>
      <p:pic>
        <p:nvPicPr>
          <p:cNvPr id="676" name="Google Shape;676;p102" title="Screenshot 2026-09-24 at 9.57.06 AM.png"/>
          <p:cNvPicPr preferRelativeResize="0"/>
          <p:nvPr/>
        </p:nvPicPr>
        <p:blipFill rotWithShape="1">
          <a:blip r:embed="rId3">
            <a:alphaModFix/>
          </a:blip>
          <a:srcRect b="16304" l="0" r="0" t="0"/>
          <a:stretch/>
        </p:blipFill>
        <p:spPr>
          <a:xfrm>
            <a:off x="1495425" y="1456150"/>
            <a:ext cx="6153150" cy="2886000"/>
          </a:xfrm>
          <a:prstGeom prst="rect">
            <a:avLst/>
          </a:prstGeom>
          <a:noFill/>
          <a:ln>
            <a:noFill/>
          </a:ln>
        </p:spPr>
      </p:pic>
      <p:sp>
        <p:nvSpPr>
          <p:cNvPr id="677" name="Google Shape;677;p102"/>
          <p:cNvSpPr/>
          <p:nvPr/>
        </p:nvSpPr>
        <p:spPr>
          <a:xfrm>
            <a:off x="7696200" y="101600"/>
            <a:ext cx="1219200" cy="279300"/>
          </a:xfrm>
          <a:prstGeom prst="roundRect">
            <a:avLst>
              <a:gd fmla="val 16667" name="adj"/>
            </a:avLst>
          </a:prstGeom>
          <a:solidFill>
            <a:srgbClr val="8C1515"/>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PRACTICE</a:t>
            </a:r>
            <a:endParaRPr b="1" sz="1100">
              <a:solidFill>
                <a:srgbClr val="FFFFFF"/>
              </a:solidFill>
              <a:latin typeface="Calibri"/>
              <a:ea typeface="Calibri"/>
              <a:cs typeface="Calibri"/>
              <a:sym typeface="Calibri"/>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103"/>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Zika Virus: Solution</a:t>
            </a:r>
            <a:endParaRPr/>
          </a:p>
        </p:txBody>
      </p:sp>
      <p:sp>
        <p:nvSpPr>
          <p:cNvPr id="683" name="Google Shape;683;p103"/>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Define events: Z = has Zika, T = tests positive. Want P(Z | T).</a:t>
            </a:r>
            <a:endParaRPr sz="1800"/>
          </a:p>
          <a:p>
            <a:pPr indent="0" lvl="0" marL="0" rtl="0" algn="l">
              <a:spcBef>
                <a:spcPts val="750"/>
              </a:spcBef>
              <a:spcAft>
                <a:spcPts val="0"/>
              </a:spcAft>
              <a:buNone/>
            </a:pPr>
            <a:r>
              <a:rPr lang="en" sz="1800"/>
              <a:t>Know: P(Z) = 0.008 (prior),  P(T | Z) = 0.90,  P(T | Zᶜ) = 0.07</a:t>
            </a:r>
            <a:endParaRPr sz="1800"/>
          </a:p>
          <a:p>
            <a:pPr indent="0" lvl="0" marL="0" rtl="0" algn="l">
              <a:spcBef>
                <a:spcPts val="750"/>
              </a:spcBef>
              <a:spcAft>
                <a:spcPts val="0"/>
              </a:spcAft>
              <a:buNone/>
            </a:pPr>
            <a:r>
              <a:rPr lang="en" sz="1800"/>
              <a:t>Step 1 – LOTP for the denominator:</a:t>
            </a:r>
            <a:endParaRPr sz="1800"/>
          </a:p>
          <a:p>
            <a:pPr indent="0" lvl="0" marL="0" rtl="0" algn="l">
              <a:spcBef>
                <a:spcPts val="750"/>
              </a:spcBef>
              <a:spcAft>
                <a:spcPts val="0"/>
              </a:spcAft>
              <a:buNone/>
            </a:pPr>
            <a:r>
              <a:rPr lang="en" sz="1800"/>
              <a:t>P(T) = P(T | Z) · P(Z) + P(T | Zᶜ) · P(Zᶜ)</a:t>
            </a:r>
            <a:endParaRPr sz="1800"/>
          </a:p>
          <a:p>
            <a:pPr indent="0" lvl="0" marL="0" rtl="0" algn="l">
              <a:spcBef>
                <a:spcPts val="750"/>
              </a:spcBef>
              <a:spcAft>
                <a:spcPts val="0"/>
              </a:spcAft>
              <a:buNone/>
            </a:pPr>
            <a:r>
              <a:rPr lang="en" sz="1800"/>
              <a:t>        = (0.90)(0.008) + (0.07)(0.992)</a:t>
            </a:r>
            <a:endParaRPr sz="1800"/>
          </a:p>
          <a:p>
            <a:pPr indent="0" lvl="0" marL="0" rtl="0" algn="l">
              <a:spcBef>
                <a:spcPts val="750"/>
              </a:spcBef>
              <a:spcAft>
                <a:spcPts val="0"/>
              </a:spcAft>
              <a:buNone/>
            </a:pPr>
            <a:r>
              <a:rPr lang="en" sz="1800"/>
              <a:t>        = 0.0072 + 0.06944 = 0.07664</a:t>
            </a:r>
            <a:endParaRPr sz="1800"/>
          </a:p>
          <a:p>
            <a:pPr indent="0" lvl="0" marL="0" rtl="0" algn="l">
              <a:spcBef>
                <a:spcPts val="750"/>
              </a:spcBef>
              <a:spcAft>
                <a:spcPts val="0"/>
              </a:spcAft>
              <a:buNone/>
            </a:pPr>
            <a:r>
              <a:t/>
            </a:r>
            <a:endParaRPr sz="1800"/>
          </a:p>
          <a:p>
            <a:pPr indent="0" lvl="0" marL="0" rtl="0" algn="l">
              <a:spcBef>
                <a:spcPts val="750"/>
              </a:spcBef>
              <a:spcAft>
                <a:spcPts val="0"/>
              </a:spcAft>
              <a:buNone/>
            </a:pPr>
            <a:r>
              <a:rPr lang="en" sz="1800"/>
              <a:t>P(zika | </a:t>
            </a:r>
            <a:r>
              <a:rPr lang="en" sz="1800"/>
              <a:t>positive) = P(positive | zika) P(zika) / P(positive)</a:t>
            </a:r>
            <a:endParaRPr sz="1800"/>
          </a:p>
          <a:p>
            <a:pPr indent="0" lvl="0" marL="0" rtl="0" algn="l">
              <a:spcBef>
                <a:spcPts val="750"/>
              </a:spcBef>
              <a:spcAft>
                <a:spcPts val="0"/>
              </a:spcAft>
              <a:buNone/>
            </a:pPr>
            <a:r>
              <a:t/>
            </a:r>
            <a:endParaRPr sz="1800"/>
          </a:p>
          <a:p>
            <a:pPr indent="0" lvl="0" marL="0" rtl="0" algn="ctr">
              <a:lnSpc>
                <a:spcPct val="100000"/>
              </a:lnSpc>
              <a:spcBef>
                <a:spcPts val="0"/>
              </a:spcBef>
              <a:spcAft>
                <a:spcPts val="0"/>
              </a:spcAft>
              <a:buNone/>
            </a:pPr>
            <a:r>
              <a:rPr b="1" lang="en" sz="1600">
                <a:solidFill>
                  <a:srgbClr val="8C1515"/>
                </a:solidFill>
              </a:rPr>
              <a:t>Answer:  P(Zika | positive test) ≈ 0.094 ≈ 9%</a:t>
            </a:r>
            <a:endParaRPr b="1" sz="1600">
              <a:solidFill>
                <a:srgbClr val="8C1515"/>
              </a:solidFill>
            </a:endParaRPr>
          </a:p>
          <a:p>
            <a:pPr indent="0" lvl="0" marL="0" rtl="0" algn="l">
              <a:spcBef>
                <a:spcPts val="750"/>
              </a:spcBef>
              <a:spcAft>
                <a:spcPts val="0"/>
              </a:spcAft>
              <a:buNone/>
            </a:pPr>
            <a:r>
              <a:t/>
            </a:r>
            <a:endParaRPr b="1" sz="1800"/>
          </a:p>
        </p:txBody>
      </p:sp>
      <p:sp>
        <p:nvSpPr>
          <p:cNvPr id="684" name="Google Shape;684;p103"/>
          <p:cNvSpPr/>
          <p:nvPr/>
        </p:nvSpPr>
        <p:spPr>
          <a:xfrm>
            <a:off x="7696200" y="101600"/>
            <a:ext cx="1219200" cy="279300"/>
          </a:xfrm>
          <a:prstGeom prst="roundRect">
            <a:avLst>
              <a:gd fmla="val 16667" name="adj"/>
            </a:avLst>
          </a:prstGeom>
          <a:solidFill>
            <a:srgbClr val="175E54"/>
          </a:solidFill>
          <a:ln cap="flat" cmpd="sng" w="9525">
            <a:solidFill>
              <a:srgbClr val="175E5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SOLUTION</a:t>
            </a:r>
            <a:endParaRPr b="1" sz="1100">
              <a:solidFill>
                <a:srgbClr val="FFFFFF"/>
              </a:solidFill>
              <a:latin typeface="Calibri"/>
              <a:ea typeface="Calibri"/>
              <a:cs typeface="Calibri"/>
              <a:sym typeface="Calibri"/>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104"/>
          <p:cNvSpPr txBox="1"/>
          <p:nvPr>
            <p:ph type="ctrTitle"/>
          </p:nvPr>
        </p:nvSpPr>
        <p:spPr>
          <a:xfrm>
            <a:off x="1004150" y="1751764"/>
            <a:ext cx="7136700" cy="1022400"/>
          </a:xfrm>
          <a:prstGeom prst="rect">
            <a:avLst/>
          </a:prstGeom>
        </p:spPr>
        <p:txBody>
          <a:bodyPr anchorCtr="0" anchor="b" bIns="45700" lIns="0" spcFirstLastPara="1" rIns="0" wrap="square" tIns="45700">
            <a:noAutofit/>
          </a:bodyPr>
          <a:lstStyle/>
          <a:p>
            <a:pPr indent="0" lvl="0" marL="0" rtl="0" algn="ctr">
              <a:spcBef>
                <a:spcPts val="0"/>
              </a:spcBef>
              <a:spcAft>
                <a:spcPts val="0"/>
              </a:spcAft>
              <a:buNone/>
            </a:pPr>
            <a:r>
              <a:rPr lang="en"/>
              <a:t>More Practice</a:t>
            </a:r>
            <a:endParaRPr/>
          </a:p>
        </p:txBody>
      </p:sp>
      <p:sp>
        <p:nvSpPr>
          <p:cNvPr id="690" name="Google Shape;690;p104"/>
          <p:cNvSpPr txBox="1"/>
          <p:nvPr>
            <p:ph idx="1" type="subTitle"/>
          </p:nvPr>
        </p:nvSpPr>
        <p:spPr>
          <a:xfrm>
            <a:off x="2137225" y="2850039"/>
            <a:ext cx="4870500" cy="792600"/>
          </a:xfrm>
          <a:prstGeom prst="rect">
            <a:avLst/>
          </a:prstGeom>
        </p:spPr>
        <p:txBody>
          <a:bodyPr anchorCtr="0" anchor="t" bIns="45700" lIns="0" spcFirstLastPara="1" rIns="0" wrap="square" tIns="45700">
            <a:noAutofit/>
          </a:bodyPr>
          <a:lstStyle/>
          <a:p>
            <a:pPr indent="0" lvl="0" marL="0" rtl="0" algn="ctr">
              <a:spcBef>
                <a:spcPts val="750"/>
              </a:spcBef>
              <a:spcAft>
                <a:spcPts val="0"/>
              </a:spcAft>
              <a:buNone/>
            </a:pPr>
            <a:r>
              <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105"/>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Warm-up 1: 8-Sided Die</a:t>
            </a:r>
            <a:endParaRPr/>
          </a:p>
        </p:txBody>
      </p:sp>
      <p:sp>
        <p:nvSpPr>
          <p:cNvPr id="696" name="Google Shape;696;p105"/>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a:t>Roll a fair 8-sided die (faces 1 through 8).</a:t>
            </a:r>
            <a:endParaRPr/>
          </a:p>
          <a:p>
            <a:pPr indent="0" lvl="0" marL="0" rtl="0" algn="l">
              <a:spcBef>
                <a:spcPts val="750"/>
              </a:spcBef>
              <a:spcAft>
                <a:spcPts val="0"/>
              </a:spcAft>
              <a:buNone/>
            </a:pPr>
            <a:r>
              <a:rPr lang="en"/>
              <a:t>A = the result is even.     B = the result is ≥ 6.</a:t>
            </a:r>
            <a:endParaRPr/>
          </a:p>
          <a:p>
            <a:pPr indent="0" lvl="0" marL="0" rtl="0" algn="l">
              <a:spcBef>
                <a:spcPts val="750"/>
              </a:spcBef>
              <a:spcAft>
                <a:spcPts val="0"/>
              </a:spcAft>
              <a:buNone/>
            </a:pPr>
            <a:r>
              <a:rPr lang="en"/>
              <a:t>(a) What is P(A)?</a:t>
            </a:r>
            <a:endParaRPr/>
          </a:p>
          <a:p>
            <a:pPr indent="0" lvl="0" marL="0" rtl="0" algn="l">
              <a:spcBef>
                <a:spcPts val="750"/>
              </a:spcBef>
              <a:spcAft>
                <a:spcPts val="0"/>
              </a:spcAft>
              <a:buNone/>
            </a:pPr>
            <a:r>
              <a:rPr lang="en"/>
              <a:t>(b) What is P(B)?</a:t>
            </a:r>
            <a:endParaRPr/>
          </a:p>
          <a:p>
            <a:pPr indent="0" lvl="0" marL="0" rtl="0" algn="l">
              <a:spcBef>
                <a:spcPts val="750"/>
              </a:spcBef>
              <a:spcAft>
                <a:spcPts val="0"/>
              </a:spcAft>
              <a:buNone/>
            </a:pPr>
            <a:r>
              <a:rPr lang="en"/>
              <a:t>(c) What is P(A ∩ B)?</a:t>
            </a:r>
            <a:endParaRPr/>
          </a:p>
          <a:p>
            <a:pPr indent="0" lvl="0" marL="0" rtl="0" algn="l">
              <a:spcBef>
                <a:spcPts val="750"/>
              </a:spcBef>
              <a:spcAft>
                <a:spcPts val="0"/>
              </a:spcAft>
              <a:buNone/>
            </a:pPr>
            <a:r>
              <a:rPr lang="en"/>
              <a:t>(d) What is P(A ∪ B)?</a:t>
            </a:r>
            <a:endParaRPr/>
          </a:p>
          <a:p>
            <a:pPr indent="0" lvl="0" marL="0" rtl="0" algn="l">
              <a:spcBef>
                <a:spcPts val="750"/>
              </a:spcBef>
              <a:spcAft>
                <a:spcPts val="0"/>
              </a:spcAft>
              <a:buNone/>
            </a:pPr>
            <a:r>
              <a:rPr lang="en"/>
              <a:t>Hint: write out the outcomes in each event.</a:t>
            </a:r>
            <a:endParaRPr/>
          </a:p>
        </p:txBody>
      </p:sp>
      <p:sp>
        <p:nvSpPr>
          <p:cNvPr id="697" name="Google Shape;697;p105"/>
          <p:cNvSpPr/>
          <p:nvPr/>
        </p:nvSpPr>
        <p:spPr>
          <a:xfrm>
            <a:off x="7696200" y="101600"/>
            <a:ext cx="1219200" cy="279300"/>
          </a:xfrm>
          <a:prstGeom prst="roundRect">
            <a:avLst>
              <a:gd fmla="val 16667" name="adj"/>
            </a:avLst>
          </a:prstGeom>
          <a:solidFill>
            <a:srgbClr val="8C1515"/>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PRACTICE</a:t>
            </a:r>
            <a:endParaRPr b="1" sz="1100">
              <a:solidFill>
                <a:srgbClr val="FFFFFF"/>
              </a:solidFill>
              <a:latin typeface="Calibri"/>
              <a:ea typeface="Calibri"/>
              <a:cs typeface="Calibri"/>
              <a:sym typeface="Calibri"/>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106"/>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Warm-up 1: Solution</a:t>
            </a:r>
            <a:endParaRPr/>
          </a:p>
        </p:txBody>
      </p:sp>
      <p:sp>
        <p:nvSpPr>
          <p:cNvPr id="703" name="Google Shape;703;p106"/>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S = {1, …, 8}, all equally likely, so P(E) = |E| / 8</a:t>
            </a:r>
            <a:endParaRPr sz="1800"/>
          </a:p>
          <a:p>
            <a:pPr indent="0" lvl="0" marL="0" rtl="0" algn="l">
              <a:spcBef>
                <a:spcPts val="750"/>
              </a:spcBef>
              <a:spcAft>
                <a:spcPts val="0"/>
              </a:spcAft>
              <a:buNone/>
            </a:pPr>
            <a:r>
              <a:rPr lang="en" sz="1800"/>
              <a:t>(a) A = {2, 4, 6, 8} → P(A) = 4/8 = 1/2</a:t>
            </a:r>
            <a:endParaRPr sz="1800"/>
          </a:p>
          <a:p>
            <a:pPr indent="0" lvl="0" marL="0" rtl="0" algn="l">
              <a:spcBef>
                <a:spcPts val="750"/>
              </a:spcBef>
              <a:spcAft>
                <a:spcPts val="0"/>
              </a:spcAft>
              <a:buNone/>
            </a:pPr>
            <a:r>
              <a:rPr lang="en" sz="1800"/>
              <a:t>(b) B = {6, 7, 8} → P(B) = 3/8</a:t>
            </a:r>
            <a:endParaRPr sz="1800"/>
          </a:p>
          <a:p>
            <a:pPr indent="0" lvl="0" marL="0" rtl="0" algn="l">
              <a:spcBef>
                <a:spcPts val="750"/>
              </a:spcBef>
              <a:spcAft>
                <a:spcPts val="0"/>
              </a:spcAft>
              <a:buNone/>
            </a:pPr>
            <a:r>
              <a:rPr lang="en" sz="1800"/>
              <a:t>(c) A ∩ B = {6, 8} → P(A ∩ B) = 2/8 = 1/4</a:t>
            </a:r>
            <a:endParaRPr sz="1800"/>
          </a:p>
          <a:p>
            <a:pPr indent="0" lvl="0" marL="0" rtl="0" algn="l">
              <a:spcBef>
                <a:spcPts val="750"/>
              </a:spcBef>
              <a:spcAft>
                <a:spcPts val="0"/>
              </a:spcAft>
              <a:buNone/>
            </a:pPr>
            <a:r>
              <a:rPr lang="en" sz="1800"/>
              <a:t>(d) Inclusion–exclusion: P(A ∪ B) = 1/2 + 3/8 − 1/4 = 5/8</a:t>
            </a:r>
            <a:endParaRPr sz="1800"/>
          </a:p>
          <a:p>
            <a:pPr indent="0" lvl="0" marL="0" rtl="0" algn="l">
              <a:spcBef>
                <a:spcPts val="750"/>
              </a:spcBef>
              <a:spcAft>
                <a:spcPts val="0"/>
              </a:spcAft>
              <a:buNone/>
            </a:pPr>
            <a:r>
              <a:rPr lang="en" sz="1800"/>
              <a:t>      Check by listing: A ∪ B = {2, 4, 6, 7, 8}, 5 outcomes → 5/8 ✓</a:t>
            </a:r>
            <a:endParaRPr sz="1800"/>
          </a:p>
        </p:txBody>
      </p:sp>
      <p:sp>
        <p:nvSpPr>
          <p:cNvPr id="704" name="Google Shape;704;p106"/>
          <p:cNvSpPr/>
          <p:nvPr/>
        </p:nvSpPr>
        <p:spPr>
          <a:xfrm>
            <a:off x="7696200" y="101600"/>
            <a:ext cx="1219200" cy="279300"/>
          </a:xfrm>
          <a:prstGeom prst="roundRect">
            <a:avLst>
              <a:gd fmla="val 16667" name="adj"/>
            </a:avLst>
          </a:prstGeom>
          <a:solidFill>
            <a:srgbClr val="175E54"/>
          </a:solidFill>
          <a:ln cap="flat" cmpd="sng" w="9525">
            <a:solidFill>
              <a:srgbClr val="175E5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SOLUTION</a:t>
            </a:r>
            <a:endParaRPr b="1" sz="1100">
              <a:solidFill>
                <a:srgbClr val="FFFFFF"/>
              </a:solidFill>
              <a:latin typeface="Calibri"/>
              <a:ea typeface="Calibri"/>
              <a:cs typeface="Calibri"/>
              <a:sym typeface="Calibri"/>
            </a:endParaRPr>
          </a:p>
        </p:txBody>
      </p:sp>
      <p:sp>
        <p:nvSpPr>
          <p:cNvPr id="705" name="Google Shape;705;p106"/>
          <p:cNvSpPr/>
          <p:nvPr/>
        </p:nvSpPr>
        <p:spPr>
          <a:xfrm>
            <a:off x="508000" y="4089400"/>
            <a:ext cx="8127900" cy="482700"/>
          </a:xfrm>
          <a:prstGeom prst="roundRect">
            <a:avLst>
              <a:gd fmla="val 16667" name="adj"/>
            </a:avLst>
          </a:prstGeom>
          <a:solidFill>
            <a:srgbClr val="FFFFFF"/>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8C1515"/>
                </a:solidFill>
                <a:latin typeface="Calibri"/>
                <a:ea typeface="Calibri"/>
                <a:cs typeface="Calibri"/>
                <a:sym typeface="Calibri"/>
              </a:rPr>
              <a:t>Answers:  (a) 1/2     (b) 3/8     (c) 1/4     (d) 5/8</a:t>
            </a:r>
            <a:endParaRPr b="1" sz="1600">
              <a:solidFill>
                <a:srgbClr val="8C1515"/>
              </a:solidFill>
              <a:latin typeface="Calibri"/>
              <a:ea typeface="Calibri"/>
              <a:cs typeface="Calibri"/>
              <a:sym typeface="Calibri"/>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107"/>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Warm-up 2: Birthday Party</a:t>
            </a:r>
            <a:endParaRPr/>
          </a:p>
        </p:txBody>
      </p:sp>
      <p:sp>
        <p:nvSpPr>
          <p:cNvPr id="711" name="Google Shape;711;p107"/>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a:t>You have 6 friends: George, Hannah, Kevin, Shree, Ulo, and Sam.</a:t>
            </a:r>
            <a:endParaRPr/>
          </a:p>
          <a:p>
            <a:pPr indent="0" lvl="0" marL="0" rtl="0" algn="l">
              <a:spcBef>
                <a:spcPts val="750"/>
              </a:spcBef>
              <a:spcAft>
                <a:spcPts val="0"/>
              </a:spcAft>
              <a:buNone/>
            </a:pPr>
            <a:r>
              <a:rPr lang="en"/>
              <a:t>(a) How many ways are there to choose 2 of the 6 friends to invite?</a:t>
            </a:r>
            <a:endParaRPr/>
          </a:p>
          <a:p>
            <a:pPr indent="0" lvl="0" marL="0" rtl="0" algn="l">
              <a:spcBef>
                <a:spcPts val="750"/>
              </a:spcBef>
              <a:spcAft>
                <a:spcPts val="0"/>
              </a:spcAft>
              <a:buNone/>
            </a:pPr>
            <a:r>
              <a:rPr lang="en"/>
              <a:t>(b) Shree and Sam must come together or not at all. Now how many ways are there to choose 2 friends?</a:t>
            </a:r>
            <a:endParaRPr/>
          </a:p>
        </p:txBody>
      </p:sp>
      <p:sp>
        <p:nvSpPr>
          <p:cNvPr id="712" name="Google Shape;712;p107"/>
          <p:cNvSpPr/>
          <p:nvPr/>
        </p:nvSpPr>
        <p:spPr>
          <a:xfrm>
            <a:off x="7696200" y="101600"/>
            <a:ext cx="1219200" cy="279300"/>
          </a:xfrm>
          <a:prstGeom prst="roundRect">
            <a:avLst>
              <a:gd fmla="val 16667" name="adj"/>
            </a:avLst>
          </a:prstGeom>
          <a:solidFill>
            <a:srgbClr val="8C1515"/>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PRACTICE</a:t>
            </a:r>
            <a:endParaRPr b="1" sz="1100">
              <a:solidFill>
                <a:srgbClr val="FFFFFF"/>
              </a:solidFill>
              <a:latin typeface="Calibri"/>
              <a:ea typeface="Calibri"/>
              <a:cs typeface="Calibri"/>
              <a:sym typeface="Calibri"/>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108"/>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Warm-up 2: Solution</a:t>
            </a:r>
            <a:endParaRPr/>
          </a:p>
        </p:txBody>
      </p:sp>
      <p:sp>
        <p:nvSpPr>
          <p:cNvPr id="718" name="Google Shape;718;p108"/>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(a) Order doesn’t matter: C(6, 2) = 6! / (2! · 4!) = 15</a:t>
            </a:r>
            <a:endParaRPr sz="1800"/>
          </a:p>
          <a:p>
            <a:pPr indent="0" lvl="0" marL="0" rtl="0" algn="l">
              <a:spcBef>
                <a:spcPts val="750"/>
              </a:spcBef>
              <a:spcAft>
                <a:spcPts val="0"/>
              </a:spcAft>
              <a:buNone/>
            </a:pPr>
            <a:r>
              <a:rPr lang="en" sz="1800"/>
              <a:t>(b) Split into cases that can’t overlap (sum rule):</a:t>
            </a:r>
            <a:endParaRPr sz="1800"/>
          </a:p>
          <a:p>
            <a:pPr indent="0" lvl="0" marL="0" rtl="0" algn="l">
              <a:spcBef>
                <a:spcPts val="750"/>
              </a:spcBef>
              <a:spcAft>
                <a:spcPts val="0"/>
              </a:spcAft>
              <a:buNone/>
            </a:pPr>
            <a:r>
              <a:rPr lang="en" sz="1800"/>
              <a:t>      Case 1: invite the pair {Shree, Sam} → 1 way</a:t>
            </a:r>
            <a:endParaRPr sz="1800"/>
          </a:p>
          <a:p>
            <a:pPr indent="0" lvl="0" marL="0" rtl="0" algn="l">
              <a:spcBef>
                <a:spcPts val="750"/>
              </a:spcBef>
              <a:spcAft>
                <a:spcPts val="0"/>
              </a:spcAft>
              <a:buNone/>
            </a:pPr>
            <a:r>
              <a:rPr lang="en" sz="1800"/>
              <a:t>      Case 2: invite neither → choose 2 of the other 4: C(4, 2) = 6</a:t>
            </a:r>
            <a:endParaRPr sz="1800"/>
          </a:p>
          <a:p>
            <a:pPr indent="0" lvl="0" marL="0" rtl="0" algn="l">
              <a:spcBef>
                <a:spcPts val="750"/>
              </a:spcBef>
              <a:spcAft>
                <a:spcPts val="0"/>
              </a:spcAft>
              <a:buNone/>
            </a:pPr>
            <a:r>
              <a:rPr lang="en" sz="1800"/>
              <a:t>      Total = 1 + 6 = 7</a:t>
            </a:r>
            <a:endParaRPr sz="1800"/>
          </a:p>
          <a:p>
            <a:pPr indent="0" lvl="0" marL="0" rtl="0" algn="l">
              <a:spcBef>
                <a:spcPts val="750"/>
              </a:spcBef>
              <a:spcAft>
                <a:spcPts val="0"/>
              </a:spcAft>
              <a:buNone/>
            </a:pPr>
            <a:r>
              <a:rPr lang="en" sz="1800"/>
              <a:t>(Inviting only one of Shree and Sam isn’t allowed.)</a:t>
            </a:r>
            <a:endParaRPr sz="1800"/>
          </a:p>
        </p:txBody>
      </p:sp>
      <p:sp>
        <p:nvSpPr>
          <p:cNvPr id="719" name="Google Shape;719;p108"/>
          <p:cNvSpPr/>
          <p:nvPr/>
        </p:nvSpPr>
        <p:spPr>
          <a:xfrm>
            <a:off x="7696200" y="101600"/>
            <a:ext cx="1219200" cy="279300"/>
          </a:xfrm>
          <a:prstGeom prst="roundRect">
            <a:avLst>
              <a:gd fmla="val 16667" name="adj"/>
            </a:avLst>
          </a:prstGeom>
          <a:solidFill>
            <a:srgbClr val="175E54"/>
          </a:solidFill>
          <a:ln cap="flat" cmpd="sng" w="9525">
            <a:solidFill>
              <a:srgbClr val="175E5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SOLUTION</a:t>
            </a:r>
            <a:endParaRPr b="1" sz="1100">
              <a:solidFill>
                <a:srgbClr val="FFFFFF"/>
              </a:solidFill>
              <a:latin typeface="Calibri"/>
              <a:ea typeface="Calibri"/>
              <a:cs typeface="Calibri"/>
              <a:sym typeface="Calibri"/>
            </a:endParaRPr>
          </a:p>
        </p:txBody>
      </p:sp>
      <p:sp>
        <p:nvSpPr>
          <p:cNvPr id="720" name="Google Shape;720;p108"/>
          <p:cNvSpPr/>
          <p:nvPr/>
        </p:nvSpPr>
        <p:spPr>
          <a:xfrm>
            <a:off x="508000" y="4089400"/>
            <a:ext cx="8127900" cy="482700"/>
          </a:xfrm>
          <a:prstGeom prst="roundRect">
            <a:avLst>
              <a:gd fmla="val 16667" name="adj"/>
            </a:avLst>
          </a:prstGeom>
          <a:solidFill>
            <a:srgbClr val="FFFFFF"/>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8C1515"/>
                </a:solidFill>
                <a:latin typeface="Calibri"/>
                <a:ea typeface="Calibri"/>
                <a:cs typeface="Calibri"/>
                <a:sym typeface="Calibri"/>
              </a:rPr>
              <a:t>Answers:  (a) 15     (b) 7</a:t>
            </a:r>
            <a:endParaRPr b="1" sz="1600">
              <a:solidFill>
                <a:srgbClr val="8C1515"/>
              </a:solidFill>
              <a:latin typeface="Calibri"/>
              <a:ea typeface="Calibri"/>
              <a:cs typeface="Calibri"/>
              <a:sym typeface="Calibri"/>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109"/>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Warm-up 3: Entry Codes</a:t>
            </a:r>
            <a:endParaRPr/>
          </a:p>
        </p:txBody>
      </p:sp>
      <p:sp>
        <p:nvSpPr>
          <p:cNvPr id="726" name="Google Shape;726;p109"/>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a:t>Entry codes are 6 digits and may start with 0 (e.g., 379009, 012345, 000000).</a:t>
            </a:r>
            <a:endParaRPr/>
          </a:p>
          <a:p>
            <a:pPr indent="0" lvl="0" marL="0" rtl="0" algn="l">
              <a:spcBef>
                <a:spcPts val="750"/>
              </a:spcBef>
              <a:spcAft>
                <a:spcPts val="0"/>
              </a:spcAft>
              <a:buNone/>
            </a:pPr>
            <a:r>
              <a:rPr lang="en"/>
              <a:t>(a) How many codes are possible?</a:t>
            </a:r>
            <a:endParaRPr/>
          </a:p>
          <a:p>
            <a:pPr indent="0" lvl="0" marL="0" rtl="0" algn="l">
              <a:spcBef>
                <a:spcPts val="750"/>
              </a:spcBef>
              <a:spcAft>
                <a:spcPts val="0"/>
              </a:spcAft>
              <a:buNone/>
            </a:pPr>
            <a:r>
              <a:rPr lang="en"/>
              <a:t>(b) How many are the same two digits repeated three times (121212, 333333)?</a:t>
            </a:r>
            <a:endParaRPr/>
          </a:p>
          <a:p>
            <a:pPr indent="0" lvl="0" marL="0" rtl="0" algn="l">
              <a:spcBef>
                <a:spcPts val="750"/>
              </a:spcBef>
              <a:spcAft>
                <a:spcPts val="0"/>
              </a:spcAft>
              <a:buNone/>
            </a:pPr>
            <a:r>
              <a:rPr lang="en"/>
              <a:t>(c) How many use each of the digits 1–6 exactly once (254631)?</a:t>
            </a:r>
            <a:endParaRPr/>
          </a:p>
          <a:p>
            <a:pPr indent="0" lvl="0" marL="0" rtl="0" algn="l">
              <a:spcBef>
                <a:spcPts val="750"/>
              </a:spcBef>
              <a:spcAft>
                <a:spcPts val="0"/>
              </a:spcAft>
              <a:buNone/>
            </a:pPr>
            <a:r>
              <a:rPr lang="en"/>
              <a:t>(d) Stretch: a code is valid if its digits sum to exactly 9. What is P(valid) for a code picked uniformly at random?</a:t>
            </a:r>
            <a:endParaRPr/>
          </a:p>
        </p:txBody>
      </p:sp>
      <p:sp>
        <p:nvSpPr>
          <p:cNvPr id="727" name="Google Shape;727;p109"/>
          <p:cNvSpPr/>
          <p:nvPr/>
        </p:nvSpPr>
        <p:spPr>
          <a:xfrm>
            <a:off x="7696200" y="101600"/>
            <a:ext cx="1219200" cy="279300"/>
          </a:xfrm>
          <a:prstGeom prst="roundRect">
            <a:avLst>
              <a:gd fmla="val 16667" name="adj"/>
            </a:avLst>
          </a:prstGeom>
          <a:solidFill>
            <a:srgbClr val="8C1515"/>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PRACTICE</a:t>
            </a:r>
            <a:endParaRPr b="1" sz="1100">
              <a:solidFill>
                <a:srgbClr val="FFFFFF"/>
              </a:solidFill>
              <a:latin typeface="Calibri"/>
              <a:ea typeface="Calibri"/>
              <a:cs typeface="Calibri"/>
              <a:sym typeface="Calibri"/>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110"/>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Warm-up 3: Solution (1/2)</a:t>
            </a:r>
            <a:endParaRPr/>
          </a:p>
        </p:txBody>
      </p:sp>
      <p:sp>
        <p:nvSpPr>
          <p:cNvPr id="733" name="Google Shape;733;p110"/>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(a) 10 choices for each of 6 positions (product rule): 10⁶ = 1,000,000</a:t>
            </a:r>
            <a:endParaRPr sz="1800"/>
          </a:p>
          <a:p>
            <a:pPr indent="0" lvl="0" marL="0" rtl="0" algn="l">
              <a:spcBef>
                <a:spcPts val="750"/>
              </a:spcBef>
              <a:spcAft>
                <a:spcPts val="0"/>
              </a:spcAft>
              <a:buNone/>
            </a:pPr>
            <a:r>
              <a:rPr lang="en" sz="1800"/>
              <a:t>(b) The first two digits fix the whole code: 10 · 10 = 100</a:t>
            </a:r>
            <a:endParaRPr sz="1800"/>
          </a:p>
          <a:p>
            <a:pPr indent="0" lvl="0" marL="0" rtl="0" algn="l">
              <a:spcBef>
                <a:spcPts val="750"/>
              </a:spcBef>
              <a:spcAft>
                <a:spcPts val="0"/>
              </a:spcAft>
              <a:buNone/>
            </a:pPr>
            <a:r>
              <a:rPr lang="en" sz="1800"/>
              <a:t>(c) Arrange 6 distinct digits in a row: 6! = 720</a:t>
            </a:r>
            <a:endParaRPr sz="1800"/>
          </a:p>
          <a:p>
            <a:pPr indent="0" lvl="0" marL="0" rtl="0" algn="l">
              <a:spcBef>
                <a:spcPts val="750"/>
              </a:spcBef>
              <a:spcAft>
                <a:spcPts val="0"/>
              </a:spcAft>
              <a:buNone/>
            </a:pPr>
            <a:r>
              <a:rPr lang="en" sz="1800"/>
              <a:t>(Careful in (b): 333333 counts once, as the pair “33”.)</a:t>
            </a:r>
            <a:endParaRPr sz="1800"/>
          </a:p>
          <a:p>
            <a:pPr indent="0" lvl="0" marL="0" rtl="0" algn="l">
              <a:spcBef>
                <a:spcPts val="750"/>
              </a:spcBef>
              <a:spcAft>
                <a:spcPts val="0"/>
              </a:spcAft>
              <a:buNone/>
            </a:pPr>
            <a:r>
              <a:t/>
            </a:r>
            <a:endParaRPr sz="1800"/>
          </a:p>
        </p:txBody>
      </p:sp>
      <p:sp>
        <p:nvSpPr>
          <p:cNvPr id="734" name="Google Shape;734;p110"/>
          <p:cNvSpPr/>
          <p:nvPr/>
        </p:nvSpPr>
        <p:spPr>
          <a:xfrm>
            <a:off x="7696200" y="101600"/>
            <a:ext cx="1219200" cy="279300"/>
          </a:xfrm>
          <a:prstGeom prst="roundRect">
            <a:avLst>
              <a:gd fmla="val 16667" name="adj"/>
            </a:avLst>
          </a:prstGeom>
          <a:solidFill>
            <a:srgbClr val="175E54"/>
          </a:solidFill>
          <a:ln cap="flat" cmpd="sng" w="9525">
            <a:solidFill>
              <a:srgbClr val="175E5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SOLUTION</a:t>
            </a:r>
            <a:endParaRPr b="1" sz="1100">
              <a:solidFill>
                <a:srgbClr val="FFFFFF"/>
              </a:solidFill>
              <a:latin typeface="Calibri"/>
              <a:ea typeface="Calibri"/>
              <a:cs typeface="Calibri"/>
              <a:sym typeface="Calibri"/>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111"/>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Warm-up 3: Solution (2/2)</a:t>
            </a:r>
            <a:endParaRPr/>
          </a:p>
        </p:txBody>
      </p:sp>
      <p:sp>
        <p:nvSpPr>
          <p:cNvPr id="740" name="Google Shape;740;p111"/>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(d) Count digit strings with d₁ + d₂ + … + d₆ = 9, where each digit ≥ 0</a:t>
            </a:r>
            <a:endParaRPr sz="1800"/>
          </a:p>
          <a:p>
            <a:pPr indent="0" lvl="0" marL="0" rtl="0" algn="l">
              <a:spcBef>
                <a:spcPts val="750"/>
              </a:spcBef>
              <a:spcAft>
                <a:spcPts val="0"/>
              </a:spcAft>
              <a:buNone/>
            </a:pPr>
            <a:r>
              <a:rPr lang="en" sz="1800"/>
              <a:t>      No digit can exceed 9, since the total is only 9</a:t>
            </a:r>
            <a:endParaRPr sz="1800"/>
          </a:p>
          <a:p>
            <a:pPr indent="0" lvl="0" marL="0" rtl="0" algn="l">
              <a:spcBef>
                <a:spcPts val="750"/>
              </a:spcBef>
              <a:spcAft>
                <a:spcPts val="0"/>
              </a:spcAft>
              <a:buNone/>
            </a:pPr>
            <a:r>
              <a:rPr lang="en" sz="1800"/>
              <a:t>      Stars and bars: 9 stars and 5 bars in a row → C(14, 5) = 2002</a:t>
            </a:r>
            <a:endParaRPr sz="1800"/>
          </a:p>
          <a:p>
            <a:pPr indent="0" lvl="0" marL="0" rtl="0" algn="l">
              <a:spcBef>
                <a:spcPts val="750"/>
              </a:spcBef>
              <a:spcAft>
                <a:spcPts val="0"/>
              </a:spcAft>
              <a:buNone/>
            </a:pPr>
            <a:r>
              <a:rPr lang="en" sz="1800"/>
              <a:t>      P(valid) = 2002 / 10⁶ ≈ 0.002</a:t>
            </a:r>
            <a:endParaRPr sz="1800"/>
          </a:p>
          <a:p>
            <a:pPr indent="0" lvl="0" marL="0" rtl="0" algn="l">
              <a:spcBef>
                <a:spcPts val="750"/>
              </a:spcBef>
              <a:spcAft>
                <a:spcPts val="0"/>
              </a:spcAft>
              <a:buNone/>
            </a:pPr>
            <a:r>
              <a:rPr lang="en" sz="1800"/>
              <a:t>(Checked by brute force over all 10⁶ codes.)</a:t>
            </a:r>
            <a:endParaRPr sz="1800"/>
          </a:p>
        </p:txBody>
      </p:sp>
      <p:sp>
        <p:nvSpPr>
          <p:cNvPr id="741" name="Google Shape;741;p111"/>
          <p:cNvSpPr/>
          <p:nvPr/>
        </p:nvSpPr>
        <p:spPr>
          <a:xfrm>
            <a:off x="7696200" y="101600"/>
            <a:ext cx="1219200" cy="279300"/>
          </a:xfrm>
          <a:prstGeom prst="roundRect">
            <a:avLst>
              <a:gd fmla="val 16667" name="adj"/>
            </a:avLst>
          </a:prstGeom>
          <a:solidFill>
            <a:srgbClr val="175E54"/>
          </a:solidFill>
          <a:ln cap="flat" cmpd="sng" w="9525">
            <a:solidFill>
              <a:srgbClr val="175E5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SOLUTION</a:t>
            </a:r>
            <a:endParaRPr b="1" sz="1100">
              <a:solidFill>
                <a:srgbClr val="FFFFFF"/>
              </a:solidFill>
              <a:latin typeface="Calibri"/>
              <a:ea typeface="Calibri"/>
              <a:cs typeface="Calibri"/>
              <a:sym typeface="Calibri"/>
            </a:endParaRPr>
          </a:p>
        </p:txBody>
      </p:sp>
      <p:sp>
        <p:nvSpPr>
          <p:cNvPr id="742" name="Google Shape;742;p111"/>
          <p:cNvSpPr/>
          <p:nvPr/>
        </p:nvSpPr>
        <p:spPr>
          <a:xfrm>
            <a:off x="508000" y="4089400"/>
            <a:ext cx="8127900" cy="482700"/>
          </a:xfrm>
          <a:prstGeom prst="roundRect">
            <a:avLst>
              <a:gd fmla="val 16667" name="adj"/>
            </a:avLst>
          </a:prstGeom>
          <a:solidFill>
            <a:srgbClr val="FFFFFF"/>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8C1515"/>
                </a:solidFill>
                <a:latin typeface="Calibri"/>
                <a:ea typeface="Calibri"/>
                <a:cs typeface="Calibri"/>
                <a:sym typeface="Calibri"/>
              </a:rPr>
              <a:t>Answers:  (a) 10⁶     (b) 100     (c) 720     (d) 2002 / 10⁶ ≈ 0.002</a:t>
            </a:r>
            <a:endParaRPr b="1" sz="1600">
              <a:solidFill>
                <a:srgbClr val="8C1515"/>
              </a:solidFill>
              <a:latin typeface="Calibri"/>
              <a:ea typeface="Calibri"/>
              <a:cs typeface="Calibri"/>
              <a:sym typeface="Calibri"/>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112"/>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Extra (for this week): Stars and Bars</a:t>
            </a:r>
            <a:endParaRPr/>
          </a:p>
        </p:txBody>
      </p:sp>
      <p:sp>
        <p:nvSpPr>
          <p:cNvPr id="748" name="Google Shape;748;p112"/>
          <p:cNvSpPr txBox="1"/>
          <p:nvPr>
            <p:ph idx="1" type="body"/>
          </p:nvPr>
        </p:nvSpPr>
        <p:spPr>
          <a:xfrm>
            <a:off x="407965" y="1334745"/>
            <a:ext cx="8503800" cy="3432600"/>
          </a:xfrm>
          <a:prstGeom prst="rect">
            <a:avLst/>
          </a:prstGeom>
        </p:spPr>
        <p:txBody>
          <a:bodyPr anchorCtr="0" anchor="t" bIns="45700" lIns="0" spcFirstLastPara="1" rIns="0" wrap="square" tIns="45700">
            <a:normAutofit/>
          </a:bodyPr>
          <a:lstStyle/>
          <a:p>
            <a:pPr indent="0" lvl="0" marL="0" rtl="0" algn="l">
              <a:spcBef>
                <a:spcPts val="750"/>
              </a:spcBef>
              <a:spcAft>
                <a:spcPts val="0"/>
              </a:spcAft>
              <a:buNone/>
            </a:pPr>
            <a:r>
              <a:rPr lang="en"/>
              <a:t>10 identical units </a:t>
            </a:r>
            <a:r>
              <a:rPr lang="en"/>
              <a:t>among 3 labeled bins</a:t>
            </a:r>
            <a:endParaRPr/>
          </a:p>
          <a:p>
            <a:pPr indent="0" lvl="0" marL="0" rtl="0" algn="l">
              <a:spcBef>
                <a:spcPts val="750"/>
              </a:spcBef>
              <a:spcAft>
                <a:spcPts val="0"/>
              </a:spcAft>
              <a:buNone/>
            </a:pPr>
            <a:r>
              <a:t/>
            </a:r>
            <a:endParaRPr/>
          </a:p>
          <a:p>
            <a:pPr indent="0" lvl="0" marL="0" rtl="0" algn="l">
              <a:spcBef>
                <a:spcPts val="750"/>
              </a:spcBef>
              <a:spcAft>
                <a:spcPts val="0"/>
              </a:spcAft>
              <a:buNone/>
            </a:pPr>
            <a:r>
              <a:t/>
            </a:r>
            <a:endParaRPr/>
          </a:p>
          <a:p>
            <a:pPr indent="0" lvl="0" marL="0" rtl="0" algn="l">
              <a:spcBef>
                <a:spcPts val="750"/>
              </a:spcBef>
              <a:spcAft>
                <a:spcPts val="0"/>
              </a:spcAft>
              <a:buNone/>
            </a:pPr>
            <a:r>
              <a:t/>
            </a:r>
            <a:endParaRPr/>
          </a:p>
          <a:p>
            <a:pPr indent="0" lvl="0" marL="0" rtl="0" algn="l">
              <a:spcBef>
                <a:spcPts val="750"/>
              </a:spcBef>
              <a:spcAft>
                <a:spcPts val="0"/>
              </a:spcAft>
              <a:buNone/>
            </a:pPr>
            <a:r>
              <a:t/>
            </a:r>
            <a:endParaRPr/>
          </a:p>
          <a:p>
            <a:pPr indent="0" lvl="0" marL="0" rtl="0" algn="l">
              <a:spcBef>
                <a:spcPts val="750"/>
              </a:spcBef>
              <a:spcAft>
                <a:spcPts val="0"/>
              </a:spcAft>
              <a:buNone/>
            </a:pPr>
            <a:r>
              <a:t/>
            </a:r>
            <a:endParaRPr/>
          </a:p>
          <a:p>
            <a:pPr indent="0" lvl="0" marL="0" rtl="0" algn="l">
              <a:spcBef>
                <a:spcPts val="750"/>
              </a:spcBef>
              <a:spcAft>
                <a:spcPts val="0"/>
              </a:spcAft>
              <a:buNone/>
            </a:pPr>
            <a:r>
              <a:t/>
            </a:r>
            <a:endParaRPr/>
          </a:p>
          <a:p>
            <a:pPr indent="0" lvl="0" marL="0" rtl="0" algn="l">
              <a:spcBef>
                <a:spcPts val="750"/>
              </a:spcBef>
              <a:spcAft>
                <a:spcPts val="0"/>
              </a:spcAft>
              <a:buNone/>
            </a:pPr>
            <a:r>
              <a:rPr lang="en"/>
              <a:t>(10 + (3-1)) choose 2</a:t>
            </a:r>
            <a:endParaRPr/>
          </a:p>
        </p:txBody>
      </p:sp>
      <p:pic>
        <p:nvPicPr>
          <p:cNvPr id="749" name="Google Shape;749;p112"/>
          <p:cNvPicPr preferRelativeResize="0"/>
          <p:nvPr/>
        </p:nvPicPr>
        <p:blipFill>
          <a:blip r:embed="rId3">
            <a:alphaModFix/>
          </a:blip>
          <a:stretch>
            <a:fillRect/>
          </a:stretch>
        </p:blipFill>
        <p:spPr>
          <a:xfrm>
            <a:off x="510600" y="1725076"/>
            <a:ext cx="8298549" cy="2418425"/>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113"/>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Counting Challenge: Six-Card Poker</a:t>
            </a:r>
            <a:endParaRPr/>
          </a:p>
        </p:txBody>
      </p:sp>
      <p:sp>
        <p:nvSpPr>
          <p:cNvPr id="755" name="Google Shape;755;p113"/>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a:t>A casino deals 6-card poker hands from a standard 52-card deck (hands are unordered).</a:t>
            </a:r>
            <a:endParaRPr/>
          </a:p>
          <a:p>
            <a:pPr indent="0" lvl="0" marL="0" rtl="0" algn="l">
              <a:spcBef>
                <a:spcPts val="750"/>
              </a:spcBef>
              <a:spcAft>
                <a:spcPts val="0"/>
              </a:spcAft>
              <a:buNone/>
            </a:pPr>
            <a:r>
              <a:rPr lang="en"/>
              <a:t>(a) Three pair: 2 cards of one rank, 2 of another, and 2 of a third. What is P(three pair)?</a:t>
            </a:r>
            <a:endParaRPr/>
          </a:p>
          <a:p>
            <a:pPr indent="0" lvl="0" marL="0" rtl="0" algn="l">
              <a:spcBef>
                <a:spcPts val="750"/>
              </a:spcBef>
              <a:spcAft>
                <a:spcPts val="0"/>
              </a:spcAft>
              <a:buNone/>
            </a:pPr>
            <a:r>
              <a:rPr lang="en"/>
              <a:t>(b) Pyramid: 3 cards of one rank, 2 of another, and 1 of a third. What is P(pyramid)?</a:t>
            </a:r>
            <a:endParaRPr/>
          </a:p>
        </p:txBody>
      </p:sp>
      <p:sp>
        <p:nvSpPr>
          <p:cNvPr id="756" name="Google Shape;756;p113"/>
          <p:cNvSpPr/>
          <p:nvPr/>
        </p:nvSpPr>
        <p:spPr>
          <a:xfrm>
            <a:off x="7696200" y="101600"/>
            <a:ext cx="1219200" cy="279300"/>
          </a:xfrm>
          <a:prstGeom prst="roundRect">
            <a:avLst>
              <a:gd fmla="val 16667" name="adj"/>
            </a:avLst>
          </a:prstGeom>
          <a:solidFill>
            <a:srgbClr val="8C1515"/>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PRACTICE</a:t>
            </a:r>
            <a:endParaRPr b="1" sz="1100">
              <a:solidFill>
                <a:srgbClr val="FFFFFF"/>
              </a:solidFill>
              <a:latin typeface="Calibri"/>
              <a:ea typeface="Calibri"/>
              <a:cs typeface="Calibri"/>
              <a:sym typeface="Calibri"/>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114"/>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Solution</a:t>
            </a:r>
            <a:r>
              <a:rPr lang="en"/>
              <a:t>: Six-Card Poker</a:t>
            </a:r>
            <a:endParaRPr/>
          </a:p>
        </p:txBody>
      </p:sp>
      <p:sp>
        <p:nvSpPr>
          <p:cNvPr id="762" name="Google Shape;762;p114"/>
          <p:cNvSpPr txBox="1"/>
          <p:nvPr>
            <p:ph idx="1" type="body"/>
          </p:nvPr>
        </p:nvSpPr>
        <p:spPr>
          <a:xfrm>
            <a:off x="407965" y="1334748"/>
            <a:ext cx="8503800" cy="2571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750"/>
              </a:spcBef>
              <a:spcAft>
                <a:spcPts val="0"/>
              </a:spcAft>
              <a:buNone/>
            </a:pPr>
            <a:r>
              <a:rPr b="1" i="0" lang="en" sz="1600">
                <a:solidFill>
                  <a:srgbClr val="2E2C28"/>
                </a:solidFill>
                <a:latin typeface="Calibri"/>
                <a:ea typeface="Calibri"/>
                <a:cs typeface="Calibri"/>
                <a:sym typeface="Calibri"/>
              </a:rPr>
              <a:t>Sample Space:</a:t>
            </a:r>
            <a:r>
              <a:rPr b="0" i="0" lang="en" sz="1600">
                <a:solidFill>
                  <a:srgbClr val="2E2C28"/>
                </a:solidFill>
                <a:latin typeface="Calibri"/>
                <a:ea typeface="Calibri"/>
                <a:cs typeface="Calibri"/>
                <a:sym typeface="Calibri"/>
              </a:rPr>
              <a:t> |S| = C(52, 6) = 20,358,520 unordered hands</a:t>
            </a:r>
            <a:endParaRPr b="0" i="0" sz="1600">
              <a:solidFill>
                <a:srgbClr val="2E2C28"/>
              </a:solidFill>
              <a:latin typeface="Calibri"/>
              <a:ea typeface="Calibri"/>
              <a:cs typeface="Calibri"/>
              <a:sym typeface="Calibri"/>
            </a:endParaRPr>
          </a:p>
          <a:p>
            <a:pPr indent="0" lvl="0" marL="0" rtl="0" algn="l">
              <a:spcBef>
                <a:spcPts val="750"/>
              </a:spcBef>
              <a:spcAft>
                <a:spcPts val="0"/>
              </a:spcAft>
              <a:buNone/>
            </a:pPr>
            <a:r>
              <a:rPr b="1" i="0" lang="en" sz="1600">
                <a:solidFill>
                  <a:srgbClr val="2E2C28"/>
                </a:solidFill>
                <a:latin typeface="Calibri"/>
                <a:ea typeface="Calibri"/>
                <a:cs typeface="Calibri"/>
                <a:sym typeface="Calibri"/>
              </a:rPr>
              <a:t>(a) Three pair:</a:t>
            </a:r>
            <a:r>
              <a:rPr b="0" i="0" lang="en" sz="1600">
                <a:solidFill>
                  <a:srgbClr val="2E2C28"/>
                </a:solidFill>
                <a:latin typeface="Calibri"/>
                <a:ea typeface="Calibri"/>
                <a:cs typeface="Calibri"/>
                <a:sym typeface="Calibri"/>
              </a:rPr>
              <a:t> Choose 3 ranks, then choose 2 suits for each rank:</a:t>
            </a:r>
            <a:endParaRPr b="0" i="0" sz="1600">
              <a:solidFill>
                <a:srgbClr val="2E2C28"/>
              </a:solidFill>
              <a:latin typeface="Calibri"/>
              <a:ea typeface="Calibri"/>
              <a:cs typeface="Calibri"/>
              <a:sym typeface="Calibri"/>
            </a:endParaRPr>
          </a:p>
          <a:p>
            <a:pPr indent="0" lvl="0" marL="190500" marR="0" rtl="0" algn="l">
              <a:spcBef>
                <a:spcPts val="750"/>
              </a:spcBef>
              <a:spcAft>
                <a:spcPts val="0"/>
              </a:spcAft>
              <a:buNone/>
            </a:pPr>
            <a:r>
              <a:rPr b="0" i="0" lang="en" sz="1600">
                <a:solidFill>
                  <a:srgbClr val="2E2C28"/>
                </a:solidFill>
                <a:latin typeface="Calibri"/>
                <a:ea typeface="Calibri"/>
                <a:cs typeface="Calibri"/>
                <a:sym typeface="Calibri"/>
              </a:rPr>
              <a:t>|E| = C(13, 3) · C(4, 2)³ = 286 · 216 = 61,776 → P(three pair) = 61,776 / 20,358,520 ≈ </a:t>
            </a:r>
            <a:r>
              <a:rPr b="1" i="0" lang="en" sz="1600">
                <a:solidFill>
                  <a:srgbClr val="2E2C28"/>
                </a:solidFill>
                <a:latin typeface="Calibri"/>
                <a:ea typeface="Calibri"/>
                <a:cs typeface="Calibri"/>
                <a:sym typeface="Calibri"/>
              </a:rPr>
              <a:t>0.3034%</a:t>
            </a:r>
            <a:endParaRPr b="0" i="0" sz="1600">
              <a:solidFill>
                <a:srgbClr val="2E2C28"/>
              </a:solidFill>
              <a:latin typeface="Calibri"/>
              <a:ea typeface="Calibri"/>
              <a:cs typeface="Calibri"/>
              <a:sym typeface="Calibri"/>
            </a:endParaRPr>
          </a:p>
          <a:p>
            <a:pPr indent="0" lvl="0" marL="0" rtl="0" algn="l">
              <a:spcBef>
                <a:spcPts val="1000"/>
              </a:spcBef>
              <a:spcAft>
                <a:spcPts val="0"/>
              </a:spcAft>
              <a:buNone/>
            </a:pPr>
            <a:r>
              <a:rPr b="1" i="0" lang="en" sz="1600">
                <a:solidFill>
                  <a:srgbClr val="2E2C28"/>
                </a:solidFill>
                <a:latin typeface="Calibri"/>
                <a:ea typeface="Calibri"/>
                <a:cs typeface="Calibri"/>
                <a:sym typeface="Calibri"/>
              </a:rPr>
              <a:t>(b) Pyramid (3–2–1):</a:t>
            </a:r>
            <a:r>
              <a:rPr b="0" i="0" lang="en" sz="1600">
                <a:solidFill>
                  <a:srgbClr val="2E2C28"/>
                </a:solidFill>
                <a:latin typeface="Calibri"/>
                <a:ea typeface="Calibri"/>
                <a:cs typeface="Calibri"/>
                <a:sym typeface="Calibri"/>
              </a:rPr>
              <a:t> Choose distinct ranks for triple, pair, single (13 · 12 · 11), then pick suits:</a:t>
            </a:r>
            <a:endParaRPr b="0" i="0" sz="1600">
              <a:solidFill>
                <a:srgbClr val="2E2C28"/>
              </a:solidFill>
              <a:latin typeface="Calibri"/>
              <a:ea typeface="Calibri"/>
              <a:cs typeface="Calibri"/>
              <a:sym typeface="Calibri"/>
            </a:endParaRPr>
          </a:p>
          <a:p>
            <a:pPr indent="0" lvl="0" marL="190500" marR="0" rtl="0" algn="l">
              <a:spcBef>
                <a:spcPts val="750"/>
              </a:spcBef>
              <a:spcAft>
                <a:spcPts val="0"/>
              </a:spcAft>
              <a:buNone/>
            </a:pPr>
            <a:r>
              <a:rPr b="0" i="0" lang="en" sz="1600">
                <a:solidFill>
                  <a:srgbClr val="2E2C28"/>
                </a:solidFill>
                <a:latin typeface="Calibri"/>
                <a:ea typeface="Calibri"/>
                <a:cs typeface="Calibri"/>
                <a:sym typeface="Calibri"/>
              </a:rPr>
              <a:t>|E| = (13)(12)(11) · C(4, 3) · C(4, 2) · C(4, 1) = 1,716 · 96 = 164,736 → P(pyramid) = 164,736 / 20,358,520 ≈ </a:t>
            </a:r>
            <a:r>
              <a:rPr b="1" i="0" lang="en" sz="1600">
                <a:solidFill>
                  <a:srgbClr val="2E2C28"/>
                </a:solidFill>
                <a:latin typeface="Calibri"/>
                <a:ea typeface="Calibri"/>
                <a:cs typeface="Calibri"/>
                <a:sym typeface="Calibri"/>
              </a:rPr>
              <a:t>0.8092%</a:t>
            </a:r>
            <a:endParaRPr b="0" i="0" sz="1600">
              <a:solidFill>
                <a:srgbClr val="2E2C28"/>
              </a:solidFill>
              <a:latin typeface="Calibri"/>
              <a:ea typeface="Calibri"/>
              <a:cs typeface="Calibri"/>
              <a:sym typeface="Calibri"/>
            </a:endParaRPr>
          </a:p>
        </p:txBody>
      </p:sp>
      <p:sp>
        <p:nvSpPr>
          <p:cNvPr id="763" name="Google Shape;763;p114"/>
          <p:cNvSpPr/>
          <p:nvPr/>
        </p:nvSpPr>
        <p:spPr>
          <a:xfrm>
            <a:off x="7696200" y="101600"/>
            <a:ext cx="1219200" cy="279300"/>
          </a:xfrm>
          <a:prstGeom prst="roundRect">
            <a:avLst>
              <a:gd fmla="val 16667" name="adj"/>
            </a:avLst>
          </a:prstGeom>
          <a:solidFill>
            <a:srgbClr val="175E54"/>
          </a:solidFill>
          <a:ln cap="flat" cmpd="sng" w="9525">
            <a:solidFill>
              <a:srgbClr val="175E5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SOLUTION</a:t>
            </a:r>
            <a:endParaRPr b="1" sz="1100">
              <a:solidFill>
                <a:srgbClr val="FFFFFF"/>
              </a:solidFill>
              <a:latin typeface="Calibri"/>
              <a:ea typeface="Calibri"/>
              <a:cs typeface="Calibri"/>
              <a:sym typeface="Calibri"/>
            </a:endParaRPr>
          </a:p>
        </p:txBody>
      </p:sp>
      <p:sp>
        <p:nvSpPr>
          <p:cNvPr id="764" name="Google Shape;764;p114"/>
          <p:cNvSpPr/>
          <p:nvPr/>
        </p:nvSpPr>
        <p:spPr>
          <a:xfrm>
            <a:off x="508000" y="4089397"/>
            <a:ext cx="8127900" cy="482700"/>
          </a:xfrm>
          <a:prstGeom prst="roundRect">
            <a:avLst>
              <a:gd fmla="val 16667" name="adj"/>
            </a:avLst>
          </a:prstGeom>
          <a:solidFill>
            <a:srgbClr val="FFFFFF"/>
          </a:solidFill>
          <a:ln cap="flat" cmpd="sng" w="9525">
            <a:solidFill>
              <a:srgbClr val="8C151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i="0" lang="en" sz="1600">
                <a:solidFill>
                  <a:srgbClr val="8C1515"/>
                </a:solidFill>
                <a:latin typeface="Calibri"/>
                <a:ea typeface="Calibri"/>
                <a:cs typeface="Calibri"/>
                <a:sym typeface="Calibri"/>
              </a:rPr>
              <a:t>Answer: P(three pair) ≈ 0.3034%, P(pyramid) ≈ 0.8092%</a:t>
            </a:r>
            <a:endParaRPr b="1" i="0" sz="1600">
              <a:solidFill>
                <a:srgbClr val="8C1515"/>
              </a:solidFill>
              <a:latin typeface="Calibri"/>
              <a:ea typeface="Calibri"/>
              <a:cs typeface="Calibri"/>
              <a:sym typeface="Calibri"/>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115"/>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Warm-up 4: Poker Straight</a:t>
            </a:r>
            <a:endParaRPr/>
          </a:p>
        </p:txBody>
      </p:sp>
      <p:sp>
        <p:nvSpPr>
          <p:cNvPr id="770" name="Google Shape;770;p115"/>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a:t>Draw a 5-card hand from a standard 52-card deck.</a:t>
            </a:r>
            <a:endParaRPr/>
          </a:p>
          <a:p>
            <a:pPr indent="0" lvl="0" marL="0" rtl="0" algn="l">
              <a:spcBef>
                <a:spcPts val="750"/>
              </a:spcBef>
              <a:spcAft>
                <a:spcPts val="0"/>
              </a:spcAft>
              <a:buNone/>
            </a:pPr>
            <a:r>
              <a:rPr lang="en"/>
              <a:t>A straight is 5 cards of consecutive ranks, e.g., 2-3-4-5-6. An ace can be low (A-2-3-4-5) or high (10-J-Q-K-A). Suits don’t matter (count straight flushes too).</a:t>
            </a:r>
            <a:endParaRPr/>
          </a:p>
          <a:p>
            <a:pPr indent="0" lvl="0" marL="0" rtl="0" algn="l">
              <a:spcBef>
                <a:spcPts val="750"/>
              </a:spcBef>
              <a:spcAft>
                <a:spcPts val="0"/>
              </a:spcAft>
              <a:buNone/>
            </a:pPr>
            <a:r>
              <a:rPr lang="en"/>
              <a:t>What is P(straight)?</a:t>
            </a:r>
            <a:endParaRPr/>
          </a:p>
          <a:p>
            <a:pPr indent="0" lvl="0" marL="0" rtl="0" algn="l">
              <a:spcBef>
                <a:spcPts val="750"/>
              </a:spcBef>
              <a:spcAft>
                <a:spcPts val="0"/>
              </a:spcAft>
              <a:buNone/>
            </a:pPr>
            <a:r>
              <a:rPr lang="en"/>
              <a:t>First, describe the sample space and the event in words.</a:t>
            </a:r>
            <a:endParaRPr/>
          </a:p>
        </p:txBody>
      </p:sp>
      <p:sp>
        <p:nvSpPr>
          <p:cNvPr id="771" name="Google Shape;771;p115"/>
          <p:cNvSpPr/>
          <p:nvPr/>
        </p:nvSpPr>
        <p:spPr>
          <a:xfrm>
            <a:off x="7696200" y="101600"/>
            <a:ext cx="1219200" cy="279300"/>
          </a:xfrm>
          <a:prstGeom prst="roundRect">
            <a:avLst>
              <a:gd fmla="val 16667" name="adj"/>
            </a:avLst>
          </a:prstGeom>
          <a:solidFill>
            <a:srgbClr val="8C1515"/>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PRACTICE</a:t>
            </a:r>
            <a:endParaRPr b="1" sz="1100">
              <a:solidFill>
                <a:srgbClr val="FFFFFF"/>
              </a:solidFill>
              <a:latin typeface="Calibri"/>
              <a:ea typeface="Calibri"/>
              <a:cs typeface="Calibri"/>
              <a:sym typeface="Calibri"/>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116"/>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Warm-up 4: Solution</a:t>
            </a:r>
            <a:endParaRPr/>
          </a:p>
        </p:txBody>
      </p:sp>
      <p:sp>
        <p:nvSpPr>
          <p:cNvPr id="777" name="Google Shape;777;p116"/>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S = all 5-card hands (unordered): |S| = C(52, 5) = 2,598,960</a:t>
            </a:r>
            <a:endParaRPr sz="1800"/>
          </a:p>
          <a:p>
            <a:pPr indent="0" lvl="0" marL="0" rtl="0" algn="l">
              <a:spcBef>
                <a:spcPts val="750"/>
              </a:spcBef>
              <a:spcAft>
                <a:spcPts val="0"/>
              </a:spcAft>
              <a:buNone/>
            </a:pPr>
            <a:r>
              <a:rPr lang="en" sz="1800"/>
              <a:t>E = all straights. Build one step by step (product rule):</a:t>
            </a:r>
            <a:endParaRPr sz="1800"/>
          </a:p>
          <a:p>
            <a:pPr indent="0" lvl="0" marL="0" rtl="0" algn="l">
              <a:spcBef>
                <a:spcPts val="750"/>
              </a:spcBef>
              <a:spcAft>
                <a:spcPts val="0"/>
              </a:spcAft>
              <a:buNone/>
            </a:pPr>
            <a:r>
              <a:rPr lang="en" sz="1800"/>
              <a:t>      Pick the lowest rank (A, 2, …, 10): 10 ways, which fixes all 5 ranks</a:t>
            </a:r>
            <a:endParaRPr sz="1800"/>
          </a:p>
          <a:p>
            <a:pPr indent="0" lvl="0" marL="0" rtl="0" algn="l">
              <a:spcBef>
                <a:spcPts val="750"/>
              </a:spcBef>
              <a:spcAft>
                <a:spcPts val="0"/>
              </a:spcAft>
              <a:buNone/>
            </a:pPr>
            <a:r>
              <a:rPr lang="en" sz="1800"/>
              <a:t>      Pick a suit for each card: 4⁵ = 1024 ways</a:t>
            </a:r>
            <a:endParaRPr sz="1800"/>
          </a:p>
          <a:p>
            <a:pPr indent="0" lvl="0" marL="0" rtl="0" algn="l">
              <a:spcBef>
                <a:spcPts val="750"/>
              </a:spcBef>
              <a:spcAft>
                <a:spcPts val="0"/>
              </a:spcAft>
              <a:buNone/>
            </a:pPr>
            <a:r>
              <a:rPr lang="en" sz="1800"/>
              <a:t>|E| = 10 · 1024 = 10,240  →  P(straight) = 10,240 / 2,598,960 ≈ 0.0039</a:t>
            </a:r>
            <a:endParaRPr sz="1800"/>
          </a:p>
          <a:p>
            <a:pPr indent="0" lvl="0" marL="0" rtl="0" algn="l">
              <a:spcBef>
                <a:spcPts val="750"/>
              </a:spcBef>
              <a:spcAft>
                <a:spcPts val="0"/>
              </a:spcAft>
              <a:buNone/>
            </a:pPr>
            <a:r>
              <a:rPr lang="en" sz="1800"/>
              <a:t>Why not ×2 for “up or down”? Naming a straight by its lowest card counts each hand exactly once.</a:t>
            </a:r>
            <a:endParaRPr sz="1800"/>
          </a:p>
        </p:txBody>
      </p:sp>
      <p:sp>
        <p:nvSpPr>
          <p:cNvPr id="778" name="Google Shape;778;p116"/>
          <p:cNvSpPr/>
          <p:nvPr/>
        </p:nvSpPr>
        <p:spPr>
          <a:xfrm>
            <a:off x="7696200" y="101600"/>
            <a:ext cx="1219200" cy="279300"/>
          </a:xfrm>
          <a:prstGeom prst="roundRect">
            <a:avLst>
              <a:gd fmla="val 16667" name="adj"/>
            </a:avLst>
          </a:prstGeom>
          <a:solidFill>
            <a:srgbClr val="175E54"/>
          </a:solidFill>
          <a:ln cap="flat" cmpd="sng" w="9525">
            <a:solidFill>
              <a:srgbClr val="175E5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SOLUTION</a:t>
            </a:r>
            <a:endParaRPr b="1" sz="1100">
              <a:solidFill>
                <a:srgbClr val="FFFFFF"/>
              </a:solidFill>
              <a:latin typeface="Calibri"/>
              <a:ea typeface="Calibri"/>
              <a:cs typeface="Calibri"/>
              <a:sym typeface="Calibri"/>
            </a:endParaRPr>
          </a:p>
        </p:txBody>
      </p:sp>
      <p:sp>
        <p:nvSpPr>
          <p:cNvPr id="779" name="Google Shape;779;p116"/>
          <p:cNvSpPr/>
          <p:nvPr/>
        </p:nvSpPr>
        <p:spPr>
          <a:xfrm>
            <a:off x="508000" y="4089400"/>
            <a:ext cx="8127900" cy="482700"/>
          </a:xfrm>
          <a:prstGeom prst="roundRect">
            <a:avLst>
              <a:gd fmla="val 16667" name="adj"/>
            </a:avLst>
          </a:prstGeom>
          <a:solidFill>
            <a:srgbClr val="FFFFFF"/>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8C1515"/>
                </a:solidFill>
                <a:latin typeface="Calibri"/>
                <a:ea typeface="Calibri"/>
                <a:cs typeface="Calibri"/>
                <a:sym typeface="Calibri"/>
              </a:rPr>
              <a:t>Answer:  P(straight) = 10,240 / 2,598,960 ≈ 0.0039</a:t>
            </a:r>
            <a:endParaRPr b="1" sz="1600">
              <a:solidFill>
                <a:srgbClr val="8C1515"/>
              </a:solidFill>
              <a:latin typeface="Calibri"/>
              <a:ea typeface="Calibri"/>
              <a:cs typeface="Calibri"/>
              <a:sym typeface="Calibri"/>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117"/>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Warm-up 5: The Casino Game</a:t>
            </a:r>
            <a:endParaRPr/>
          </a:p>
        </p:txBody>
      </p:sp>
      <p:sp>
        <p:nvSpPr>
          <p:cNvPr id="785" name="Google Shape;785;p117"/>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a:t>Place 2 tokens on dice sums (2–12). Both can go on the same number.</a:t>
            </a:r>
            <a:endParaRPr/>
          </a:p>
          <a:p>
            <a:pPr indent="0" lvl="0" marL="0" rtl="0" algn="l">
              <a:spcBef>
                <a:spcPts val="750"/>
              </a:spcBef>
              <a:spcAft>
                <a:spcPts val="0"/>
              </a:spcAft>
              <a:buNone/>
            </a:pPr>
            <a:r>
              <a:rPr lang="en"/>
              <a:t>The dealer rolls two dice twice. On each roll, if a token is on that sum, one token is removed and you win $1000.</a:t>
            </a:r>
            <a:endParaRPr/>
          </a:p>
          <a:p>
            <a:pPr indent="0" lvl="0" marL="0" rtl="0" algn="l">
              <a:spcBef>
                <a:spcPts val="750"/>
              </a:spcBef>
              <a:spcAft>
                <a:spcPts val="0"/>
              </a:spcAft>
              <a:buNone/>
            </a:pPr>
            <a:r>
              <a:rPr lang="en"/>
              <a:t>(a) Strategy (7, 7): find P(win $2000), P(win $0), and P(win $1000).</a:t>
            </a:r>
            <a:endParaRPr/>
          </a:p>
          <a:p>
            <a:pPr indent="0" lvl="0" marL="0" rtl="0" algn="l">
              <a:spcBef>
                <a:spcPts val="750"/>
              </a:spcBef>
              <a:spcAft>
                <a:spcPts val="0"/>
              </a:spcAft>
              <a:buNone/>
            </a:pPr>
            <a:r>
              <a:rPr lang="en"/>
              <a:t>(b) Strategy (2, 7): same questions.</a:t>
            </a:r>
            <a:endParaRPr/>
          </a:p>
          <a:p>
            <a:pPr indent="0" lvl="0" marL="0" rtl="0" algn="l">
              <a:spcBef>
                <a:spcPts val="750"/>
              </a:spcBef>
              <a:spcAft>
                <a:spcPts val="0"/>
              </a:spcAft>
              <a:buNone/>
            </a:pPr>
            <a:r>
              <a:rPr lang="en"/>
              <a:t>(c) Preview of expectation: which strategy wins more on average?</a:t>
            </a:r>
            <a:endParaRPr/>
          </a:p>
        </p:txBody>
      </p:sp>
      <p:sp>
        <p:nvSpPr>
          <p:cNvPr id="786" name="Google Shape;786;p117"/>
          <p:cNvSpPr/>
          <p:nvPr/>
        </p:nvSpPr>
        <p:spPr>
          <a:xfrm>
            <a:off x="7696200" y="101600"/>
            <a:ext cx="1219200" cy="279300"/>
          </a:xfrm>
          <a:prstGeom prst="roundRect">
            <a:avLst>
              <a:gd fmla="val 16667" name="adj"/>
            </a:avLst>
          </a:prstGeom>
          <a:solidFill>
            <a:srgbClr val="8C1515"/>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PRACTICE</a:t>
            </a:r>
            <a:endParaRPr b="1" sz="1100">
              <a:solidFill>
                <a:srgbClr val="FFFFFF"/>
              </a:solidFill>
              <a:latin typeface="Calibri"/>
              <a:ea typeface="Calibri"/>
              <a:cs typeface="Calibri"/>
              <a:sym typeface="Calibri"/>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118"/>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Warm-up 5: Solution (1/2)</a:t>
            </a:r>
            <a:endParaRPr/>
          </a:p>
        </p:txBody>
      </p:sp>
      <p:sp>
        <p:nvSpPr>
          <p:cNvPr id="792" name="Google Shape;792;p118"/>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(a) Strategy (7, 7): P(sum = 7) = 6/36 = 1/6 on each roll, and the rolls are independent</a:t>
            </a:r>
            <a:endParaRPr sz="1800"/>
          </a:p>
          <a:p>
            <a:pPr indent="0" lvl="0" marL="0" rtl="0" algn="l">
              <a:spcBef>
                <a:spcPts val="750"/>
              </a:spcBef>
              <a:spcAft>
                <a:spcPts val="0"/>
              </a:spcAft>
              <a:buNone/>
            </a:pPr>
            <a:r>
              <a:rPr lang="en" sz="1800"/>
              <a:t>      P($2000) = (1/6)(1/6) = 1/36</a:t>
            </a:r>
            <a:endParaRPr sz="1800"/>
          </a:p>
          <a:p>
            <a:pPr indent="0" lvl="0" marL="0" rtl="0" algn="l">
              <a:spcBef>
                <a:spcPts val="750"/>
              </a:spcBef>
              <a:spcAft>
                <a:spcPts val="0"/>
              </a:spcAft>
              <a:buNone/>
            </a:pPr>
            <a:r>
              <a:rPr lang="en" sz="1800"/>
              <a:t>      P($0) = (5/6)(5/6) = 25/36</a:t>
            </a:r>
            <a:endParaRPr sz="1800"/>
          </a:p>
          <a:p>
            <a:pPr indent="0" lvl="0" marL="0" rtl="0" algn="l">
              <a:spcBef>
                <a:spcPts val="750"/>
              </a:spcBef>
              <a:spcAft>
                <a:spcPts val="0"/>
              </a:spcAft>
              <a:buNone/>
            </a:pPr>
            <a:r>
              <a:rPr lang="en" sz="1800"/>
              <a:t>      P($1000) = 1 − 1/36 − 25/36 = 10/36   (complement!)</a:t>
            </a:r>
            <a:endParaRPr sz="1800"/>
          </a:p>
          <a:p>
            <a:pPr indent="0" lvl="0" marL="0" rtl="0" algn="l">
              <a:spcBef>
                <a:spcPts val="750"/>
              </a:spcBef>
              <a:spcAft>
                <a:spcPts val="0"/>
              </a:spcAft>
              <a:buNone/>
            </a:pPr>
            <a:r>
              <a:rPr lang="en" sz="1800"/>
              <a:t>      Average winnings: 2000 · (1/36) + 1000 · (10/36) ≈ $333.33</a:t>
            </a:r>
            <a:endParaRPr sz="1800"/>
          </a:p>
        </p:txBody>
      </p:sp>
      <p:sp>
        <p:nvSpPr>
          <p:cNvPr id="793" name="Google Shape;793;p118"/>
          <p:cNvSpPr/>
          <p:nvPr/>
        </p:nvSpPr>
        <p:spPr>
          <a:xfrm>
            <a:off x="7696200" y="101600"/>
            <a:ext cx="1219200" cy="279300"/>
          </a:xfrm>
          <a:prstGeom prst="roundRect">
            <a:avLst>
              <a:gd fmla="val 16667" name="adj"/>
            </a:avLst>
          </a:prstGeom>
          <a:solidFill>
            <a:srgbClr val="175E54"/>
          </a:solidFill>
          <a:ln cap="flat" cmpd="sng" w="9525">
            <a:solidFill>
              <a:srgbClr val="175E5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SOLUTION</a:t>
            </a:r>
            <a:endParaRPr b="1" sz="1100">
              <a:solidFill>
                <a:srgbClr val="FFFFFF"/>
              </a:solidFill>
              <a:latin typeface="Calibri"/>
              <a:ea typeface="Calibri"/>
              <a:cs typeface="Calibri"/>
              <a:sym typeface="Calibri"/>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119"/>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Warm-up 5: Solution (2/2)</a:t>
            </a:r>
            <a:endParaRPr/>
          </a:p>
        </p:txBody>
      </p:sp>
      <p:sp>
        <p:nvSpPr>
          <p:cNvPr id="799" name="Google Shape;799;p119"/>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(b) Strategy (2, 7): P(2) = 1/36, P(7) = 6/36</a:t>
            </a:r>
            <a:endParaRPr sz="1800"/>
          </a:p>
          <a:p>
            <a:pPr indent="0" lvl="0" marL="0" rtl="0" algn="l">
              <a:spcBef>
                <a:spcPts val="750"/>
              </a:spcBef>
              <a:spcAft>
                <a:spcPts val="0"/>
              </a:spcAft>
              <a:buNone/>
            </a:pPr>
            <a:r>
              <a:rPr lang="en" sz="1800"/>
              <a:t>      $2000: one roll is a 2 and the other a 7: 2 · (1/36)(6/36) = 1/108</a:t>
            </a:r>
            <a:endParaRPr sz="1800"/>
          </a:p>
          <a:p>
            <a:pPr indent="0" lvl="0" marL="0" rtl="0" algn="l">
              <a:spcBef>
                <a:spcPts val="750"/>
              </a:spcBef>
              <a:spcAft>
                <a:spcPts val="0"/>
              </a:spcAft>
              <a:buNone/>
            </a:pPr>
            <a:r>
              <a:rPr lang="en" sz="1800"/>
              <a:t>      $0: neither roll is a 2 or a 7: (29/36)² = 841/1296</a:t>
            </a:r>
            <a:endParaRPr sz="1800"/>
          </a:p>
          <a:p>
            <a:pPr indent="0" lvl="0" marL="0" rtl="0" algn="l">
              <a:spcBef>
                <a:spcPts val="750"/>
              </a:spcBef>
              <a:spcAft>
                <a:spcPts val="0"/>
              </a:spcAft>
              <a:buNone/>
            </a:pPr>
            <a:r>
              <a:rPr lang="en" sz="1800"/>
              <a:t>      $1000: 1 − 1/108 − 841/1296 = 443/1296</a:t>
            </a:r>
            <a:endParaRPr sz="1800"/>
          </a:p>
          <a:p>
            <a:pPr indent="0" lvl="0" marL="0" rtl="0" algn="l">
              <a:spcBef>
                <a:spcPts val="750"/>
              </a:spcBef>
              <a:spcAft>
                <a:spcPts val="0"/>
              </a:spcAft>
              <a:buNone/>
            </a:pPr>
            <a:r>
              <a:rPr lang="en" sz="1800"/>
              <a:t>(c) Average: 2000 · (1/108) + 1000 · (443/1296) ≈ $360.34 &gt; $333.33</a:t>
            </a:r>
            <a:endParaRPr sz="1800"/>
          </a:p>
          <a:p>
            <a:pPr indent="0" lvl="0" marL="0" rtl="0" algn="l">
              <a:spcBef>
                <a:spcPts val="750"/>
              </a:spcBef>
              <a:spcAft>
                <a:spcPts val="0"/>
              </a:spcAft>
              <a:buNone/>
            </a:pPr>
            <a:r>
              <a:rPr lang="en" sz="1800"/>
              <a:t>      Two different numbers cover more outcomes (best: 6 &amp; 7, ≈ $564)</a:t>
            </a:r>
            <a:endParaRPr sz="1800"/>
          </a:p>
        </p:txBody>
      </p:sp>
      <p:sp>
        <p:nvSpPr>
          <p:cNvPr id="800" name="Google Shape;800;p119"/>
          <p:cNvSpPr/>
          <p:nvPr/>
        </p:nvSpPr>
        <p:spPr>
          <a:xfrm>
            <a:off x="7696200" y="101600"/>
            <a:ext cx="1219200" cy="279300"/>
          </a:xfrm>
          <a:prstGeom prst="roundRect">
            <a:avLst>
              <a:gd fmla="val 16667" name="adj"/>
            </a:avLst>
          </a:prstGeom>
          <a:solidFill>
            <a:srgbClr val="175E54"/>
          </a:solidFill>
          <a:ln cap="flat" cmpd="sng" w="9525">
            <a:solidFill>
              <a:srgbClr val="175E5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SOLUTION</a:t>
            </a:r>
            <a:endParaRPr b="1" sz="1100">
              <a:solidFill>
                <a:srgbClr val="FFFFFF"/>
              </a:solidFill>
              <a:latin typeface="Calibri"/>
              <a:ea typeface="Calibri"/>
              <a:cs typeface="Calibri"/>
              <a:sym typeface="Calibri"/>
            </a:endParaRPr>
          </a:p>
        </p:txBody>
      </p:sp>
      <p:sp>
        <p:nvSpPr>
          <p:cNvPr id="801" name="Google Shape;801;p119"/>
          <p:cNvSpPr/>
          <p:nvPr/>
        </p:nvSpPr>
        <p:spPr>
          <a:xfrm>
            <a:off x="508000" y="4089400"/>
            <a:ext cx="8127900" cy="482700"/>
          </a:xfrm>
          <a:prstGeom prst="roundRect">
            <a:avLst>
              <a:gd fmla="val 16667" name="adj"/>
            </a:avLst>
          </a:prstGeom>
          <a:solidFill>
            <a:srgbClr val="FFFFFF"/>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8C1515"/>
                </a:solidFill>
                <a:latin typeface="Calibri"/>
                <a:ea typeface="Calibri"/>
                <a:cs typeface="Calibri"/>
                <a:sym typeface="Calibri"/>
              </a:rPr>
              <a:t>Answer (c):  strategy (2, 7) wins more on average: ≈ $360 vs. ≈ $333</a:t>
            </a:r>
            <a:endParaRPr b="1" sz="1600">
              <a:solidFill>
                <a:srgbClr val="8C1515"/>
              </a:solidFill>
              <a:latin typeface="Calibri"/>
              <a:ea typeface="Calibri"/>
              <a:cs typeface="Calibri"/>
              <a:sym typeface="Calibri"/>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120"/>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Conditional 1: Three Coin Flips</a:t>
            </a:r>
            <a:endParaRPr/>
          </a:p>
        </p:txBody>
      </p:sp>
      <p:sp>
        <p:nvSpPr>
          <p:cNvPr id="807" name="Google Shape;807;p120"/>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a:t>You flip a fair coin 3 times.</a:t>
            </a:r>
            <a:endParaRPr/>
          </a:p>
          <a:p>
            <a:pPr indent="0" lvl="0" marL="0" rtl="0" algn="l">
              <a:spcBef>
                <a:spcPts val="750"/>
              </a:spcBef>
              <a:spcAft>
                <a:spcPts val="0"/>
              </a:spcAft>
              <a:buNone/>
            </a:pPr>
            <a:r>
              <a:rPr lang="en"/>
              <a:t>Given that you saw at least one head, what is the probability that you saw at least two heads?</a:t>
            </a:r>
            <a:endParaRPr/>
          </a:p>
        </p:txBody>
      </p:sp>
      <p:sp>
        <p:nvSpPr>
          <p:cNvPr id="808" name="Google Shape;808;p120"/>
          <p:cNvSpPr/>
          <p:nvPr/>
        </p:nvSpPr>
        <p:spPr>
          <a:xfrm>
            <a:off x="7696200" y="101600"/>
            <a:ext cx="1219200" cy="279300"/>
          </a:xfrm>
          <a:prstGeom prst="roundRect">
            <a:avLst>
              <a:gd fmla="val 16667" name="adj"/>
            </a:avLst>
          </a:prstGeom>
          <a:solidFill>
            <a:srgbClr val="8C1515"/>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PRACTICE</a:t>
            </a:r>
            <a:endParaRPr b="1" sz="1100">
              <a:solidFill>
                <a:srgbClr val="FFFFFF"/>
              </a:solidFill>
              <a:latin typeface="Calibri"/>
              <a:ea typeface="Calibri"/>
              <a:cs typeface="Calibri"/>
              <a:sym typeface="Calibri"/>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121"/>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Conditional 1: Solution</a:t>
            </a:r>
            <a:endParaRPr/>
          </a:p>
        </p:txBody>
      </p:sp>
      <p:sp>
        <p:nvSpPr>
          <p:cNvPr id="814" name="Google Shape;814;p121"/>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S has 2³ = 8 equally likely outcomes</a:t>
            </a:r>
            <a:endParaRPr sz="1800"/>
          </a:p>
          <a:p>
            <a:pPr indent="0" lvl="0" marL="0" rtl="0" algn="l">
              <a:spcBef>
                <a:spcPts val="750"/>
              </a:spcBef>
              <a:spcAft>
                <a:spcPts val="0"/>
              </a:spcAft>
              <a:buNone/>
            </a:pPr>
            <a:r>
              <a:rPr lang="en" sz="1800"/>
              <a:t>F = at least one head = everything except TTT → |F| = 7</a:t>
            </a:r>
            <a:endParaRPr sz="1800"/>
          </a:p>
          <a:p>
            <a:pPr indent="0" lvl="0" marL="0" rtl="0" algn="l">
              <a:spcBef>
                <a:spcPts val="750"/>
              </a:spcBef>
              <a:spcAft>
                <a:spcPts val="0"/>
              </a:spcAft>
              <a:buNone/>
            </a:pPr>
            <a:r>
              <a:rPr lang="en" sz="1800"/>
              <a:t>E = at least two heads = {HHT, HTH, THH, HHH} → |E| = 4, all inside F</a:t>
            </a:r>
            <a:endParaRPr sz="1800"/>
          </a:p>
          <a:p>
            <a:pPr indent="0" lvl="0" marL="0" rtl="0" algn="l">
              <a:spcBef>
                <a:spcPts val="750"/>
              </a:spcBef>
              <a:spcAft>
                <a:spcPts val="0"/>
              </a:spcAft>
              <a:buNone/>
            </a:pPr>
            <a:r>
              <a:rPr lang="en" sz="1800"/>
              <a:t>P(E | F) = |E ∩ F| / |F| = 4/7 ≈ 0.571</a:t>
            </a:r>
            <a:endParaRPr sz="1800"/>
          </a:p>
          <a:p>
            <a:pPr indent="0" lvl="0" marL="0" rtl="0" algn="l">
              <a:spcBef>
                <a:spcPts val="750"/>
              </a:spcBef>
              <a:spcAft>
                <a:spcPts val="0"/>
              </a:spcAft>
              <a:buNone/>
            </a:pPr>
            <a:r>
              <a:rPr lang="en" sz="1800"/>
              <a:t>Compare: P(E) = 4/8 = 1/2, so learning F raised the probability</a:t>
            </a:r>
            <a:endParaRPr sz="1800"/>
          </a:p>
        </p:txBody>
      </p:sp>
      <p:sp>
        <p:nvSpPr>
          <p:cNvPr id="815" name="Google Shape;815;p121"/>
          <p:cNvSpPr/>
          <p:nvPr/>
        </p:nvSpPr>
        <p:spPr>
          <a:xfrm>
            <a:off x="7696200" y="101600"/>
            <a:ext cx="1219200" cy="279300"/>
          </a:xfrm>
          <a:prstGeom prst="roundRect">
            <a:avLst>
              <a:gd fmla="val 16667" name="adj"/>
            </a:avLst>
          </a:prstGeom>
          <a:solidFill>
            <a:srgbClr val="175E54"/>
          </a:solidFill>
          <a:ln cap="flat" cmpd="sng" w="9525">
            <a:solidFill>
              <a:srgbClr val="175E5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SOLUTION</a:t>
            </a:r>
            <a:endParaRPr b="1" sz="1100">
              <a:solidFill>
                <a:srgbClr val="FFFFFF"/>
              </a:solidFill>
              <a:latin typeface="Calibri"/>
              <a:ea typeface="Calibri"/>
              <a:cs typeface="Calibri"/>
              <a:sym typeface="Calibri"/>
            </a:endParaRPr>
          </a:p>
        </p:txBody>
      </p:sp>
      <p:sp>
        <p:nvSpPr>
          <p:cNvPr id="816" name="Google Shape;816;p121"/>
          <p:cNvSpPr/>
          <p:nvPr/>
        </p:nvSpPr>
        <p:spPr>
          <a:xfrm>
            <a:off x="508000" y="4089400"/>
            <a:ext cx="8127900" cy="482700"/>
          </a:xfrm>
          <a:prstGeom prst="roundRect">
            <a:avLst>
              <a:gd fmla="val 16667" name="adj"/>
            </a:avLst>
          </a:prstGeom>
          <a:solidFill>
            <a:srgbClr val="FFFFFF"/>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8C1515"/>
                </a:solidFill>
                <a:latin typeface="Calibri"/>
                <a:ea typeface="Calibri"/>
                <a:cs typeface="Calibri"/>
                <a:sym typeface="Calibri"/>
              </a:rPr>
              <a:t>Answer:  P(at least 2 heads | at least 1 head) = 4/7 ≈ 0.571</a:t>
            </a:r>
            <a:endParaRPr b="1" sz="1600">
              <a:solidFill>
                <a:srgbClr val="8C1515"/>
              </a:solidFill>
              <a:latin typeface="Calibri"/>
              <a:ea typeface="Calibri"/>
              <a:cs typeface="Calibri"/>
              <a:sym typeface="Calibri"/>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122"/>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Conditional 2: Two Dice</a:t>
            </a:r>
            <a:endParaRPr/>
          </a:p>
        </p:txBody>
      </p:sp>
      <p:sp>
        <p:nvSpPr>
          <p:cNvPr id="822" name="Google Shape;822;p122"/>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a:t>Roll two fair dice. X = the first die, Y = the second die.</a:t>
            </a:r>
            <a:endParaRPr/>
          </a:p>
          <a:p>
            <a:pPr indent="0" lvl="0" marL="0" rtl="0" algn="l">
              <a:spcBef>
                <a:spcPts val="750"/>
              </a:spcBef>
              <a:spcAft>
                <a:spcPts val="0"/>
              </a:spcAft>
              <a:buNone/>
            </a:pPr>
            <a:r>
              <a:rPr lang="en"/>
              <a:t>(a) What is P(X &gt; 3 | Y = 2)?</a:t>
            </a:r>
            <a:endParaRPr/>
          </a:p>
          <a:p>
            <a:pPr indent="0" lvl="0" marL="0" rtl="0" algn="l">
              <a:spcBef>
                <a:spcPts val="750"/>
              </a:spcBef>
              <a:spcAft>
                <a:spcPts val="0"/>
              </a:spcAft>
              <a:buNone/>
            </a:pPr>
            <a:r>
              <a:rPr lang="en"/>
              <a:t>(b) What is P(X = 4 | X + Y = 8)?</a:t>
            </a:r>
            <a:endParaRPr/>
          </a:p>
        </p:txBody>
      </p:sp>
      <p:sp>
        <p:nvSpPr>
          <p:cNvPr id="823" name="Google Shape;823;p122"/>
          <p:cNvSpPr/>
          <p:nvPr/>
        </p:nvSpPr>
        <p:spPr>
          <a:xfrm>
            <a:off x="7696200" y="101600"/>
            <a:ext cx="1219200" cy="279300"/>
          </a:xfrm>
          <a:prstGeom prst="roundRect">
            <a:avLst>
              <a:gd fmla="val 16667" name="adj"/>
            </a:avLst>
          </a:prstGeom>
          <a:solidFill>
            <a:srgbClr val="8C1515"/>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PRACTICE</a:t>
            </a:r>
            <a:endParaRPr b="1" sz="1100">
              <a:solidFill>
                <a:srgbClr val="FFFFFF"/>
              </a:solidFill>
              <a:latin typeface="Calibri"/>
              <a:ea typeface="Calibri"/>
              <a:cs typeface="Calibri"/>
              <a:sym typeface="Calibri"/>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123"/>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Conditional 2: Solution</a:t>
            </a:r>
            <a:endParaRPr/>
          </a:p>
        </p:txBody>
      </p:sp>
      <p:sp>
        <p:nvSpPr>
          <p:cNvPr id="829" name="Google Shape;829;p123"/>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(a) The dice are independent, so knowing Y tells us nothing about X:</a:t>
            </a:r>
            <a:endParaRPr sz="1800"/>
          </a:p>
          <a:p>
            <a:pPr indent="0" lvl="0" marL="0" rtl="0" algn="l">
              <a:spcBef>
                <a:spcPts val="750"/>
              </a:spcBef>
              <a:spcAft>
                <a:spcPts val="0"/>
              </a:spcAft>
              <a:buNone/>
            </a:pPr>
            <a:r>
              <a:rPr lang="en" sz="1800"/>
              <a:t>      P(X &gt; 3 | Y = 2) = P(X &gt; 3) = 3/6 = 1/2</a:t>
            </a:r>
            <a:endParaRPr sz="1800"/>
          </a:p>
          <a:p>
            <a:pPr indent="0" lvl="0" marL="0" rtl="0" algn="l">
              <a:spcBef>
                <a:spcPts val="750"/>
              </a:spcBef>
              <a:spcAft>
                <a:spcPts val="0"/>
              </a:spcAft>
              <a:buNone/>
            </a:pPr>
            <a:r>
              <a:rPr lang="en" sz="1800"/>
              <a:t>(b) Shrink S to X + Y = 8: {(2,6), (3,5), (4,4), (5,3), (6,2)}</a:t>
            </a:r>
            <a:endParaRPr sz="1800"/>
          </a:p>
          <a:p>
            <a:pPr indent="0" lvl="0" marL="0" rtl="0" algn="l">
              <a:spcBef>
                <a:spcPts val="750"/>
              </a:spcBef>
              <a:spcAft>
                <a:spcPts val="0"/>
              </a:spcAft>
              <a:buNone/>
            </a:pPr>
            <a:r>
              <a:rPr lang="en" sz="1800"/>
              <a:t>      5 equally likely outcomes, and only (4,4) has X = 4 → 1/5</a:t>
            </a:r>
            <a:endParaRPr sz="1800"/>
          </a:p>
          <a:p>
            <a:pPr indent="0" lvl="0" marL="0" rtl="0" algn="l">
              <a:spcBef>
                <a:spcPts val="750"/>
              </a:spcBef>
              <a:spcAft>
                <a:spcPts val="0"/>
              </a:spcAft>
              <a:buNone/>
            </a:pPr>
            <a:r>
              <a:rPr lang="en" sz="1800"/>
              <a:t>      By definition: P(X = 4, Y = 4) / P(X + Y = 8) = (1/36)/(5/36) = 1/5</a:t>
            </a:r>
            <a:endParaRPr sz="1800"/>
          </a:p>
        </p:txBody>
      </p:sp>
      <p:sp>
        <p:nvSpPr>
          <p:cNvPr id="830" name="Google Shape;830;p123"/>
          <p:cNvSpPr/>
          <p:nvPr/>
        </p:nvSpPr>
        <p:spPr>
          <a:xfrm>
            <a:off x="7696200" y="101600"/>
            <a:ext cx="1219200" cy="279300"/>
          </a:xfrm>
          <a:prstGeom prst="roundRect">
            <a:avLst>
              <a:gd fmla="val 16667" name="adj"/>
            </a:avLst>
          </a:prstGeom>
          <a:solidFill>
            <a:srgbClr val="175E54"/>
          </a:solidFill>
          <a:ln cap="flat" cmpd="sng" w="9525">
            <a:solidFill>
              <a:srgbClr val="175E5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SOLUTION</a:t>
            </a:r>
            <a:endParaRPr b="1" sz="1100">
              <a:solidFill>
                <a:srgbClr val="FFFFFF"/>
              </a:solidFill>
              <a:latin typeface="Calibri"/>
              <a:ea typeface="Calibri"/>
              <a:cs typeface="Calibri"/>
              <a:sym typeface="Calibri"/>
            </a:endParaRPr>
          </a:p>
        </p:txBody>
      </p:sp>
      <p:sp>
        <p:nvSpPr>
          <p:cNvPr id="831" name="Google Shape;831;p123"/>
          <p:cNvSpPr/>
          <p:nvPr/>
        </p:nvSpPr>
        <p:spPr>
          <a:xfrm>
            <a:off x="508000" y="4089400"/>
            <a:ext cx="8127900" cy="482700"/>
          </a:xfrm>
          <a:prstGeom prst="roundRect">
            <a:avLst>
              <a:gd fmla="val 16667" name="adj"/>
            </a:avLst>
          </a:prstGeom>
          <a:solidFill>
            <a:srgbClr val="FFFFFF"/>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8C1515"/>
                </a:solidFill>
                <a:latin typeface="Calibri"/>
                <a:ea typeface="Calibri"/>
                <a:cs typeface="Calibri"/>
                <a:sym typeface="Calibri"/>
              </a:rPr>
              <a:t>Answers:  (a) 1/2     (b) 1/5</a:t>
            </a:r>
            <a:endParaRPr b="1" sz="1600">
              <a:solidFill>
                <a:srgbClr val="8C1515"/>
              </a:solidFill>
              <a:latin typeface="Calibri"/>
              <a:ea typeface="Calibri"/>
              <a:cs typeface="Calibri"/>
              <a:sym typeface="Calibri"/>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124"/>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Conditional 3: 8-Sided Die, Continued</a:t>
            </a:r>
            <a:endParaRPr/>
          </a:p>
        </p:txBody>
      </p:sp>
      <p:sp>
        <p:nvSpPr>
          <p:cNvPr id="837" name="Google Shape;837;p124"/>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a:t>Same die: A = even, B = ≥ 6. From Warm-up 1: P(A) = 1/2, P(B) = 3/8, P(A ∩ B) = 1/4</a:t>
            </a:r>
            <a:endParaRPr/>
          </a:p>
          <a:p>
            <a:pPr indent="0" lvl="0" marL="0" rtl="0" algn="l">
              <a:spcBef>
                <a:spcPts val="750"/>
              </a:spcBef>
              <a:spcAft>
                <a:spcPts val="0"/>
              </a:spcAft>
              <a:buNone/>
            </a:pPr>
            <a:r>
              <a:rPr lang="en"/>
              <a:t>(a) What is P(A | B)?     (b) What is P(B | A)?</a:t>
            </a:r>
            <a:endParaRPr/>
          </a:p>
          <a:p>
            <a:pPr indent="0" lvl="0" marL="0" rtl="0" algn="l">
              <a:spcBef>
                <a:spcPts val="750"/>
              </a:spcBef>
              <a:spcAft>
                <a:spcPts val="0"/>
              </a:spcAft>
              <a:buNone/>
            </a:pPr>
            <a:r>
              <a:rPr lang="en"/>
              <a:t>(c) Is P(A ∩ B) = P(A) P(B)? Always, never, or sometimes?</a:t>
            </a:r>
            <a:endParaRPr/>
          </a:p>
          <a:p>
            <a:pPr indent="0" lvl="0" marL="0" rtl="0" algn="l">
              <a:spcBef>
                <a:spcPts val="750"/>
              </a:spcBef>
              <a:spcAft>
                <a:spcPts val="0"/>
              </a:spcAft>
              <a:buNone/>
            </a:pPr>
            <a:r>
              <a:rPr lang="en"/>
              <a:t>(d) Is P(A ∩ B) = P(A | B) P(B)? Always, never, or sometimes?</a:t>
            </a:r>
            <a:endParaRPr/>
          </a:p>
          <a:p>
            <a:pPr indent="0" lvl="0" marL="0" rtl="0" algn="l">
              <a:spcBef>
                <a:spcPts val="750"/>
              </a:spcBef>
              <a:spcAft>
                <a:spcPts val="0"/>
              </a:spcAft>
              <a:buNone/>
            </a:pPr>
            <a:r>
              <a:rPr lang="en"/>
              <a:t>(e) C = the result is a cube (1 or 8). What is P(C | A ∩ B)?</a:t>
            </a:r>
            <a:endParaRPr/>
          </a:p>
        </p:txBody>
      </p:sp>
      <p:sp>
        <p:nvSpPr>
          <p:cNvPr id="838" name="Google Shape;838;p124"/>
          <p:cNvSpPr/>
          <p:nvPr/>
        </p:nvSpPr>
        <p:spPr>
          <a:xfrm>
            <a:off x="7696200" y="101600"/>
            <a:ext cx="1219200" cy="279300"/>
          </a:xfrm>
          <a:prstGeom prst="roundRect">
            <a:avLst>
              <a:gd fmla="val 16667" name="adj"/>
            </a:avLst>
          </a:prstGeom>
          <a:solidFill>
            <a:srgbClr val="8C1515"/>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PRACTICE</a:t>
            </a:r>
            <a:endParaRPr b="1" sz="1100">
              <a:solidFill>
                <a:srgbClr val="FFFFFF"/>
              </a:solidFill>
              <a:latin typeface="Calibri"/>
              <a:ea typeface="Calibri"/>
              <a:cs typeface="Calibri"/>
              <a:sym typeface="Calibri"/>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125"/>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Conditional 3: Solution</a:t>
            </a:r>
            <a:endParaRPr/>
          </a:p>
        </p:txBody>
      </p:sp>
      <p:sp>
        <p:nvSpPr>
          <p:cNvPr id="844" name="Google Shape;844;p125"/>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(a) P(A | B) = P(A ∩ B) / P(B) = (1/4) / (3/8) = 2/3   (in {6, 7, 8}, the evens are 6 and 8)</a:t>
            </a:r>
            <a:endParaRPr sz="1800"/>
          </a:p>
          <a:p>
            <a:pPr indent="0" lvl="0" marL="0" rtl="0" algn="l">
              <a:spcBef>
                <a:spcPts val="750"/>
              </a:spcBef>
              <a:spcAft>
                <a:spcPts val="0"/>
              </a:spcAft>
              <a:buNone/>
            </a:pPr>
            <a:r>
              <a:rPr lang="en" sz="1800"/>
              <a:t>(b) P(B | A) = (1/4) / (1/2) = 1/2, which is not P(A | B)!</a:t>
            </a:r>
            <a:endParaRPr sz="1800"/>
          </a:p>
          <a:p>
            <a:pPr indent="0" lvl="0" marL="0" rtl="0" algn="l">
              <a:spcBef>
                <a:spcPts val="750"/>
              </a:spcBef>
              <a:spcAft>
                <a:spcPts val="0"/>
              </a:spcAft>
              <a:buNone/>
            </a:pPr>
            <a:r>
              <a:rPr lang="en" sz="1800"/>
              <a:t>(c) Not here: P(A) P(B) = 3/16 ≠ 1/4. Sometimes: true only if A and B are independent</a:t>
            </a:r>
            <a:endParaRPr sz="1800"/>
          </a:p>
          <a:p>
            <a:pPr indent="0" lvl="0" marL="0" rtl="0" algn="l">
              <a:spcBef>
                <a:spcPts val="750"/>
              </a:spcBef>
              <a:spcAft>
                <a:spcPts val="0"/>
              </a:spcAft>
              <a:buNone/>
            </a:pPr>
            <a:r>
              <a:rPr lang="en" sz="1800"/>
              <a:t>(d) Always true: this is the chain rule (the definition, rearranged)</a:t>
            </a:r>
            <a:endParaRPr sz="1800"/>
          </a:p>
          <a:p>
            <a:pPr indent="0" lvl="0" marL="0" rtl="0" algn="l">
              <a:spcBef>
                <a:spcPts val="750"/>
              </a:spcBef>
              <a:spcAft>
                <a:spcPts val="0"/>
              </a:spcAft>
              <a:buNone/>
            </a:pPr>
            <a:r>
              <a:rPr lang="en" sz="1800"/>
              <a:t>(e) A ∩ B = {6, 8}, and only 8 is a cube → P(C | A ∩ B) = 1/2</a:t>
            </a:r>
            <a:endParaRPr sz="1800"/>
          </a:p>
        </p:txBody>
      </p:sp>
      <p:sp>
        <p:nvSpPr>
          <p:cNvPr id="845" name="Google Shape;845;p125"/>
          <p:cNvSpPr/>
          <p:nvPr/>
        </p:nvSpPr>
        <p:spPr>
          <a:xfrm>
            <a:off x="7696200" y="101600"/>
            <a:ext cx="1219200" cy="279300"/>
          </a:xfrm>
          <a:prstGeom prst="roundRect">
            <a:avLst>
              <a:gd fmla="val 16667" name="adj"/>
            </a:avLst>
          </a:prstGeom>
          <a:solidFill>
            <a:srgbClr val="175E54"/>
          </a:solidFill>
          <a:ln cap="flat" cmpd="sng" w="9525">
            <a:solidFill>
              <a:srgbClr val="175E5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SOLUTION</a:t>
            </a:r>
            <a:endParaRPr b="1" sz="1100">
              <a:solidFill>
                <a:srgbClr val="FFFFFF"/>
              </a:solidFill>
              <a:latin typeface="Calibri"/>
              <a:ea typeface="Calibri"/>
              <a:cs typeface="Calibri"/>
              <a:sym typeface="Calibri"/>
            </a:endParaRPr>
          </a:p>
        </p:txBody>
      </p:sp>
      <p:sp>
        <p:nvSpPr>
          <p:cNvPr id="846" name="Google Shape;846;p125"/>
          <p:cNvSpPr/>
          <p:nvPr/>
        </p:nvSpPr>
        <p:spPr>
          <a:xfrm>
            <a:off x="508000" y="4089400"/>
            <a:ext cx="8127900" cy="482700"/>
          </a:xfrm>
          <a:prstGeom prst="roundRect">
            <a:avLst>
              <a:gd fmla="val 16667" name="adj"/>
            </a:avLst>
          </a:prstGeom>
          <a:solidFill>
            <a:srgbClr val="FFFFFF"/>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8C1515"/>
                </a:solidFill>
                <a:latin typeface="Calibri"/>
                <a:ea typeface="Calibri"/>
                <a:cs typeface="Calibri"/>
                <a:sym typeface="Calibri"/>
              </a:rPr>
              <a:t>Answers:  (a) 2/3    (b) 1/2    (c) sometimes    (d) always    (e) 1/2</a:t>
            </a:r>
            <a:endParaRPr b="1" sz="1600">
              <a:solidFill>
                <a:srgbClr val="8C1515"/>
              </a:solidFill>
              <a:latin typeface="Calibri"/>
              <a:ea typeface="Calibri"/>
              <a:cs typeface="Calibri"/>
              <a:sym typeface="Calibri"/>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126"/>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Chain Rule 1: The Late Cat (Part 1)</a:t>
            </a:r>
            <a:endParaRPr/>
          </a:p>
        </p:txBody>
      </p:sp>
      <p:sp>
        <p:nvSpPr>
          <p:cNvPr id="852" name="Google Shape;852;p126"/>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a:t>It rains (R) 1/3 of the time. Heavy traffic (T) happens with probability 1/2 if it rains, 1/4 if not.</a:t>
            </a:r>
            <a:endParaRPr/>
          </a:p>
          <a:p>
            <a:pPr indent="0" lvl="0" marL="0" rtl="0" algn="l">
              <a:spcBef>
                <a:spcPts val="750"/>
              </a:spcBef>
              <a:spcAft>
                <a:spcPts val="0"/>
              </a:spcAft>
              <a:buNone/>
            </a:pPr>
            <a:r>
              <a:rPr lang="en"/>
              <a:t>A cat drives to work. It is late (L) with probability 1/2 if there is rain and traffic, 1/8 if there is neither, and 1/4 otherwise.</a:t>
            </a:r>
            <a:endParaRPr/>
          </a:p>
          <a:p>
            <a:pPr indent="0" lvl="0" marL="0" rtl="0" algn="l">
              <a:spcBef>
                <a:spcPts val="750"/>
              </a:spcBef>
              <a:spcAft>
                <a:spcPts val="0"/>
              </a:spcAft>
              <a:buNone/>
            </a:pPr>
            <a:r>
              <a:rPr lang="en"/>
              <a:t>(a) On a random day, what is the probability it is not raining, there is heavy traffic, and the cat isn’t late?</a:t>
            </a:r>
            <a:endParaRPr/>
          </a:p>
        </p:txBody>
      </p:sp>
      <p:sp>
        <p:nvSpPr>
          <p:cNvPr id="853" name="Google Shape;853;p126"/>
          <p:cNvSpPr/>
          <p:nvPr/>
        </p:nvSpPr>
        <p:spPr>
          <a:xfrm>
            <a:off x="7696200" y="101600"/>
            <a:ext cx="1219200" cy="279300"/>
          </a:xfrm>
          <a:prstGeom prst="roundRect">
            <a:avLst>
              <a:gd fmla="val 16667" name="adj"/>
            </a:avLst>
          </a:prstGeom>
          <a:solidFill>
            <a:srgbClr val="8C1515"/>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PRACTICE</a:t>
            </a:r>
            <a:endParaRPr b="1" sz="1100">
              <a:solidFill>
                <a:srgbClr val="FFFFFF"/>
              </a:solidFill>
              <a:latin typeface="Calibri"/>
              <a:ea typeface="Calibri"/>
              <a:cs typeface="Calibri"/>
              <a:sym typeface="Calibri"/>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127"/>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Chain Rule 1: Solution</a:t>
            </a:r>
            <a:endParaRPr/>
          </a:p>
        </p:txBody>
      </p:sp>
      <p:sp>
        <p:nvSpPr>
          <p:cNvPr id="859" name="Google Shape;859;p127"/>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Want P(Rᶜ T Lᶜ). Chain rule: each factor conditions on the ones before it</a:t>
            </a:r>
            <a:endParaRPr sz="1800"/>
          </a:p>
          <a:p>
            <a:pPr indent="0" lvl="0" marL="0" rtl="0" algn="l">
              <a:spcBef>
                <a:spcPts val="750"/>
              </a:spcBef>
              <a:spcAft>
                <a:spcPts val="0"/>
              </a:spcAft>
              <a:buNone/>
            </a:pPr>
            <a:r>
              <a:rPr lang="en" sz="1800"/>
              <a:t>      P(Rᶜ T Lᶜ) = P(Rᶜ) · P(T | Rᶜ) · P(Lᶜ | Rᶜ T)</a:t>
            </a:r>
            <a:endParaRPr sz="1800"/>
          </a:p>
          <a:p>
            <a:pPr indent="0" lvl="0" marL="0" rtl="0" algn="l">
              <a:spcBef>
                <a:spcPts val="750"/>
              </a:spcBef>
              <a:spcAft>
                <a:spcPts val="0"/>
              </a:spcAft>
              <a:buNone/>
            </a:pPr>
            <a:r>
              <a:rPr lang="en" sz="1800"/>
              <a:t>P(Rᶜ) = 1 − 1/3 = 2/3</a:t>
            </a:r>
            <a:endParaRPr sz="1800"/>
          </a:p>
          <a:p>
            <a:pPr indent="0" lvl="0" marL="0" rtl="0" algn="l">
              <a:spcBef>
                <a:spcPts val="750"/>
              </a:spcBef>
              <a:spcAft>
                <a:spcPts val="0"/>
              </a:spcAft>
              <a:buNone/>
            </a:pPr>
            <a:r>
              <a:rPr lang="en" sz="1800"/>
              <a:t>P(T | Rᶜ) = 1/4</a:t>
            </a:r>
            <a:endParaRPr sz="1800"/>
          </a:p>
          <a:p>
            <a:pPr indent="0" lvl="0" marL="0" rtl="0" algn="l">
              <a:spcBef>
                <a:spcPts val="750"/>
              </a:spcBef>
              <a:spcAft>
                <a:spcPts val="0"/>
              </a:spcAft>
              <a:buNone/>
            </a:pPr>
            <a:r>
              <a:rPr lang="en" sz="1800"/>
              <a:t>P(Lᶜ | Rᶜ T) = 1 − 1/4 = 3/4   (the “otherwise” case, complemented)</a:t>
            </a:r>
            <a:endParaRPr sz="1800"/>
          </a:p>
        </p:txBody>
      </p:sp>
      <p:sp>
        <p:nvSpPr>
          <p:cNvPr id="860" name="Google Shape;860;p127"/>
          <p:cNvSpPr/>
          <p:nvPr/>
        </p:nvSpPr>
        <p:spPr>
          <a:xfrm>
            <a:off x="7696200" y="101600"/>
            <a:ext cx="1219200" cy="279300"/>
          </a:xfrm>
          <a:prstGeom prst="roundRect">
            <a:avLst>
              <a:gd fmla="val 16667" name="adj"/>
            </a:avLst>
          </a:prstGeom>
          <a:solidFill>
            <a:srgbClr val="175E54"/>
          </a:solidFill>
          <a:ln cap="flat" cmpd="sng" w="9525">
            <a:solidFill>
              <a:srgbClr val="175E5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SOLUTION</a:t>
            </a:r>
            <a:endParaRPr b="1" sz="1100">
              <a:solidFill>
                <a:srgbClr val="FFFFFF"/>
              </a:solidFill>
              <a:latin typeface="Calibri"/>
              <a:ea typeface="Calibri"/>
              <a:cs typeface="Calibri"/>
              <a:sym typeface="Calibri"/>
            </a:endParaRPr>
          </a:p>
        </p:txBody>
      </p:sp>
      <p:sp>
        <p:nvSpPr>
          <p:cNvPr id="861" name="Google Shape;861;p127"/>
          <p:cNvSpPr/>
          <p:nvPr/>
        </p:nvSpPr>
        <p:spPr>
          <a:xfrm>
            <a:off x="508000" y="4089400"/>
            <a:ext cx="8127900" cy="482700"/>
          </a:xfrm>
          <a:prstGeom prst="roundRect">
            <a:avLst>
              <a:gd fmla="val 16667" name="adj"/>
            </a:avLst>
          </a:prstGeom>
          <a:solidFill>
            <a:srgbClr val="FFFFFF"/>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8C1515"/>
                </a:solidFill>
                <a:latin typeface="Calibri"/>
                <a:ea typeface="Calibri"/>
                <a:cs typeface="Calibri"/>
                <a:sym typeface="Calibri"/>
              </a:rPr>
              <a:t>Answer:  P(Rᶜ T Lᶜ) = (2/3)(1/4)(3/4) = 1/8</a:t>
            </a:r>
            <a:endParaRPr b="1" sz="1600">
              <a:solidFill>
                <a:srgbClr val="8C1515"/>
              </a:solidFill>
              <a:latin typeface="Calibri"/>
              <a:ea typeface="Calibri"/>
              <a:cs typeface="Calibri"/>
              <a:sym typeface="Calibri"/>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128"/>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Chain Rule 2: White Elephant</a:t>
            </a:r>
            <a:endParaRPr/>
          </a:p>
        </p:txBody>
      </p:sp>
      <p:sp>
        <p:nvSpPr>
          <p:cNvPr id="867" name="Google Shape;867;p128"/>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a:t>n people each bring a gift. One at a time, each person is randomly assigned a gift from the pile (possibly their own).</a:t>
            </a:r>
            <a:endParaRPr/>
          </a:p>
          <a:p>
            <a:pPr indent="0" lvl="0" marL="0" rtl="0" algn="l">
              <a:spcBef>
                <a:spcPts val="750"/>
              </a:spcBef>
              <a:spcAft>
                <a:spcPts val="0"/>
              </a:spcAft>
              <a:buNone/>
            </a:pPr>
            <a:r>
              <a:rPr lang="en"/>
              <a:t>(a) What is the probability that all n people get their own gift?</a:t>
            </a:r>
            <a:endParaRPr/>
          </a:p>
          <a:p>
            <a:pPr indent="0" lvl="0" marL="0" rtl="0" algn="l">
              <a:spcBef>
                <a:spcPts val="750"/>
              </a:spcBef>
              <a:spcAft>
                <a:spcPts val="0"/>
              </a:spcAft>
              <a:buNone/>
            </a:pPr>
            <a:r>
              <a:rPr lang="en"/>
              <a:t>(b) Exactly n − 1 people?</a:t>
            </a:r>
            <a:endParaRPr/>
          </a:p>
          <a:p>
            <a:pPr indent="0" lvl="0" marL="0" rtl="0" algn="l">
              <a:spcBef>
                <a:spcPts val="750"/>
              </a:spcBef>
              <a:spcAft>
                <a:spcPts val="0"/>
              </a:spcAft>
              <a:buNone/>
            </a:pPr>
            <a:r>
              <a:rPr lang="en"/>
              <a:t>(c) Exactly n − 2 people?</a:t>
            </a:r>
            <a:endParaRPr/>
          </a:p>
          <a:p>
            <a:pPr indent="0" lvl="0" marL="0" rtl="0" algn="l">
              <a:spcBef>
                <a:spcPts val="750"/>
              </a:spcBef>
              <a:spcAft>
                <a:spcPts val="0"/>
              </a:spcAft>
              <a:buNone/>
            </a:pPr>
            <a:r>
              <a:rPr lang="en"/>
              <a:t>(d) You may take your turn whenever you like. Which turn maximizes your chance of getting your own gift?</a:t>
            </a:r>
            <a:endParaRPr/>
          </a:p>
        </p:txBody>
      </p:sp>
      <p:sp>
        <p:nvSpPr>
          <p:cNvPr id="868" name="Google Shape;868;p128"/>
          <p:cNvSpPr/>
          <p:nvPr/>
        </p:nvSpPr>
        <p:spPr>
          <a:xfrm>
            <a:off x="7696200" y="101600"/>
            <a:ext cx="1219200" cy="279300"/>
          </a:xfrm>
          <a:prstGeom prst="roundRect">
            <a:avLst>
              <a:gd fmla="val 16667" name="adj"/>
            </a:avLst>
          </a:prstGeom>
          <a:solidFill>
            <a:srgbClr val="8C1515"/>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PRACTICE</a:t>
            </a:r>
            <a:endParaRPr b="1" sz="1100">
              <a:solidFill>
                <a:srgbClr val="FFFFFF"/>
              </a:solidFill>
              <a:latin typeface="Calibri"/>
              <a:ea typeface="Calibri"/>
              <a:cs typeface="Calibri"/>
              <a:sym typeface="Calibri"/>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129"/>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Chain Rule 2: Solution (1/2)</a:t>
            </a:r>
            <a:endParaRPr/>
          </a:p>
        </p:txBody>
      </p:sp>
      <p:sp>
        <p:nvSpPr>
          <p:cNvPr id="874" name="Google Shape;874;p129"/>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(a) Chain rule: P(person 1 gets theirs) = 1/n, then 1/(n − 1), …</a:t>
            </a:r>
            <a:endParaRPr sz="1800"/>
          </a:p>
          <a:p>
            <a:pPr indent="0" lvl="0" marL="0" rtl="0" algn="l">
              <a:spcBef>
                <a:spcPts val="750"/>
              </a:spcBef>
              <a:spcAft>
                <a:spcPts val="0"/>
              </a:spcAft>
              <a:buNone/>
            </a:pPr>
            <a:r>
              <a:rPr lang="en" sz="1800"/>
              <a:t>      P = (1/n) · (1/(n − 1)) · … · (1/1) = 1/n!</a:t>
            </a:r>
            <a:endParaRPr sz="1800"/>
          </a:p>
          <a:p>
            <a:pPr indent="0" lvl="0" marL="0" rtl="0" algn="l">
              <a:spcBef>
                <a:spcPts val="750"/>
              </a:spcBef>
              <a:spcAft>
                <a:spcPts val="0"/>
              </a:spcAft>
              <a:buNone/>
            </a:pPr>
            <a:r>
              <a:rPr lang="en" sz="1800"/>
              <a:t>(b) 0: a wrong gift belongs to someone else, who then can’t get theirs</a:t>
            </a:r>
            <a:endParaRPr sz="1800"/>
          </a:p>
          <a:p>
            <a:pPr indent="0" lvl="0" marL="0" rtl="0" algn="l">
              <a:spcBef>
                <a:spcPts val="750"/>
              </a:spcBef>
              <a:spcAft>
                <a:spcPts val="0"/>
              </a:spcAft>
              <a:buNone/>
            </a:pPr>
            <a:r>
              <a:rPr lang="en" sz="1800"/>
              <a:t>(c) Exactly one pair swaps; everyone else is forced</a:t>
            </a:r>
            <a:endParaRPr sz="1800"/>
          </a:p>
          <a:p>
            <a:pPr indent="0" lvl="0" marL="0" rtl="0" algn="l">
              <a:spcBef>
                <a:spcPts val="750"/>
              </a:spcBef>
              <a:spcAft>
                <a:spcPts val="0"/>
              </a:spcAft>
              <a:buNone/>
            </a:pPr>
            <a:r>
              <a:rPr lang="en" sz="1800"/>
              <a:t>      C(n, 2) ways out of n! → P = C(n, 2) / n! = 1 / (2 (n − 2)!)</a:t>
            </a:r>
            <a:endParaRPr sz="1800"/>
          </a:p>
        </p:txBody>
      </p:sp>
      <p:sp>
        <p:nvSpPr>
          <p:cNvPr id="875" name="Google Shape;875;p129"/>
          <p:cNvSpPr/>
          <p:nvPr/>
        </p:nvSpPr>
        <p:spPr>
          <a:xfrm>
            <a:off x="7696200" y="101600"/>
            <a:ext cx="1219200" cy="279300"/>
          </a:xfrm>
          <a:prstGeom prst="roundRect">
            <a:avLst>
              <a:gd fmla="val 16667" name="adj"/>
            </a:avLst>
          </a:prstGeom>
          <a:solidFill>
            <a:srgbClr val="175E54"/>
          </a:solidFill>
          <a:ln cap="flat" cmpd="sng" w="9525">
            <a:solidFill>
              <a:srgbClr val="175E5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SOLUTION</a:t>
            </a:r>
            <a:endParaRPr b="1" sz="1100">
              <a:solidFill>
                <a:srgbClr val="FFFFFF"/>
              </a:solidFill>
              <a:latin typeface="Calibri"/>
              <a:ea typeface="Calibri"/>
              <a:cs typeface="Calibri"/>
              <a:sym typeface="Calibri"/>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130"/>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Chain Rule 2: Solution (2/2)</a:t>
            </a:r>
            <a:endParaRPr/>
          </a:p>
        </p:txBody>
      </p:sp>
      <p:sp>
        <p:nvSpPr>
          <p:cNvPr id="881" name="Google Shape;881;p130"/>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(d) It doesn’t matter: your chance is always 1/n</a:t>
            </a:r>
            <a:endParaRPr sz="1800"/>
          </a:p>
          <a:p>
            <a:pPr indent="0" lvl="0" marL="0" rtl="0" algn="l">
              <a:spcBef>
                <a:spcPts val="750"/>
              </a:spcBef>
              <a:spcAft>
                <a:spcPts val="0"/>
              </a:spcAft>
              <a:buNone/>
            </a:pPr>
            <a:r>
              <a:rPr lang="en" sz="1800"/>
              <a:t>      Go first: 1/n</a:t>
            </a:r>
            <a:endParaRPr sz="1800"/>
          </a:p>
          <a:p>
            <a:pPr indent="0" lvl="0" marL="0" rtl="0" algn="l">
              <a:spcBef>
                <a:spcPts val="750"/>
              </a:spcBef>
              <a:spcAft>
                <a:spcPts val="0"/>
              </a:spcAft>
              <a:buNone/>
            </a:pPr>
            <a:r>
              <a:rPr lang="en" sz="1800"/>
              <a:t>      Wait k turns: your gift must survive them, then you must draw it</a:t>
            </a:r>
            <a:endParaRPr sz="1800"/>
          </a:p>
          <a:p>
            <a:pPr indent="0" lvl="0" marL="0" rtl="0" algn="l">
              <a:spcBef>
                <a:spcPts val="750"/>
              </a:spcBef>
              <a:spcAft>
                <a:spcPts val="0"/>
              </a:spcAft>
              <a:buNone/>
            </a:pPr>
            <a:r>
              <a:rPr lang="en" sz="1800"/>
              <a:t>      P = (n − k)/n · 1/(n − k) = 1/n   (chain rule again!)</a:t>
            </a:r>
            <a:endParaRPr sz="1800"/>
          </a:p>
          <a:p>
            <a:pPr indent="0" lvl="0" marL="0" rtl="0" algn="l">
              <a:spcBef>
                <a:spcPts val="750"/>
              </a:spcBef>
              <a:spcAft>
                <a:spcPts val="0"/>
              </a:spcAft>
              <a:buNone/>
            </a:pPr>
            <a:r>
              <a:rPr lang="en" sz="1800"/>
              <a:t>Intuition: your gift is equally likely to be anywhere in the order</a:t>
            </a:r>
            <a:endParaRPr sz="1800"/>
          </a:p>
          <a:p>
            <a:pPr indent="0" lvl="0" marL="0" rtl="0" algn="l">
              <a:spcBef>
                <a:spcPts val="750"/>
              </a:spcBef>
              <a:spcAft>
                <a:spcPts val="0"/>
              </a:spcAft>
              <a:buNone/>
            </a:pPr>
            <a:r>
              <a:rPr lang="en" sz="1800"/>
              <a:t>Bonus: P(nobody gets theirs) = 1/3 (n = 3), 3/8 (n = 4), → 1/e</a:t>
            </a:r>
            <a:endParaRPr sz="1800"/>
          </a:p>
        </p:txBody>
      </p:sp>
      <p:sp>
        <p:nvSpPr>
          <p:cNvPr id="882" name="Google Shape;882;p130"/>
          <p:cNvSpPr/>
          <p:nvPr/>
        </p:nvSpPr>
        <p:spPr>
          <a:xfrm>
            <a:off x="7696200" y="101600"/>
            <a:ext cx="1219200" cy="279300"/>
          </a:xfrm>
          <a:prstGeom prst="roundRect">
            <a:avLst>
              <a:gd fmla="val 16667" name="adj"/>
            </a:avLst>
          </a:prstGeom>
          <a:solidFill>
            <a:srgbClr val="175E54"/>
          </a:solidFill>
          <a:ln cap="flat" cmpd="sng" w="9525">
            <a:solidFill>
              <a:srgbClr val="175E5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SOLUTION</a:t>
            </a:r>
            <a:endParaRPr b="1" sz="1100">
              <a:solidFill>
                <a:srgbClr val="FFFFFF"/>
              </a:solidFill>
              <a:latin typeface="Calibri"/>
              <a:ea typeface="Calibri"/>
              <a:cs typeface="Calibri"/>
              <a:sym typeface="Calibri"/>
            </a:endParaRPr>
          </a:p>
        </p:txBody>
      </p:sp>
      <p:sp>
        <p:nvSpPr>
          <p:cNvPr id="883" name="Google Shape;883;p130"/>
          <p:cNvSpPr/>
          <p:nvPr/>
        </p:nvSpPr>
        <p:spPr>
          <a:xfrm>
            <a:off x="508000" y="4089400"/>
            <a:ext cx="8127900" cy="482700"/>
          </a:xfrm>
          <a:prstGeom prst="roundRect">
            <a:avLst>
              <a:gd fmla="val 16667" name="adj"/>
            </a:avLst>
          </a:prstGeom>
          <a:solidFill>
            <a:srgbClr val="FFFFFF"/>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8C1515"/>
                </a:solidFill>
                <a:latin typeface="Calibri"/>
                <a:ea typeface="Calibri"/>
                <a:cs typeface="Calibri"/>
                <a:sym typeface="Calibri"/>
              </a:rPr>
              <a:t>Answers:  (a) 1/n!     (b) 0     (c) 1 / (2 (n − 2)!)     (d) any turn: always 1/n</a:t>
            </a:r>
            <a:endParaRPr b="1" sz="1600">
              <a:solidFill>
                <a:srgbClr val="8C1515"/>
              </a:solidFill>
              <a:latin typeface="Calibri"/>
              <a:ea typeface="Calibri"/>
              <a:cs typeface="Calibri"/>
              <a:sym typeface="Calibri"/>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131"/>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Independence 1: Penny and Nickel</a:t>
            </a:r>
            <a:endParaRPr/>
          </a:p>
        </p:txBody>
      </p:sp>
      <p:sp>
        <p:nvSpPr>
          <p:cNvPr id="889" name="Google Shape;889;p131"/>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a:t>Flip one penny and one nickel.</a:t>
            </a:r>
            <a:endParaRPr/>
          </a:p>
          <a:p>
            <a:pPr indent="0" lvl="0" marL="0" rtl="0" algn="l">
              <a:spcBef>
                <a:spcPts val="750"/>
              </a:spcBef>
              <a:spcAft>
                <a:spcPts val="0"/>
              </a:spcAft>
              <a:buNone/>
            </a:pPr>
            <a:r>
              <a:rPr lang="en"/>
              <a:t>      A: the penny comes up tails</a:t>
            </a:r>
            <a:endParaRPr/>
          </a:p>
          <a:p>
            <a:pPr indent="0" lvl="0" marL="0" rtl="0" algn="l">
              <a:spcBef>
                <a:spcPts val="750"/>
              </a:spcBef>
              <a:spcAft>
                <a:spcPts val="0"/>
              </a:spcAft>
              <a:buNone/>
            </a:pPr>
            <a:r>
              <a:rPr lang="en"/>
              <a:t>      B: the nickel comes up tails</a:t>
            </a:r>
            <a:endParaRPr/>
          </a:p>
          <a:p>
            <a:pPr indent="0" lvl="0" marL="0" rtl="0" algn="l">
              <a:spcBef>
                <a:spcPts val="750"/>
              </a:spcBef>
              <a:spcAft>
                <a:spcPts val="0"/>
              </a:spcAft>
              <a:buNone/>
            </a:pPr>
            <a:r>
              <a:rPr lang="en"/>
              <a:t>      C: neither coin comes up tails</a:t>
            </a:r>
            <a:endParaRPr/>
          </a:p>
          <a:p>
            <a:pPr indent="0" lvl="0" marL="0" rtl="0" algn="l">
              <a:spcBef>
                <a:spcPts val="750"/>
              </a:spcBef>
              <a:spcAft>
                <a:spcPts val="0"/>
              </a:spcAft>
              <a:buNone/>
            </a:pPr>
            <a:r>
              <a:rPr lang="en"/>
              <a:t>      D: exactly one coin comes up tails</a:t>
            </a:r>
            <a:endParaRPr/>
          </a:p>
          <a:p>
            <a:pPr indent="0" lvl="0" marL="0" rtl="0" algn="l">
              <a:spcBef>
                <a:spcPts val="750"/>
              </a:spcBef>
              <a:spcAft>
                <a:spcPts val="0"/>
              </a:spcAft>
              <a:buNone/>
            </a:pPr>
            <a:r>
              <a:rPr lang="en"/>
              <a:t>Which pairs of these events, if any, are independent?</a:t>
            </a:r>
            <a:endParaRPr/>
          </a:p>
        </p:txBody>
      </p:sp>
      <p:sp>
        <p:nvSpPr>
          <p:cNvPr id="890" name="Google Shape;890;p131"/>
          <p:cNvSpPr/>
          <p:nvPr/>
        </p:nvSpPr>
        <p:spPr>
          <a:xfrm>
            <a:off x="7696200" y="101600"/>
            <a:ext cx="1219200" cy="279300"/>
          </a:xfrm>
          <a:prstGeom prst="roundRect">
            <a:avLst>
              <a:gd fmla="val 16667" name="adj"/>
            </a:avLst>
          </a:prstGeom>
          <a:solidFill>
            <a:srgbClr val="8C1515"/>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PRACTICE</a:t>
            </a:r>
            <a:endParaRPr b="1" sz="1100">
              <a:solidFill>
                <a:srgbClr val="FFFFFF"/>
              </a:solidFill>
              <a:latin typeface="Calibri"/>
              <a:ea typeface="Calibri"/>
              <a:cs typeface="Calibri"/>
              <a:sym typeface="Calibri"/>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132"/>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Independence 1: Solution</a:t>
            </a:r>
            <a:endParaRPr/>
          </a:p>
        </p:txBody>
      </p:sp>
      <p:sp>
        <p:nvSpPr>
          <p:cNvPr id="896" name="Google Shape;896;p132"/>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S = {HH, HT, TH, TT} (penny first). P(A) = P(B) = P(D) = 1/2, P(C) = 1/4</a:t>
            </a:r>
            <a:endParaRPr sz="1800"/>
          </a:p>
          <a:p>
            <a:pPr indent="0" lvl="0" marL="0" rtl="0" algn="l">
              <a:spcBef>
                <a:spcPts val="750"/>
              </a:spcBef>
              <a:spcAft>
                <a:spcPts val="0"/>
              </a:spcAft>
              <a:buNone/>
            </a:pPr>
            <a:r>
              <a:rPr lang="en" sz="1800"/>
              <a:t>A, B: P(AB) = P(TT) = 1/4 = (1/2)(1/2) → independent</a:t>
            </a:r>
            <a:endParaRPr sz="1800"/>
          </a:p>
          <a:p>
            <a:pPr indent="0" lvl="0" marL="0" rtl="0" algn="l">
              <a:spcBef>
                <a:spcPts val="750"/>
              </a:spcBef>
              <a:spcAft>
                <a:spcPts val="0"/>
              </a:spcAft>
              <a:buNone/>
            </a:pPr>
            <a:r>
              <a:rPr lang="en" sz="1800"/>
              <a:t>A, D: P(AD) = P(TH) = 1/4 = (1/2)(1/2) → independent (surprise!)</a:t>
            </a:r>
            <a:endParaRPr sz="1800"/>
          </a:p>
          <a:p>
            <a:pPr indent="0" lvl="0" marL="0" rtl="0" algn="l">
              <a:spcBef>
                <a:spcPts val="750"/>
              </a:spcBef>
              <a:spcAft>
                <a:spcPts val="0"/>
              </a:spcAft>
              <a:buNone/>
            </a:pPr>
            <a:r>
              <a:rPr lang="en" sz="1800"/>
              <a:t>B, D: P(BD) = P(HT) = 1/4 = (1/2)(1/2) → independent</a:t>
            </a:r>
            <a:endParaRPr sz="1800"/>
          </a:p>
          <a:p>
            <a:pPr indent="0" lvl="0" marL="0" rtl="0" algn="l">
              <a:spcBef>
                <a:spcPts val="750"/>
              </a:spcBef>
              <a:spcAft>
                <a:spcPts val="0"/>
              </a:spcAft>
              <a:buNone/>
            </a:pPr>
            <a:r>
              <a:rPr lang="en" sz="1800"/>
              <a:t>A &amp; C, B &amp; C, C &amp; D: disjoint, so P = 0 ≠ product → dependent</a:t>
            </a:r>
            <a:endParaRPr sz="1800"/>
          </a:p>
          <a:p>
            <a:pPr indent="0" lvl="0" marL="0" rtl="0" algn="l">
              <a:spcBef>
                <a:spcPts val="750"/>
              </a:spcBef>
              <a:spcAft>
                <a:spcPts val="0"/>
              </a:spcAft>
              <a:buNone/>
            </a:pPr>
            <a:r>
              <a:rPr lang="en" sz="1800"/>
              <a:t>Takeaway: check the definition, because intuition can mislead</a:t>
            </a:r>
            <a:endParaRPr sz="1800"/>
          </a:p>
        </p:txBody>
      </p:sp>
      <p:sp>
        <p:nvSpPr>
          <p:cNvPr id="897" name="Google Shape;897;p132"/>
          <p:cNvSpPr/>
          <p:nvPr/>
        </p:nvSpPr>
        <p:spPr>
          <a:xfrm>
            <a:off x="7696200" y="101600"/>
            <a:ext cx="1219200" cy="279300"/>
          </a:xfrm>
          <a:prstGeom prst="roundRect">
            <a:avLst>
              <a:gd fmla="val 16667" name="adj"/>
            </a:avLst>
          </a:prstGeom>
          <a:solidFill>
            <a:srgbClr val="175E54"/>
          </a:solidFill>
          <a:ln cap="flat" cmpd="sng" w="9525">
            <a:solidFill>
              <a:srgbClr val="175E5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SOLUTION</a:t>
            </a:r>
            <a:endParaRPr b="1" sz="1100">
              <a:solidFill>
                <a:srgbClr val="FFFFFF"/>
              </a:solidFill>
              <a:latin typeface="Calibri"/>
              <a:ea typeface="Calibri"/>
              <a:cs typeface="Calibri"/>
              <a:sym typeface="Calibri"/>
            </a:endParaRPr>
          </a:p>
        </p:txBody>
      </p:sp>
      <p:sp>
        <p:nvSpPr>
          <p:cNvPr id="898" name="Google Shape;898;p132"/>
          <p:cNvSpPr/>
          <p:nvPr/>
        </p:nvSpPr>
        <p:spPr>
          <a:xfrm>
            <a:off x="508000" y="4089400"/>
            <a:ext cx="8127900" cy="482700"/>
          </a:xfrm>
          <a:prstGeom prst="roundRect">
            <a:avLst>
              <a:gd fmla="val 16667" name="adj"/>
            </a:avLst>
          </a:prstGeom>
          <a:solidFill>
            <a:srgbClr val="FFFFFF"/>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8C1515"/>
                </a:solidFill>
                <a:latin typeface="Calibri"/>
                <a:ea typeface="Calibri"/>
                <a:cs typeface="Calibri"/>
                <a:sym typeface="Calibri"/>
              </a:rPr>
              <a:t>Answer:  A &amp; B, A &amp; D, B &amp; D are independent; every pair with C is not</a:t>
            </a:r>
            <a:endParaRPr b="1" sz="1600">
              <a:solidFill>
                <a:srgbClr val="8C1515"/>
              </a:solidFill>
              <a:latin typeface="Calibri"/>
              <a:ea typeface="Calibri"/>
              <a:cs typeface="Calibri"/>
              <a:sym typeface="Calibri"/>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sp>
        <p:nvSpPr>
          <p:cNvPr id="903" name="Google Shape;903;p133"/>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Independence 2: mRNA Patterns</a:t>
            </a:r>
            <a:endParaRPr/>
          </a:p>
        </p:txBody>
      </p:sp>
      <p:sp>
        <p:nvSpPr>
          <p:cNvPr id="904" name="Google Shape;904;p133"/>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a:t>An mRNA string has 8 letters. Each letter is generated independently: P(A) = P(U) = 1/3, P(C) = P(G) = 1/6.</a:t>
            </a:r>
            <a:endParaRPr/>
          </a:p>
          <a:p>
            <a:pPr indent="0" lvl="0" marL="0" rtl="0" algn="l">
              <a:spcBef>
                <a:spcPts val="750"/>
              </a:spcBef>
              <a:spcAft>
                <a:spcPts val="0"/>
              </a:spcAft>
              <a:buNone/>
            </a:pPr>
            <a:r>
              <a:rPr lang="en"/>
              <a:t>Vᵢ = the pattern AGUA starts at position i.</a:t>
            </a:r>
            <a:endParaRPr/>
          </a:p>
          <a:p>
            <a:pPr indent="0" lvl="0" marL="0" rtl="0" algn="l">
              <a:spcBef>
                <a:spcPts val="750"/>
              </a:spcBef>
              <a:spcAft>
                <a:spcPts val="0"/>
              </a:spcAft>
              <a:buNone/>
            </a:pPr>
            <a:r>
              <a:rPr lang="en"/>
              <a:t>(a) What is P(V₁)?</a:t>
            </a:r>
            <a:endParaRPr/>
          </a:p>
          <a:p>
            <a:pPr indent="0" lvl="0" marL="0" rtl="0" algn="l">
              <a:spcBef>
                <a:spcPts val="750"/>
              </a:spcBef>
              <a:spcAft>
                <a:spcPts val="0"/>
              </a:spcAft>
              <a:buNone/>
            </a:pPr>
            <a:r>
              <a:rPr lang="en"/>
              <a:t>(b) Are V₁ and V₂ independent?</a:t>
            </a:r>
            <a:endParaRPr/>
          </a:p>
          <a:p>
            <a:pPr indent="0" lvl="0" marL="0" rtl="0" algn="l">
              <a:spcBef>
                <a:spcPts val="750"/>
              </a:spcBef>
              <a:spcAft>
                <a:spcPts val="0"/>
              </a:spcAft>
              <a:buNone/>
            </a:pPr>
            <a:r>
              <a:rPr lang="en"/>
              <a:t>(c) Are V₁ and V₄ independent?</a:t>
            </a:r>
            <a:endParaRPr/>
          </a:p>
          <a:p>
            <a:pPr indent="0" lvl="0" marL="0" rtl="0" algn="l">
              <a:spcBef>
                <a:spcPts val="750"/>
              </a:spcBef>
              <a:spcAft>
                <a:spcPts val="0"/>
              </a:spcAft>
              <a:buNone/>
            </a:pPr>
            <a:r>
              <a:rPr lang="en"/>
              <a:t>(d) Are V₁ and V₅ independent?</a:t>
            </a:r>
            <a:endParaRPr/>
          </a:p>
        </p:txBody>
      </p:sp>
      <p:sp>
        <p:nvSpPr>
          <p:cNvPr id="905" name="Google Shape;905;p133"/>
          <p:cNvSpPr/>
          <p:nvPr/>
        </p:nvSpPr>
        <p:spPr>
          <a:xfrm>
            <a:off x="7696200" y="101600"/>
            <a:ext cx="1219200" cy="279300"/>
          </a:xfrm>
          <a:prstGeom prst="roundRect">
            <a:avLst>
              <a:gd fmla="val 16667" name="adj"/>
            </a:avLst>
          </a:prstGeom>
          <a:solidFill>
            <a:srgbClr val="8C1515"/>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PRACTICE</a:t>
            </a:r>
            <a:endParaRPr b="1" sz="1100">
              <a:solidFill>
                <a:srgbClr val="FFFFFF"/>
              </a:solidFill>
              <a:latin typeface="Calibri"/>
              <a:ea typeface="Calibri"/>
              <a:cs typeface="Calibri"/>
              <a:sym typeface="Calibri"/>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134"/>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Independence 2: Solution</a:t>
            </a:r>
            <a:endParaRPr/>
          </a:p>
        </p:txBody>
      </p:sp>
      <p:sp>
        <p:nvSpPr>
          <p:cNvPr id="911" name="Google Shape;911;p134"/>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(a) The letters are independent: P(V₁) = (1/3)(1/6)(1/3)(1/3) = 1/162</a:t>
            </a:r>
            <a:endParaRPr sz="1800"/>
          </a:p>
          <a:p>
            <a:pPr indent="0" lvl="0" marL="0" rtl="0" algn="l">
              <a:spcBef>
                <a:spcPts val="750"/>
              </a:spcBef>
              <a:spcAft>
                <a:spcPts val="0"/>
              </a:spcAft>
              <a:buNone/>
            </a:pPr>
            <a:r>
              <a:rPr lang="en" sz="1800"/>
              <a:t>(b) Dependent: V₁ puts a G in position 2, so AGUA can’t start there</a:t>
            </a:r>
            <a:endParaRPr sz="1800"/>
          </a:p>
          <a:p>
            <a:pPr indent="0" lvl="0" marL="0" rtl="0" algn="l">
              <a:spcBef>
                <a:spcPts val="750"/>
              </a:spcBef>
              <a:spcAft>
                <a:spcPts val="0"/>
              </a:spcAft>
              <a:buNone/>
            </a:pPr>
            <a:r>
              <a:rPr lang="en" sz="1800"/>
              <a:t>      P(V₂ | V₁) = 0 ≠ 1/162</a:t>
            </a:r>
            <a:endParaRPr sz="1800"/>
          </a:p>
          <a:p>
            <a:pPr indent="0" lvl="0" marL="0" rtl="0" algn="l">
              <a:spcBef>
                <a:spcPts val="750"/>
              </a:spcBef>
              <a:spcAft>
                <a:spcPts val="0"/>
              </a:spcAft>
              <a:buNone/>
            </a:pPr>
            <a:r>
              <a:rPr lang="en" sz="1800"/>
              <a:t>(c) Dependent: V₁ puts an A in position 4, giving V₄ a head start</a:t>
            </a:r>
            <a:endParaRPr sz="1800"/>
          </a:p>
          <a:p>
            <a:pPr indent="0" lvl="0" marL="0" rtl="0" algn="l">
              <a:spcBef>
                <a:spcPts val="750"/>
              </a:spcBef>
              <a:spcAft>
                <a:spcPts val="0"/>
              </a:spcAft>
              <a:buNone/>
            </a:pPr>
            <a:r>
              <a:rPr lang="en" sz="1800"/>
              <a:t>      P(V₄ | V₁) = P(G, U, A in 5–7) = (1/6)(1/3)(1/3) = 1/54 &gt; 1/162</a:t>
            </a:r>
            <a:endParaRPr sz="1800"/>
          </a:p>
          <a:p>
            <a:pPr indent="0" lvl="0" marL="0" rtl="0" algn="l">
              <a:spcBef>
                <a:spcPts val="750"/>
              </a:spcBef>
              <a:spcAft>
                <a:spcPts val="0"/>
              </a:spcAft>
              <a:buNone/>
            </a:pPr>
            <a:r>
              <a:rPr lang="en" sz="1800"/>
              <a:t>(d) Independent: positions 1–4 and 5–8 don’t overlap, and letters are independent</a:t>
            </a:r>
            <a:endParaRPr sz="1800"/>
          </a:p>
        </p:txBody>
      </p:sp>
      <p:sp>
        <p:nvSpPr>
          <p:cNvPr id="912" name="Google Shape;912;p134"/>
          <p:cNvSpPr/>
          <p:nvPr/>
        </p:nvSpPr>
        <p:spPr>
          <a:xfrm>
            <a:off x="7696200" y="101600"/>
            <a:ext cx="1219200" cy="279300"/>
          </a:xfrm>
          <a:prstGeom prst="roundRect">
            <a:avLst>
              <a:gd fmla="val 16667" name="adj"/>
            </a:avLst>
          </a:prstGeom>
          <a:solidFill>
            <a:srgbClr val="175E54"/>
          </a:solidFill>
          <a:ln cap="flat" cmpd="sng" w="9525">
            <a:solidFill>
              <a:srgbClr val="175E5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SOLUTION</a:t>
            </a:r>
            <a:endParaRPr b="1" sz="1100">
              <a:solidFill>
                <a:srgbClr val="FFFFFF"/>
              </a:solidFill>
              <a:latin typeface="Calibri"/>
              <a:ea typeface="Calibri"/>
              <a:cs typeface="Calibri"/>
              <a:sym typeface="Calibri"/>
            </a:endParaRPr>
          </a:p>
        </p:txBody>
      </p:sp>
      <p:sp>
        <p:nvSpPr>
          <p:cNvPr id="913" name="Google Shape;913;p134"/>
          <p:cNvSpPr/>
          <p:nvPr/>
        </p:nvSpPr>
        <p:spPr>
          <a:xfrm>
            <a:off x="508000" y="4089400"/>
            <a:ext cx="8127900" cy="482700"/>
          </a:xfrm>
          <a:prstGeom prst="roundRect">
            <a:avLst>
              <a:gd fmla="val 16667" name="adj"/>
            </a:avLst>
          </a:prstGeom>
          <a:solidFill>
            <a:srgbClr val="FFFFFF"/>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8C1515"/>
                </a:solidFill>
                <a:latin typeface="Calibri"/>
                <a:ea typeface="Calibri"/>
                <a:cs typeface="Calibri"/>
                <a:sym typeface="Calibri"/>
              </a:rPr>
              <a:t>Answers:  (a) 1/162    (b) dependent    (c) dependent    (d) independent</a:t>
            </a:r>
            <a:endParaRPr b="1" sz="1600">
              <a:solidFill>
                <a:srgbClr val="8C1515"/>
              </a:solidFill>
              <a:latin typeface="Calibri"/>
              <a:ea typeface="Calibri"/>
              <a:cs typeface="Calibri"/>
              <a:sym typeface="Calibri"/>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p135"/>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Independence 3 (Challenge): Three Events</a:t>
            </a:r>
            <a:endParaRPr/>
          </a:p>
        </p:txBody>
      </p:sp>
      <p:sp>
        <p:nvSpPr>
          <p:cNvPr id="919" name="Google Shape;919;p135"/>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a:t>For events A, B, and C:</a:t>
            </a:r>
            <a:endParaRPr/>
          </a:p>
          <a:p>
            <a:pPr indent="0" lvl="0" marL="0" rtl="0" algn="l">
              <a:spcBef>
                <a:spcPts val="750"/>
              </a:spcBef>
              <a:spcAft>
                <a:spcPts val="0"/>
              </a:spcAft>
              <a:buNone/>
            </a:pPr>
            <a:r>
              <a:rPr lang="en"/>
              <a:t>      A and C are independent; B and C are independent</a:t>
            </a:r>
            <a:endParaRPr/>
          </a:p>
          <a:p>
            <a:pPr indent="0" lvl="0" marL="0" rtl="0" algn="l">
              <a:spcBef>
                <a:spcPts val="750"/>
              </a:spcBef>
              <a:spcAft>
                <a:spcPts val="0"/>
              </a:spcAft>
              <a:buNone/>
            </a:pPr>
            <a:r>
              <a:rPr lang="en"/>
              <a:t>      A and B are mutually exclusive</a:t>
            </a:r>
            <a:endParaRPr/>
          </a:p>
          <a:p>
            <a:pPr indent="0" lvl="0" marL="0" rtl="0" algn="l">
              <a:spcBef>
                <a:spcPts val="750"/>
              </a:spcBef>
              <a:spcAft>
                <a:spcPts val="0"/>
              </a:spcAft>
              <a:buNone/>
            </a:pPr>
            <a:r>
              <a:rPr lang="en"/>
              <a:t>      P(A ∪ C) = 2/3,  P(B ∪ C) = 3/4,  P(A ∪ B ∪ C) = 11/12</a:t>
            </a:r>
            <a:endParaRPr/>
          </a:p>
          <a:p>
            <a:pPr indent="0" lvl="0" marL="0" rtl="0" algn="l">
              <a:spcBef>
                <a:spcPts val="750"/>
              </a:spcBef>
              <a:spcAft>
                <a:spcPts val="0"/>
              </a:spcAft>
              <a:buNone/>
            </a:pPr>
            <a:r>
              <a:rPr lang="en"/>
              <a:t>Find P(A), P(B), and P(C).</a:t>
            </a:r>
            <a:endParaRPr/>
          </a:p>
        </p:txBody>
      </p:sp>
      <p:sp>
        <p:nvSpPr>
          <p:cNvPr id="920" name="Google Shape;920;p135"/>
          <p:cNvSpPr/>
          <p:nvPr/>
        </p:nvSpPr>
        <p:spPr>
          <a:xfrm>
            <a:off x="7696200" y="101600"/>
            <a:ext cx="1219200" cy="279300"/>
          </a:xfrm>
          <a:prstGeom prst="roundRect">
            <a:avLst>
              <a:gd fmla="val 16667" name="adj"/>
            </a:avLst>
          </a:prstGeom>
          <a:solidFill>
            <a:srgbClr val="8C1515"/>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PRACTICE</a:t>
            </a:r>
            <a:endParaRPr b="1" sz="1100">
              <a:solidFill>
                <a:srgbClr val="FFFFFF"/>
              </a:solidFill>
              <a:latin typeface="Calibri"/>
              <a:ea typeface="Calibri"/>
              <a:cs typeface="Calibri"/>
              <a:sym typeface="Calibri"/>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136"/>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Independence 3: Solution (1/2)</a:t>
            </a:r>
            <a:endParaRPr/>
          </a:p>
        </p:txBody>
      </p:sp>
      <p:sp>
        <p:nvSpPr>
          <p:cNvPr id="926" name="Google Shape;926;p136"/>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Let a = P(A), b = P(B), c = P(C)</a:t>
            </a:r>
            <a:endParaRPr sz="1800"/>
          </a:p>
          <a:p>
            <a:pPr indent="0" lvl="0" marL="0" rtl="0" algn="l">
              <a:spcBef>
                <a:spcPts val="750"/>
              </a:spcBef>
              <a:spcAft>
                <a:spcPts val="0"/>
              </a:spcAft>
              <a:buNone/>
            </a:pPr>
            <a:r>
              <a:rPr lang="en" sz="1800"/>
              <a:t>Independence: P(AC) = ac, P(BC) = bc. Disjoint: P(AB) = P(ABC) = 0</a:t>
            </a:r>
            <a:endParaRPr sz="1800"/>
          </a:p>
          <a:p>
            <a:pPr indent="0" lvl="0" marL="0" rtl="0" algn="l">
              <a:spcBef>
                <a:spcPts val="750"/>
              </a:spcBef>
              <a:spcAft>
                <a:spcPts val="0"/>
              </a:spcAft>
              <a:buNone/>
            </a:pPr>
            <a:r>
              <a:rPr lang="en" sz="1800"/>
              <a:t>Inclusion–exclusion gives three equations:</a:t>
            </a:r>
            <a:endParaRPr sz="1800"/>
          </a:p>
          <a:p>
            <a:pPr indent="0" lvl="0" marL="0" rtl="0" algn="l">
              <a:spcBef>
                <a:spcPts val="750"/>
              </a:spcBef>
              <a:spcAft>
                <a:spcPts val="0"/>
              </a:spcAft>
              <a:buNone/>
            </a:pPr>
            <a:r>
              <a:rPr lang="en" sz="1800"/>
              <a:t>      (1)  a + c − ac = 2/3</a:t>
            </a:r>
            <a:endParaRPr sz="1800"/>
          </a:p>
          <a:p>
            <a:pPr indent="0" lvl="0" marL="0" rtl="0" algn="l">
              <a:spcBef>
                <a:spcPts val="750"/>
              </a:spcBef>
              <a:spcAft>
                <a:spcPts val="0"/>
              </a:spcAft>
              <a:buNone/>
            </a:pPr>
            <a:r>
              <a:rPr lang="en" sz="1800"/>
              <a:t>      (2)  b + c − bc = 3/4</a:t>
            </a:r>
            <a:endParaRPr sz="1800"/>
          </a:p>
          <a:p>
            <a:pPr indent="0" lvl="0" marL="0" rtl="0" algn="l">
              <a:spcBef>
                <a:spcPts val="750"/>
              </a:spcBef>
              <a:spcAft>
                <a:spcPts val="0"/>
              </a:spcAft>
              <a:buNone/>
            </a:pPr>
            <a:r>
              <a:rPr lang="en" sz="1800"/>
              <a:t>      (3)  a + b + c − ac − bc = 11/12</a:t>
            </a:r>
            <a:endParaRPr sz="1800"/>
          </a:p>
        </p:txBody>
      </p:sp>
      <p:sp>
        <p:nvSpPr>
          <p:cNvPr id="927" name="Google Shape;927;p136"/>
          <p:cNvSpPr/>
          <p:nvPr/>
        </p:nvSpPr>
        <p:spPr>
          <a:xfrm>
            <a:off x="7696200" y="101600"/>
            <a:ext cx="1219200" cy="279300"/>
          </a:xfrm>
          <a:prstGeom prst="roundRect">
            <a:avLst>
              <a:gd fmla="val 16667" name="adj"/>
            </a:avLst>
          </a:prstGeom>
          <a:solidFill>
            <a:srgbClr val="175E54"/>
          </a:solidFill>
          <a:ln cap="flat" cmpd="sng" w="9525">
            <a:solidFill>
              <a:srgbClr val="175E5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SOLUTION</a:t>
            </a:r>
            <a:endParaRPr b="1" sz="1100">
              <a:solidFill>
                <a:srgbClr val="FFFFFF"/>
              </a:solidFill>
              <a:latin typeface="Calibri"/>
              <a:ea typeface="Calibri"/>
              <a:cs typeface="Calibri"/>
              <a:sym typeface="Calibri"/>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37"/>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Independence 3: Solution (2/2)</a:t>
            </a:r>
            <a:endParaRPr/>
          </a:p>
        </p:txBody>
      </p:sp>
      <p:sp>
        <p:nvSpPr>
          <p:cNvPr id="933" name="Google Shape;933;p137"/>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(1) + (2) − (3): everything cancels except c</a:t>
            </a:r>
            <a:endParaRPr sz="1800"/>
          </a:p>
          <a:p>
            <a:pPr indent="0" lvl="0" marL="0" rtl="0" algn="l">
              <a:spcBef>
                <a:spcPts val="750"/>
              </a:spcBef>
              <a:spcAft>
                <a:spcPts val="0"/>
              </a:spcAft>
              <a:buNone/>
            </a:pPr>
            <a:r>
              <a:rPr lang="en" sz="1800"/>
              <a:t>      c = 2/3 + 3/4 − 11/12 = 6/12 = 1/2</a:t>
            </a:r>
            <a:endParaRPr sz="1800"/>
          </a:p>
          <a:p>
            <a:pPr indent="0" lvl="0" marL="0" rtl="0" algn="l">
              <a:spcBef>
                <a:spcPts val="750"/>
              </a:spcBef>
              <a:spcAft>
                <a:spcPts val="0"/>
              </a:spcAft>
              <a:buNone/>
            </a:pPr>
            <a:r>
              <a:rPr lang="en" sz="1800"/>
              <a:t>Plug into (1): a + 1/2 − a/2 = 2/3 → a/2 = 1/6 → a = 1/3</a:t>
            </a:r>
            <a:endParaRPr sz="1800"/>
          </a:p>
          <a:p>
            <a:pPr indent="0" lvl="0" marL="0" rtl="0" algn="l">
              <a:spcBef>
                <a:spcPts val="750"/>
              </a:spcBef>
              <a:spcAft>
                <a:spcPts val="0"/>
              </a:spcAft>
              <a:buNone/>
            </a:pPr>
            <a:r>
              <a:rPr lang="en" sz="1800"/>
              <a:t>Plug into (2): b + 1/2 − b/2 = 3/4 → b/2 = 1/4 → b = 1/2</a:t>
            </a:r>
            <a:endParaRPr sz="1800"/>
          </a:p>
          <a:p>
            <a:pPr indent="0" lvl="0" marL="0" rtl="0" algn="l">
              <a:spcBef>
                <a:spcPts val="750"/>
              </a:spcBef>
              <a:spcAft>
                <a:spcPts val="0"/>
              </a:spcAft>
              <a:buNone/>
            </a:pPr>
            <a:r>
              <a:rPr lang="en" sz="1800"/>
              <a:t>Check (3): 1/3 + 1/2 + 1/2 − 1/6 − 1/4 = 11/12 ✓</a:t>
            </a:r>
            <a:endParaRPr sz="1800"/>
          </a:p>
        </p:txBody>
      </p:sp>
      <p:sp>
        <p:nvSpPr>
          <p:cNvPr id="934" name="Google Shape;934;p137"/>
          <p:cNvSpPr/>
          <p:nvPr/>
        </p:nvSpPr>
        <p:spPr>
          <a:xfrm>
            <a:off x="7696200" y="101600"/>
            <a:ext cx="1219200" cy="279300"/>
          </a:xfrm>
          <a:prstGeom prst="roundRect">
            <a:avLst>
              <a:gd fmla="val 16667" name="adj"/>
            </a:avLst>
          </a:prstGeom>
          <a:solidFill>
            <a:srgbClr val="175E54"/>
          </a:solidFill>
          <a:ln cap="flat" cmpd="sng" w="9525">
            <a:solidFill>
              <a:srgbClr val="175E5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SOLUTION</a:t>
            </a:r>
            <a:endParaRPr b="1" sz="1100">
              <a:solidFill>
                <a:srgbClr val="FFFFFF"/>
              </a:solidFill>
              <a:latin typeface="Calibri"/>
              <a:ea typeface="Calibri"/>
              <a:cs typeface="Calibri"/>
              <a:sym typeface="Calibri"/>
            </a:endParaRPr>
          </a:p>
        </p:txBody>
      </p:sp>
      <p:sp>
        <p:nvSpPr>
          <p:cNvPr id="935" name="Google Shape;935;p137"/>
          <p:cNvSpPr/>
          <p:nvPr/>
        </p:nvSpPr>
        <p:spPr>
          <a:xfrm>
            <a:off x="508000" y="4089400"/>
            <a:ext cx="8127900" cy="482700"/>
          </a:xfrm>
          <a:prstGeom prst="roundRect">
            <a:avLst>
              <a:gd fmla="val 16667" name="adj"/>
            </a:avLst>
          </a:prstGeom>
          <a:solidFill>
            <a:srgbClr val="FFFFFF"/>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8C1515"/>
                </a:solidFill>
                <a:latin typeface="Calibri"/>
                <a:ea typeface="Calibri"/>
                <a:cs typeface="Calibri"/>
                <a:sym typeface="Calibri"/>
              </a:rPr>
              <a:t>Answer:  P(A) = 1/3,   P(B) = 1/2,   P(C) = 1/2</a:t>
            </a:r>
            <a:endParaRPr b="1" sz="1600">
              <a:solidFill>
                <a:srgbClr val="8C1515"/>
              </a:solidFill>
              <a:latin typeface="Calibri"/>
              <a:ea typeface="Calibri"/>
              <a:cs typeface="Calibri"/>
              <a:sym typeface="Calibri"/>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138"/>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LOTP 1: Two-Step Marbles</a:t>
            </a:r>
            <a:endParaRPr/>
          </a:p>
        </p:txBody>
      </p:sp>
      <p:sp>
        <p:nvSpPr>
          <p:cNvPr id="941" name="Google Shape;941;p138"/>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a:t>Step 1: draw a marble from a bag of 1 red, 2 green, and 1 blue marble. Its color picks a bucket.</a:t>
            </a:r>
            <a:endParaRPr/>
          </a:p>
          <a:p>
            <a:pPr indent="0" lvl="0" marL="0" rtl="0" algn="l">
              <a:spcBef>
                <a:spcPts val="750"/>
              </a:spcBef>
              <a:spcAft>
                <a:spcPts val="0"/>
              </a:spcAft>
              <a:buNone/>
            </a:pPr>
            <a:r>
              <a:rPr lang="en"/>
              <a:t>Step 2: draw a marble from that bucket. P(blue marble) is:</a:t>
            </a:r>
            <a:endParaRPr/>
          </a:p>
          <a:p>
            <a:pPr indent="0" lvl="0" marL="0" rtl="0" algn="l">
              <a:spcBef>
                <a:spcPts val="750"/>
              </a:spcBef>
              <a:spcAft>
                <a:spcPts val="0"/>
              </a:spcAft>
              <a:buNone/>
            </a:pPr>
            <a:r>
              <a:rPr lang="en"/>
              <a:t>      1/4 in the red bucket, 0 in the green bucket, 1/3 in the blue bucket</a:t>
            </a:r>
            <a:endParaRPr/>
          </a:p>
          <a:p>
            <a:pPr indent="0" lvl="0" marL="0" rtl="0" algn="l">
              <a:spcBef>
                <a:spcPts val="750"/>
              </a:spcBef>
              <a:spcAft>
                <a:spcPts val="0"/>
              </a:spcAft>
              <a:buNone/>
            </a:pPr>
            <a:r>
              <a:rPr lang="en"/>
              <a:t>A = the step-2 marble is blue.</a:t>
            </a:r>
            <a:endParaRPr/>
          </a:p>
          <a:p>
            <a:pPr indent="0" lvl="0" marL="0" rtl="0" algn="l">
              <a:spcBef>
                <a:spcPts val="750"/>
              </a:spcBef>
              <a:spcAft>
                <a:spcPts val="0"/>
              </a:spcAft>
              <a:buNone/>
            </a:pPr>
            <a:r>
              <a:rPr lang="en"/>
              <a:t>(a) What is P(A)?</a:t>
            </a:r>
            <a:endParaRPr/>
          </a:p>
          <a:p>
            <a:pPr indent="0" lvl="0" marL="0" rtl="0" algn="l">
              <a:spcBef>
                <a:spcPts val="750"/>
              </a:spcBef>
              <a:spcAft>
                <a:spcPts val="0"/>
              </a:spcAft>
              <a:buNone/>
            </a:pPr>
            <a:r>
              <a:rPr lang="en"/>
              <a:t>(b) Given A, what is the probability we used the red bucket?</a:t>
            </a:r>
            <a:endParaRPr/>
          </a:p>
        </p:txBody>
      </p:sp>
      <p:sp>
        <p:nvSpPr>
          <p:cNvPr id="942" name="Google Shape;942;p138"/>
          <p:cNvSpPr/>
          <p:nvPr/>
        </p:nvSpPr>
        <p:spPr>
          <a:xfrm>
            <a:off x="7696200" y="101600"/>
            <a:ext cx="1219200" cy="279300"/>
          </a:xfrm>
          <a:prstGeom prst="roundRect">
            <a:avLst>
              <a:gd fmla="val 16667" name="adj"/>
            </a:avLst>
          </a:prstGeom>
          <a:solidFill>
            <a:srgbClr val="8C1515"/>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PRACTICE</a:t>
            </a:r>
            <a:endParaRPr b="1" sz="1100">
              <a:solidFill>
                <a:srgbClr val="FFFFFF"/>
              </a:solidFill>
              <a:latin typeface="Calibri"/>
              <a:ea typeface="Calibri"/>
              <a:cs typeface="Calibri"/>
              <a:sym typeface="Calibri"/>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39"/>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LOTP 1: Solution (1/2)</a:t>
            </a:r>
            <a:endParaRPr/>
          </a:p>
        </p:txBody>
      </p:sp>
      <p:sp>
        <p:nvSpPr>
          <p:cNvPr id="948" name="Google Shape;948;p139"/>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Partition on the step-1 color: P(R) = 1/4, P(G) = 2/4 = 1/2, P(B) = 1/4</a:t>
            </a:r>
            <a:endParaRPr sz="1800"/>
          </a:p>
          <a:p>
            <a:pPr indent="0" lvl="0" marL="0" rtl="0" algn="l">
              <a:spcBef>
                <a:spcPts val="750"/>
              </a:spcBef>
              <a:spcAft>
                <a:spcPts val="0"/>
              </a:spcAft>
              <a:buNone/>
            </a:pPr>
            <a:r>
              <a:rPr lang="en" sz="1800"/>
              <a:t>Likelihoods: P(A | R) = 1/4,  P(A | G) = 0,  P(A | B) = 1/3</a:t>
            </a:r>
            <a:endParaRPr sz="1800"/>
          </a:p>
          <a:p>
            <a:pPr indent="0" lvl="0" marL="0" rtl="0" algn="l">
              <a:spcBef>
                <a:spcPts val="750"/>
              </a:spcBef>
              <a:spcAft>
                <a:spcPts val="0"/>
              </a:spcAft>
              <a:buNone/>
            </a:pPr>
            <a:r>
              <a:rPr lang="en" sz="1800"/>
              <a:t>(a) LOTP: P(A) = P(A | R) P(R) + P(A | G) P(G) + P(A | B) P(B)</a:t>
            </a:r>
            <a:endParaRPr sz="1800"/>
          </a:p>
          <a:p>
            <a:pPr indent="0" lvl="0" marL="0" rtl="0" algn="l">
              <a:spcBef>
                <a:spcPts val="750"/>
              </a:spcBef>
              <a:spcAft>
                <a:spcPts val="0"/>
              </a:spcAft>
              <a:buNone/>
            </a:pPr>
            <a:r>
              <a:rPr lang="en" sz="1800"/>
              <a:t>                = (1/4)(1/4) + (0)(1/2) + (1/3)(1/4)</a:t>
            </a:r>
            <a:endParaRPr sz="1800"/>
          </a:p>
          <a:p>
            <a:pPr indent="0" lvl="0" marL="0" rtl="0" algn="l">
              <a:spcBef>
                <a:spcPts val="750"/>
              </a:spcBef>
              <a:spcAft>
                <a:spcPts val="0"/>
              </a:spcAft>
              <a:buNone/>
            </a:pPr>
            <a:r>
              <a:rPr lang="en" sz="1800"/>
              <a:t>                = 1/16 + 0 + 1/12 = 7/48 ≈ 0.146</a:t>
            </a:r>
            <a:endParaRPr sz="1800"/>
          </a:p>
        </p:txBody>
      </p:sp>
      <p:sp>
        <p:nvSpPr>
          <p:cNvPr id="949" name="Google Shape;949;p139"/>
          <p:cNvSpPr/>
          <p:nvPr/>
        </p:nvSpPr>
        <p:spPr>
          <a:xfrm>
            <a:off x="7696200" y="101600"/>
            <a:ext cx="1219200" cy="279300"/>
          </a:xfrm>
          <a:prstGeom prst="roundRect">
            <a:avLst>
              <a:gd fmla="val 16667" name="adj"/>
            </a:avLst>
          </a:prstGeom>
          <a:solidFill>
            <a:srgbClr val="175E54"/>
          </a:solidFill>
          <a:ln cap="flat" cmpd="sng" w="9525">
            <a:solidFill>
              <a:srgbClr val="175E5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SOLUTION</a:t>
            </a:r>
            <a:endParaRPr b="1" sz="1100">
              <a:solidFill>
                <a:srgbClr val="FFFFFF"/>
              </a:solidFill>
              <a:latin typeface="Calibri"/>
              <a:ea typeface="Calibri"/>
              <a:cs typeface="Calibri"/>
              <a:sym typeface="Calibri"/>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140"/>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LOTP 1: Solution (2/2)</a:t>
            </a:r>
            <a:endParaRPr/>
          </a:p>
        </p:txBody>
      </p:sp>
      <p:sp>
        <p:nvSpPr>
          <p:cNvPr id="955" name="Google Shape;955;p140"/>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(b) Bayes: P(R | A) = P(A | R) P(R) / P(A)</a:t>
            </a:r>
            <a:endParaRPr sz="1800"/>
          </a:p>
          <a:p>
            <a:pPr indent="0" lvl="0" marL="0" rtl="0" algn="l">
              <a:spcBef>
                <a:spcPts val="750"/>
              </a:spcBef>
              <a:spcAft>
                <a:spcPts val="0"/>
              </a:spcAft>
              <a:buNone/>
            </a:pPr>
            <a:r>
              <a:rPr lang="en" sz="1800"/>
              <a:t>                           = (1/16) / (7/48) = 3/7 ≈ 0.43</a:t>
            </a:r>
            <a:endParaRPr sz="1800"/>
          </a:p>
          <a:p>
            <a:pPr indent="0" lvl="0" marL="0" rtl="0" algn="l">
              <a:spcBef>
                <a:spcPts val="750"/>
              </a:spcBef>
              <a:spcAft>
                <a:spcPts val="0"/>
              </a:spcAft>
              <a:buNone/>
            </a:pPr>
            <a:r>
              <a:rPr lang="en" sz="1800"/>
              <a:t>Prior P(R) = 1/4 → posterior 3/7: seeing blue makes “red bucket” more likely</a:t>
            </a:r>
            <a:endParaRPr sz="1800"/>
          </a:p>
          <a:p>
            <a:pPr indent="0" lvl="0" marL="0" rtl="0" algn="l">
              <a:spcBef>
                <a:spcPts val="750"/>
              </a:spcBef>
              <a:spcAft>
                <a:spcPts val="0"/>
              </a:spcAft>
              <a:buNone/>
            </a:pPr>
            <a:r>
              <a:rPr lang="en" sz="1800"/>
              <a:t>Check: P(B | A) = (1/12) / (7/48) = 4/7 and P(G | A) = 0</a:t>
            </a:r>
            <a:endParaRPr sz="1800"/>
          </a:p>
          <a:p>
            <a:pPr indent="0" lvl="0" marL="0" rtl="0" algn="l">
              <a:spcBef>
                <a:spcPts val="750"/>
              </a:spcBef>
              <a:spcAft>
                <a:spcPts val="0"/>
              </a:spcAft>
              <a:buNone/>
            </a:pPr>
            <a:r>
              <a:rPr lang="en" sz="1800"/>
              <a:t>      3/7 + 4/7 + 0 = 1 ✓</a:t>
            </a:r>
            <a:endParaRPr sz="1800"/>
          </a:p>
        </p:txBody>
      </p:sp>
      <p:sp>
        <p:nvSpPr>
          <p:cNvPr id="956" name="Google Shape;956;p140"/>
          <p:cNvSpPr/>
          <p:nvPr/>
        </p:nvSpPr>
        <p:spPr>
          <a:xfrm>
            <a:off x="7696200" y="101600"/>
            <a:ext cx="1219200" cy="279300"/>
          </a:xfrm>
          <a:prstGeom prst="roundRect">
            <a:avLst>
              <a:gd fmla="val 16667" name="adj"/>
            </a:avLst>
          </a:prstGeom>
          <a:solidFill>
            <a:srgbClr val="175E54"/>
          </a:solidFill>
          <a:ln cap="flat" cmpd="sng" w="9525">
            <a:solidFill>
              <a:srgbClr val="175E5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SOLUTION</a:t>
            </a:r>
            <a:endParaRPr b="1" sz="1100">
              <a:solidFill>
                <a:srgbClr val="FFFFFF"/>
              </a:solidFill>
              <a:latin typeface="Calibri"/>
              <a:ea typeface="Calibri"/>
              <a:cs typeface="Calibri"/>
              <a:sym typeface="Calibri"/>
            </a:endParaRPr>
          </a:p>
        </p:txBody>
      </p:sp>
      <p:sp>
        <p:nvSpPr>
          <p:cNvPr id="957" name="Google Shape;957;p140"/>
          <p:cNvSpPr/>
          <p:nvPr/>
        </p:nvSpPr>
        <p:spPr>
          <a:xfrm>
            <a:off x="508000" y="4089400"/>
            <a:ext cx="8127900" cy="482700"/>
          </a:xfrm>
          <a:prstGeom prst="roundRect">
            <a:avLst>
              <a:gd fmla="val 16667" name="adj"/>
            </a:avLst>
          </a:prstGeom>
          <a:solidFill>
            <a:srgbClr val="FFFFFF"/>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8C1515"/>
                </a:solidFill>
                <a:latin typeface="Calibri"/>
                <a:ea typeface="Calibri"/>
                <a:cs typeface="Calibri"/>
                <a:sym typeface="Calibri"/>
              </a:rPr>
              <a:t>Answers:  (a) P(A) = 7/48 ≈ 0.146     (b) P(R | A) = 3/7 ≈ 0.43</a:t>
            </a:r>
            <a:endParaRPr b="1" sz="1600">
              <a:solidFill>
                <a:srgbClr val="8C1515"/>
              </a:solidFill>
              <a:latin typeface="Calibri"/>
              <a:ea typeface="Calibri"/>
              <a:cs typeface="Calibri"/>
              <a:sym typeface="Calibri"/>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41"/>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LOTP 2: The Late Cat (Part 2)</a:t>
            </a:r>
            <a:endParaRPr/>
          </a:p>
        </p:txBody>
      </p:sp>
      <p:sp>
        <p:nvSpPr>
          <p:cNvPr id="963" name="Google Shape;963;p141"/>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a:t>Same setup as Chain Rule 1:</a:t>
            </a:r>
            <a:endParaRPr/>
          </a:p>
          <a:p>
            <a:pPr indent="0" lvl="0" marL="0" rtl="0" algn="l">
              <a:spcBef>
                <a:spcPts val="750"/>
              </a:spcBef>
              <a:spcAft>
                <a:spcPts val="0"/>
              </a:spcAft>
              <a:buNone/>
            </a:pPr>
            <a:r>
              <a:rPr lang="en"/>
              <a:t>      P(R) = 1/3;  P(T | R) = 1/2,  P(T | Rᶜ) = 1/4</a:t>
            </a:r>
            <a:endParaRPr/>
          </a:p>
          <a:p>
            <a:pPr indent="0" lvl="0" marL="0" rtl="0" algn="l">
              <a:spcBef>
                <a:spcPts val="750"/>
              </a:spcBef>
              <a:spcAft>
                <a:spcPts val="0"/>
              </a:spcAft>
              <a:buNone/>
            </a:pPr>
            <a:r>
              <a:rPr lang="en"/>
              <a:t>      P(L | R T) = 1/2,  P(L | Rᶜ Tᶜ) = 1/8,  and 1/4 otherwise</a:t>
            </a:r>
            <a:endParaRPr/>
          </a:p>
          <a:p>
            <a:pPr indent="0" lvl="0" marL="0" rtl="0" algn="l">
              <a:spcBef>
                <a:spcPts val="750"/>
              </a:spcBef>
              <a:spcAft>
                <a:spcPts val="0"/>
              </a:spcAft>
              <a:buNone/>
            </a:pPr>
            <a:r>
              <a:rPr lang="en"/>
              <a:t>(b) What is the probability the cat is late?</a:t>
            </a:r>
            <a:endParaRPr/>
          </a:p>
          <a:p>
            <a:pPr indent="0" lvl="0" marL="0" rtl="0" algn="l">
              <a:spcBef>
                <a:spcPts val="750"/>
              </a:spcBef>
              <a:spcAft>
                <a:spcPts val="0"/>
              </a:spcAft>
              <a:buNone/>
            </a:pPr>
            <a:r>
              <a:rPr lang="en"/>
              <a:t>(c) The manager knows the cat was late today. What is the probability it rained?</a:t>
            </a:r>
            <a:endParaRPr/>
          </a:p>
        </p:txBody>
      </p:sp>
      <p:sp>
        <p:nvSpPr>
          <p:cNvPr id="964" name="Google Shape;964;p141"/>
          <p:cNvSpPr/>
          <p:nvPr/>
        </p:nvSpPr>
        <p:spPr>
          <a:xfrm>
            <a:off x="7696200" y="101600"/>
            <a:ext cx="1219200" cy="279300"/>
          </a:xfrm>
          <a:prstGeom prst="roundRect">
            <a:avLst>
              <a:gd fmla="val 16667" name="adj"/>
            </a:avLst>
          </a:prstGeom>
          <a:solidFill>
            <a:srgbClr val="8C1515"/>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PRACTICE</a:t>
            </a:r>
            <a:endParaRPr b="1" sz="1100">
              <a:solidFill>
                <a:srgbClr val="FFFFFF"/>
              </a:solidFill>
              <a:latin typeface="Calibri"/>
              <a:ea typeface="Calibri"/>
              <a:cs typeface="Calibri"/>
              <a:sym typeface="Calibri"/>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142"/>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LOTP 2: Solution (1/2)</a:t>
            </a:r>
            <a:endParaRPr/>
          </a:p>
        </p:txBody>
      </p:sp>
      <p:sp>
        <p:nvSpPr>
          <p:cNvPr id="970" name="Google Shape;970;p142"/>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(b) Partition on the 4 (rain, traffic) cases. Chain rule on each branch:</a:t>
            </a:r>
            <a:endParaRPr sz="1800"/>
          </a:p>
          <a:p>
            <a:pPr indent="0" lvl="0" marL="0" rtl="0" algn="l">
              <a:spcBef>
                <a:spcPts val="750"/>
              </a:spcBef>
              <a:spcAft>
                <a:spcPts val="0"/>
              </a:spcAft>
              <a:buNone/>
            </a:pPr>
            <a:r>
              <a:rPr lang="en" sz="1800"/>
              <a:t>      R T:    (1/3)(1/2) = 1/6  →  late: (1/6)(1/2) = 1/12</a:t>
            </a:r>
            <a:endParaRPr sz="1800"/>
          </a:p>
          <a:p>
            <a:pPr indent="0" lvl="0" marL="0" rtl="0" algn="l">
              <a:spcBef>
                <a:spcPts val="750"/>
              </a:spcBef>
              <a:spcAft>
                <a:spcPts val="0"/>
              </a:spcAft>
              <a:buNone/>
            </a:pPr>
            <a:r>
              <a:rPr lang="en" sz="1800"/>
              <a:t>      R Tᶜ:   (1/3)(1/2) = 1/6  →  late: (1/6)(1/4) = 1/24</a:t>
            </a:r>
            <a:endParaRPr sz="1800"/>
          </a:p>
          <a:p>
            <a:pPr indent="0" lvl="0" marL="0" rtl="0" algn="l">
              <a:spcBef>
                <a:spcPts val="750"/>
              </a:spcBef>
              <a:spcAft>
                <a:spcPts val="0"/>
              </a:spcAft>
              <a:buNone/>
            </a:pPr>
            <a:r>
              <a:rPr lang="en" sz="1800"/>
              <a:t>      Rᶜ T:   (2/3)(1/4) = 1/6  →  late: (1/6)(1/4) = 1/24</a:t>
            </a:r>
            <a:endParaRPr sz="1800"/>
          </a:p>
          <a:p>
            <a:pPr indent="0" lvl="0" marL="0" rtl="0" algn="l">
              <a:spcBef>
                <a:spcPts val="750"/>
              </a:spcBef>
              <a:spcAft>
                <a:spcPts val="0"/>
              </a:spcAft>
              <a:buNone/>
            </a:pPr>
            <a:r>
              <a:rPr lang="en" sz="1800"/>
              <a:t>      Rᶜ Tᶜ:  (2/3)(3/4) = 1/2  →  late: (1/2)(1/8) = 1/16</a:t>
            </a:r>
            <a:endParaRPr sz="1800"/>
          </a:p>
          <a:p>
            <a:pPr indent="0" lvl="0" marL="0" rtl="0" algn="l">
              <a:spcBef>
                <a:spcPts val="750"/>
              </a:spcBef>
              <a:spcAft>
                <a:spcPts val="0"/>
              </a:spcAft>
              <a:buNone/>
            </a:pPr>
            <a:r>
              <a:rPr lang="en" sz="1800"/>
              <a:t>      LOTP: P(L) = 1/12 + 1/24 + 1/24 + 1/16 = 11/48 ≈ 0.229</a:t>
            </a:r>
            <a:endParaRPr sz="1800"/>
          </a:p>
        </p:txBody>
      </p:sp>
      <p:sp>
        <p:nvSpPr>
          <p:cNvPr id="971" name="Google Shape;971;p142"/>
          <p:cNvSpPr/>
          <p:nvPr/>
        </p:nvSpPr>
        <p:spPr>
          <a:xfrm>
            <a:off x="7696200" y="101600"/>
            <a:ext cx="1219200" cy="279300"/>
          </a:xfrm>
          <a:prstGeom prst="roundRect">
            <a:avLst>
              <a:gd fmla="val 16667" name="adj"/>
            </a:avLst>
          </a:prstGeom>
          <a:solidFill>
            <a:srgbClr val="175E54"/>
          </a:solidFill>
          <a:ln cap="flat" cmpd="sng" w="9525">
            <a:solidFill>
              <a:srgbClr val="175E5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SOLUTION</a:t>
            </a:r>
            <a:endParaRPr b="1" sz="1100">
              <a:solidFill>
                <a:srgbClr val="FFFFFF"/>
              </a:solidFill>
              <a:latin typeface="Calibri"/>
              <a:ea typeface="Calibri"/>
              <a:cs typeface="Calibri"/>
              <a:sym typeface="Calibri"/>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p143"/>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LOTP 2: Solution (2/2)</a:t>
            </a:r>
            <a:endParaRPr/>
          </a:p>
        </p:txBody>
      </p:sp>
      <p:sp>
        <p:nvSpPr>
          <p:cNvPr id="977" name="Google Shape;977;p143"/>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(c) Bayes: P(R | L) = P(R L) / P(L)</a:t>
            </a:r>
            <a:endParaRPr sz="1800"/>
          </a:p>
          <a:p>
            <a:pPr indent="0" lvl="0" marL="0" rtl="0" algn="l">
              <a:spcBef>
                <a:spcPts val="750"/>
              </a:spcBef>
              <a:spcAft>
                <a:spcPts val="0"/>
              </a:spcAft>
              <a:buNone/>
            </a:pPr>
            <a:r>
              <a:rPr lang="en" sz="1800"/>
              <a:t>      P(R L) = the two rainy branches = 1/12 + 1/24 = 1/8</a:t>
            </a:r>
            <a:endParaRPr sz="1800"/>
          </a:p>
          <a:p>
            <a:pPr indent="0" lvl="0" marL="0" rtl="0" algn="l">
              <a:spcBef>
                <a:spcPts val="750"/>
              </a:spcBef>
              <a:spcAft>
                <a:spcPts val="0"/>
              </a:spcAft>
              <a:buNone/>
            </a:pPr>
            <a:r>
              <a:rPr lang="en" sz="1800"/>
              <a:t>      P(R | L) = (1/8) / (11/48) = 6/11 ≈ 0.545</a:t>
            </a:r>
            <a:endParaRPr sz="1800"/>
          </a:p>
          <a:p>
            <a:pPr indent="0" lvl="0" marL="0" rtl="0" algn="l">
              <a:spcBef>
                <a:spcPts val="750"/>
              </a:spcBef>
              <a:spcAft>
                <a:spcPts val="0"/>
              </a:spcAft>
              <a:buNone/>
            </a:pPr>
            <a:r>
              <a:rPr lang="en" sz="1800"/>
              <a:t>Prior 1/3 → posterior 6/11: a late cat is evidence of rain</a:t>
            </a:r>
            <a:endParaRPr sz="1800"/>
          </a:p>
          <a:p>
            <a:pPr indent="0" lvl="0" marL="0" rtl="0" algn="l">
              <a:spcBef>
                <a:spcPts val="750"/>
              </a:spcBef>
              <a:spcAft>
                <a:spcPts val="0"/>
              </a:spcAft>
              <a:buNone/>
            </a:pPr>
            <a:r>
              <a:rPr lang="en" sz="1800"/>
              <a:t>Sanity check: the answer is between 0 and 1, and it went up, as expected</a:t>
            </a:r>
            <a:endParaRPr sz="1800"/>
          </a:p>
        </p:txBody>
      </p:sp>
      <p:sp>
        <p:nvSpPr>
          <p:cNvPr id="978" name="Google Shape;978;p143"/>
          <p:cNvSpPr/>
          <p:nvPr/>
        </p:nvSpPr>
        <p:spPr>
          <a:xfrm>
            <a:off x="7696200" y="101600"/>
            <a:ext cx="1219200" cy="279300"/>
          </a:xfrm>
          <a:prstGeom prst="roundRect">
            <a:avLst>
              <a:gd fmla="val 16667" name="adj"/>
            </a:avLst>
          </a:prstGeom>
          <a:solidFill>
            <a:srgbClr val="175E54"/>
          </a:solidFill>
          <a:ln cap="flat" cmpd="sng" w="9525">
            <a:solidFill>
              <a:srgbClr val="175E5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SOLUTION</a:t>
            </a:r>
            <a:endParaRPr b="1" sz="1100">
              <a:solidFill>
                <a:srgbClr val="FFFFFF"/>
              </a:solidFill>
              <a:latin typeface="Calibri"/>
              <a:ea typeface="Calibri"/>
              <a:cs typeface="Calibri"/>
              <a:sym typeface="Calibri"/>
            </a:endParaRPr>
          </a:p>
        </p:txBody>
      </p:sp>
      <p:sp>
        <p:nvSpPr>
          <p:cNvPr id="979" name="Google Shape;979;p143"/>
          <p:cNvSpPr/>
          <p:nvPr/>
        </p:nvSpPr>
        <p:spPr>
          <a:xfrm>
            <a:off x="508000" y="4089400"/>
            <a:ext cx="8127900" cy="482700"/>
          </a:xfrm>
          <a:prstGeom prst="roundRect">
            <a:avLst>
              <a:gd fmla="val 16667" name="adj"/>
            </a:avLst>
          </a:prstGeom>
          <a:solidFill>
            <a:srgbClr val="FFFFFF"/>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8C1515"/>
                </a:solidFill>
                <a:latin typeface="Calibri"/>
                <a:ea typeface="Calibri"/>
                <a:cs typeface="Calibri"/>
                <a:sym typeface="Calibri"/>
              </a:rPr>
              <a:t>Answers:  (b) P(L) = 11/48 ≈ 0.229     (c) P(R | L) = 6/11 ≈ 0.545</a:t>
            </a:r>
            <a:endParaRPr b="1" sz="1600">
              <a:solidFill>
                <a:srgbClr val="8C1515"/>
              </a:solidFill>
              <a:latin typeface="Calibri"/>
              <a:ea typeface="Calibri"/>
              <a:cs typeface="Calibri"/>
              <a:sym typeface="Calibri"/>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144"/>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Bayes 1: SARS Test</a:t>
            </a:r>
            <a:endParaRPr/>
          </a:p>
        </p:txBody>
      </p:sp>
      <p:sp>
        <p:nvSpPr>
          <p:cNvPr id="985" name="Google Shape;985;p144"/>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a:t>A test detects SARS 98% of the time when a person has it. It has a 1% false-positive rate. 0.5% of the population has SARS.</a:t>
            </a:r>
            <a:endParaRPr/>
          </a:p>
          <a:p>
            <a:pPr indent="0" lvl="0" marL="0" rtl="0" algn="l">
              <a:spcBef>
                <a:spcPts val="750"/>
              </a:spcBef>
              <a:spcAft>
                <a:spcPts val="0"/>
              </a:spcAft>
              <a:buNone/>
            </a:pPr>
            <a:r>
              <a:rPr lang="en"/>
              <a:t>(a) You test positive. What is P(SARS | positive)?</a:t>
            </a:r>
            <a:endParaRPr/>
          </a:p>
          <a:p>
            <a:pPr indent="0" lvl="0" marL="0" rtl="0" algn="l">
              <a:spcBef>
                <a:spcPts val="750"/>
              </a:spcBef>
              <a:spcAft>
                <a:spcPts val="0"/>
              </a:spcAft>
              <a:buNone/>
            </a:pPr>
            <a:r>
              <a:rPr lang="en"/>
              <a:t>(b) You test negative. What is P(SARS | negative)?</a:t>
            </a:r>
            <a:endParaRPr/>
          </a:p>
        </p:txBody>
      </p:sp>
      <p:sp>
        <p:nvSpPr>
          <p:cNvPr id="986" name="Google Shape;986;p144"/>
          <p:cNvSpPr/>
          <p:nvPr/>
        </p:nvSpPr>
        <p:spPr>
          <a:xfrm>
            <a:off x="7696200" y="101600"/>
            <a:ext cx="1219200" cy="279300"/>
          </a:xfrm>
          <a:prstGeom prst="roundRect">
            <a:avLst>
              <a:gd fmla="val 16667" name="adj"/>
            </a:avLst>
          </a:prstGeom>
          <a:solidFill>
            <a:srgbClr val="8C1515"/>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PRACTICE</a:t>
            </a:r>
            <a:endParaRPr b="1" sz="1100">
              <a:solidFill>
                <a:srgbClr val="FFFFFF"/>
              </a:solidFill>
              <a:latin typeface="Calibri"/>
              <a:ea typeface="Calibri"/>
              <a:cs typeface="Calibri"/>
              <a:sym typeface="Calibri"/>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p145"/>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Bayes 1: Solution (1/2)</a:t>
            </a:r>
            <a:endParaRPr/>
          </a:p>
        </p:txBody>
      </p:sp>
      <p:sp>
        <p:nvSpPr>
          <p:cNvPr id="992" name="Google Shape;992;p145"/>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F = has SARS, E = tests positive. Prior: P(F) = 0.005</a:t>
            </a:r>
            <a:endParaRPr sz="1800"/>
          </a:p>
          <a:p>
            <a:pPr indent="0" lvl="0" marL="0" rtl="0" algn="l">
              <a:spcBef>
                <a:spcPts val="750"/>
              </a:spcBef>
              <a:spcAft>
                <a:spcPts val="0"/>
              </a:spcAft>
              <a:buNone/>
            </a:pPr>
            <a:r>
              <a:rPr lang="en" sz="1800"/>
              <a:t>Likelihoods: P(E | F) = 0.98,  P(E | Fᶜ) = 0.01</a:t>
            </a:r>
            <a:endParaRPr sz="1800"/>
          </a:p>
          <a:p>
            <a:pPr indent="0" lvl="0" marL="0" rtl="0" algn="l">
              <a:spcBef>
                <a:spcPts val="750"/>
              </a:spcBef>
              <a:spcAft>
                <a:spcPts val="0"/>
              </a:spcAft>
              <a:buNone/>
            </a:pPr>
            <a:r>
              <a:rPr lang="en" sz="1800"/>
              <a:t>LOTP: P(E) = (0.98)(0.005) + (0.01)(0.995) = 0.0049 + 0.00995 = 0.01485</a:t>
            </a:r>
            <a:endParaRPr sz="1800"/>
          </a:p>
          <a:p>
            <a:pPr indent="0" lvl="0" marL="0" rtl="0" algn="l">
              <a:spcBef>
                <a:spcPts val="750"/>
              </a:spcBef>
              <a:spcAft>
                <a:spcPts val="0"/>
              </a:spcAft>
              <a:buNone/>
            </a:pPr>
            <a:r>
              <a:rPr lang="en" sz="1800"/>
              <a:t>(a) P(F | E) = 0.0049 / 0.01485 ≈ 0.330</a:t>
            </a:r>
            <a:endParaRPr sz="1800"/>
          </a:p>
          <a:p>
            <a:pPr indent="0" lvl="0" marL="0" rtl="0" algn="l">
              <a:spcBef>
                <a:spcPts val="750"/>
              </a:spcBef>
              <a:spcAft>
                <a:spcPts val="0"/>
              </a:spcAft>
              <a:buNone/>
            </a:pPr>
            <a:r>
              <a:rPr lang="en" sz="1800"/>
              <a:t>With 1000 people: about 5 have SARS and test positive, and about 10 healthy people test positive → about 5 / 15 ≈ 1/3</a:t>
            </a:r>
            <a:endParaRPr sz="1800"/>
          </a:p>
        </p:txBody>
      </p:sp>
      <p:sp>
        <p:nvSpPr>
          <p:cNvPr id="993" name="Google Shape;993;p145"/>
          <p:cNvSpPr/>
          <p:nvPr/>
        </p:nvSpPr>
        <p:spPr>
          <a:xfrm>
            <a:off x="7696200" y="101600"/>
            <a:ext cx="1219200" cy="279300"/>
          </a:xfrm>
          <a:prstGeom prst="roundRect">
            <a:avLst>
              <a:gd fmla="val 16667" name="adj"/>
            </a:avLst>
          </a:prstGeom>
          <a:solidFill>
            <a:srgbClr val="175E54"/>
          </a:solidFill>
          <a:ln cap="flat" cmpd="sng" w="9525">
            <a:solidFill>
              <a:srgbClr val="175E5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SOLUTION</a:t>
            </a:r>
            <a:endParaRPr b="1" sz="1100">
              <a:solidFill>
                <a:srgbClr val="FFFFFF"/>
              </a:solidFill>
              <a:latin typeface="Calibri"/>
              <a:ea typeface="Calibri"/>
              <a:cs typeface="Calibri"/>
              <a:sym typeface="Calibri"/>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p146"/>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Bayes 1: Solution (2/2)</a:t>
            </a:r>
            <a:endParaRPr/>
          </a:p>
        </p:txBody>
      </p:sp>
      <p:sp>
        <p:nvSpPr>
          <p:cNvPr id="999" name="Google Shape;999;p146"/>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(b) Now the evidence is Eᶜ: P(Eᶜ | F) = 0.02,  P(Eᶜ | Fᶜ) = 0.99</a:t>
            </a:r>
            <a:endParaRPr sz="1800"/>
          </a:p>
          <a:p>
            <a:pPr indent="0" lvl="0" marL="0" rtl="0" algn="l">
              <a:spcBef>
                <a:spcPts val="750"/>
              </a:spcBef>
              <a:spcAft>
                <a:spcPts val="0"/>
              </a:spcAft>
              <a:buNone/>
            </a:pPr>
            <a:r>
              <a:rPr lang="en" sz="1800"/>
              <a:t>      P(Eᶜ) = (0.02)(0.005) + (0.99)(0.995) = 0.0001 + 0.98505 = 0.98515</a:t>
            </a:r>
            <a:endParaRPr sz="1800"/>
          </a:p>
          <a:p>
            <a:pPr indent="0" lvl="0" marL="0" rtl="0" algn="l">
              <a:spcBef>
                <a:spcPts val="750"/>
              </a:spcBef>
              <a:spcAft>
                <a:spcPts val="0"/>
              </a:spcAft>
              <a:buNone/>
            </a:pPr>
            <a:r>
              <a:rPr lang="en" sz="1800"/>
              <a:t>      P(F | Eᶜ) = 0.0001 / 0.98515 ≈ 0.0001</a:t>
            </a:r>
            <a:endParaRPr sz="1800"/>
          </a:p>
          <a:p>
            <a:pPr indent="0" lvl="0" marL="0" rtl="0" algn="l">
              <a:spcBef>
                <a:spcPts val="750"/>
              </a:spcBef>
              <a:spcAft>
                <a:spcPts val="0"/>
              </a:spcAft>
              <a:buNone/>
            </a:pPr>
            <a:r>
              <a:rPr lang="en" sz="1800"/>
              <a:t>A positive test raises the risk about 66× (0.5% → 33%)</a:t>
            </a:r>
            <a:endParaRPr sz="1800"/>
          </a:p>
          <a:p>
            <a:pPr indent="0" lvl="0" marL="0" rtl="0" algn="l">
              <a:spcBef>
                <a:spcPts val="750"/>
              </a:spcBef>
              <a:spcAft>
                <a:spcPts val="0"/>
              </a:spcAft>
              <a:buNone/>
            </a:pPr>
            <a:r>
              <a:rPr lang="en" sz="1800"/>
              <a:t>A negative test nearly rules SARS out</a:t>
            </a:r>
            <a:endParaRPr sz="1800"/>
          </a:p>
          <a:p>
            <a:pPr indent="0" lvl="0" marL="0" rtl="0" algn="l">
              <a:spcBef>
                <a:spcPts val="750"/>
              </a:spcBef>
              <a:spcAft>
                <a:spcPts val="0"/>
              </a:spcAft>
              <a:buNone/>
            </a:pPr>
            <a:r>
              <a:rPr lang="en" sz="1800"/>
              <a:t>Base rates matter!</a:t>
            </a:r>
            <a:endParaRPr sz="1800"/>
          </a:p>
        </p:txBody>
      </p:sp>
      <p:sp>
        <p:nvSpPr>
          <p:cNvPr id="1000" name="Google Shape;1000;p146"/>
          <p:cNvSpPr/>
          <p:nvPr/>
        </p:nvSpPr>
        <p:spPr>
          <a:xfrm>
            <a:off x="7696200" y="101600"/>
            <a:ext cx="1219200" cy="279300"/>
          </a:xfrm>
          <a:prstGeom prst="roundRect">
            <a:avLst>
              <a:gd fmla="val 16667" name="adj"/>
            </a:avLst>
          </a:prstGeom>
          <a:solidFill>
            <a:srgbClr val="175E54"/>
          </a:solidFill>
          <a:ln cap="flat" cmpd="sng" w="9525">
            <a:solidFill>
              <a:srgbClr val="175E5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SOLUTION</a:t>
            </a:r>
            <a:endParaRPr b="1" sz="1100">
              <a:solidFill>
                <a:srgbClr val="FFFFFF"/>
              </a:solidFill>
              <a:latin typeface="Calibri"/>
              <a:ea typeface="Calibri"/>
              <a:cs typeface="Calibri"/>
              <a:sym typeface="Calibri"/>
            </a:endParaRPr>
          </a:p>
        </p:txBody>
      </p:sp>
      <p:sp>
        <p:nvSpPr>
          <p:cNvPr id="1001" name="Google Shape;1001;p146"/>
          <p:cNvSpPr/>
          <p:nvPr/>
        </p:nvSpPr>
        <p:spPr>
          <a:xfrm>
            <a:off x="508000" y="4089400"/>
            <a:ext cx="8127900" cy="482700"/>
          </a:xfrm>
          <a:prstGeom prst="roundRect">
            <a:avLst>
              <a:gd fmla="val 16667" name="adj"/>
            </a:avLst>
          </a:prstGeom>
          <a:solidFill>
            <a:srgbClr val="FFFFFF"/>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8C1515"/>
                </a:solidFill>
                <a:latin typeface="Calibri"/>
                <a:ea typeface="Calibri"/>
                <a:cs typeface="Calibri"/>
                <a:sym typeface="Calibri"/>
              </a:rPr>
              <a:t>Answers:  (a) P(SARS | +) ≈ 0.33     (b) P(SARS | −) ≈ 0.0001</a:t>
            </a:r>
            <a:endParaRPr b="1" sz="1600">
              <a:solidFill>
                <a:srgbClr val="8C1515"/>
              </a:solidFill>
              <a:latin typeface="Calibri"/>
              <a:ea typeface="Calibri"/>
              <a:cs typeface="Calibri"/>
              <a:sym typeface="Calibri"/>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p147"/>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Bayes 2: Algorithmic Fairness</a:t>
            </a:r>
            <a:endParaRPr/>
          </a:p>
        </p:txBody>
      </p:sp>
      <p:sp>
        <p:nvSpPr>
          <p:cNvPr id="1007" name="Google Shape;1007;p147"/>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a:t>A protected demographic D makes up 10% of the population. Within D, 5% have a health condition (H). Outside D, only 1% do.</a:t>
            </a:r>
            <a:endParaRPr/>
          </a:p>
          <a:p>
            <a:pPr indent="0" lvl="0" marL="0" rtl="0" algn="l">
              <a:spcBef>
                <a:spcPts val="750"/>
              </a:spcBef>
              <a:spcAft>
                <a:spcPts val="0"/>
              </a:spcAft>
              <a:buNone/>
            </a:pPr>
            <a:r>
              <a:rPr lang="en"/>
              <a:t>(a) What is P(H | D)?</a:t>
            </a:r>
            <a:endParaRPr/>
          </a:p>
          <a:p>
            <a:pPr indent="0" lvl="0" marL="0" rtl="0" algn="l">
              <a:spcBef>
                <a:spcPts val="750"/>
              </a:spcBef>
              <a:spcAft>
                <a:spcPts val="0"/>
              </a:spcAft>
              <a:buNone/>
            </a:pPr>
            <a:r>
              <a:rPr lang="en"/>
              <a:t>(b) What is P(D | H)?</a:t>
            </a:r>
            <a:endParaRPr/>
          </a:p>
          <a:p>
            <a:pPr indent="0" lvl="0" marL="0" rtl="0" algn="l">
              <a:spcBef>
                <a:spcPts val="750"/>
              </a:spcBef>
              <a:spcAft>
                <a:spcPts val="0"/>
              </a:spcAft>
              <a:buNone/>
            </a:pPr>
            <a:r>
              <a:rPr lang="en"/>
              <a:t>(c) A naive model always predicts “no condition.” How often is it correct on a representative sample?</a:t>
            </a:r>
            <a:endParaRPr/>
          </a:p>
        </p:txBody>
      </p:sp>
      <p:sp>
        <p:nvSpPr>
          <p:cNvPr id="1008" name="Google Shape;1008;p147"/>
          <p:cNvSpPr/>
          <p:nvPr/>
        </p:nvSpPr>
        <p:spPr>
          <a:xfrm>
            <a:off x="7696200" y="101600"/>
            <a:ext cx="1219200" cy="279300"/>
          </a:xfrm>
          <a:prstGeom prst="roundRect">
            <a:avLst>
              <a:gd fmla="val 16667" name="adj"/>
            </a:avLst>
          </a:prstGeom>
          <a:solidFill>
            <a:srgbClr val="8C1515"/>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PRACTICE</a:t>
            </a:r>
            <a:endParaRPr b="1" sz="1100">
              <a:solidFill>
                <a:srgbClr val="FFFFFF"/>
              </a:solidFill>
              <a:latin typeface="Calibri"/>
              <a:ea typeface="Calibri"/>
              <a:cs typeface="Calibri"/>
              <a:sym typeface="Calibri"/>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p148"/>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Bayes 2: Solution (1/2)</a:t>
            </a:r>
            <a:endParaRPr/>
          </a:p>
        </p:txBody>
      </p:sp>
      <p:sp>
        <p:nvSpPr>
          <p:cNvPr id="1014" name="Google Shape;1014;p148"/>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(a) Given directly: P(H | D) = 0.05</a:t>
            </a:r>
            <a:endParaRPr sz="1800"/>
          </a:p>
          <a:p>
            <a:pPr indent="0" lvl="0" marL="0" rtl="0" algn="l">
              <a:spcBef>
                <a:spcPts val="750"/>
              </a:spcBef>
              <a:spcAft>
                <a:spcPts val="0"/>
              </a:spcAft>
              <a:buNone/>
            </a:pPr>
            <a:r>
              <a:rPr lang="en" sz="1800"/>
              <a:t>(b) Bayes: P(D | H) = P(H | D) P(D) / P(H)</a:t>
            </a:r>
            <a:endParaRPr sz="1800"/>
          </a:p>
          <a:p>
            <a:pPr indent="0" lvl="0" marL="0" rtl="0" algn="l">
              <a:spcBef>
                <a:spcPts val="750"/>
              </a:spcBef>
              <a:spcAft>
                <a:spcPts val="0"/>
              </a:spcAft>
              <a:buNone/>
            </a:pPr>
            <a:r>
              <a:rPr lang="en" sz="1800"/>
              <a:t>      LOTP: P(H) = (0.05)(0.10) + (0.01)(0.90) = 0.005 + 0.009 = 0.014</a:t>
            </a:r>
            <a:endParaRPr sz="1800"/>
          </a:p>
          <a:p>
            <a:pPr indent="0" lvl="0" marL="0" rtl="0" algn="l">
              <a:spcBef>
                <a:spcPts val="750"/>
              </a:spcBef>
              <a:spcAft>
                <a:spcPts val="0"/>
              </a:spcAft>
              <a:buNone/>
            </a:pPr>
            <a:r>
              <a:rPr lang="en" sz="1800"/>
              <a:t>      P(D | H) = 0.005 / 0.014 = 5/14 ≈ 0.357</a:t>
            </a:r>
            <a:endParaRPr sz="1800"/>
          </a:p>
          <a:p>
            <a:pPr indent="0" lvl="0" marL="0" rtl="0" algn="l">
              <a:spcBef>
                <a:spcPts val="750"/>
              </a:spcBef>
              <a:spcAft>
                <a:spcPts val="0"/>
              </a:spcAft>
              <a:buNone/>
            </a:pPr>
            <a:r>
              <a:rPr lang="en" sz="1800"/>
              <a:t>Check with 10,000 people: 50 in D have H; 90 outside D have H</a:t>
            </a:r>
            <a:endParaRPr sz="1800"/>
          </a:p>
          <a:p>
            <a:pPr indent="0" lvl="0" marL="0" rtl="0" algn="l">
              <a:spcBef>
                <a:spcPts val="750"/>
              </a:spcBef>
              <a:spcAft>
                <a:spcPts val="0"/>
              </a:spcAft>
              <a:buNone/>
            </a:pPr>
            <a:r>
              <a:rPr lang="en" sz="1800"/>
              <a:t>      P(D | H) = 50 / (50 + 90) = 5/14 ✓</a:t>
            </a:r>
            <a:endParaRPr sz="1800"/>
          </a:p>
        </p:txBody>
      </p:sp>
      <p:sp>
        <p:nvSpPr>
          <p:cNvPr id="1015" name="Google Shape;1015;p148"/>
          <p:cNvSpPr/>
          <p:nvPr/>
        </p:nvSpPr>
        <p:spPr>
          <a:xfrm>
            <a:off x="7696200" y="101600"/>
            <a:ext cx="1219200" cy="279300"/>
          </a:xfrm>
          <a:prstGeom prst="roundRect">
            <a:avLst>
              <a:gd fmla="val 16667" name="adj"/>
            </a:avLst>
          </a:prstGeom>
          <a:solidFill>
            <a:srgbClr val="175E54"/>
          </a:solidFill>
          <a:ln cap="flat" cmpd="sng" w="9525">
            <a:solidFill>
              <a:srgbClr val="175E5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SOLUTION</a:t>
            </a:r>
            <a:endParaRPr b="1" sz="1100">
              <a:solidFill>
                <a:srgbClr val="FFFFFF"/>
              </a:solidFill>
              <a:latin typeface="Calibri"/>
              <a:ea typeface="Calibri"/>
              <a:cs typeface="Calibri"/>
              <a:sym typeface="Calibri"/>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p149"/>
          <p:cNvSpPr txBox="1"/>
          <p:nvPr>
            <p:ph type="title"/>
          </p:nvPr>
        </p:nvSpPr>
        <p:spPr>
          <a:xfrm>
            <a:off x="320040" y="273844"/>
            <a:ext cx="8503800" cy="8235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
              <a:t>Bayes 2: Solution (2/2)</a:t>
            </a:r>
            <a:endParaRPr/>
          </a:p>
        </p:txBody>
      </p:sp>
      <p:sp>
        <p:nvSpPr>
          <p:cNvPr id="1021" name="Google Shape;1021;p149"/>
          <p:cNvSpPr txBox="1"/>
          <p:nvPr>
            <p:ph idx="1" type="body"/>
          </p:nvPr>
        </p:nvSpPr>
        <p:spPr>
          <a:xfrm>
            <a:off x="407965" y="1334745"/>
            <a:ext cx="8503800" cy="3432600"/>
          </a:xfrm>
          <a:prstGeom prst="rect">
            <a:avLst/>
          </a:prstGeom>
        </p:spPr>
        <p:txBody>
          <a:bodyPr anchorCtr="0" anchor="t" bIns="45700" lIns="0" spcFirstLastPara="1" rIns="0" wrap="square" tIns="45700">
            <a:noAutofit/>
          </a:bodyPr>
          <a:lstStyle/>
          <a:p>
            <a:pPr indent="0" lvl="0" marL="0" rtl="0" algn="l">
              <a:spcBef>
                <a:spcPts val="750"/>
              </a:spcBef>
              <a:spcAft>
                <a:spcPts val="0"/>
              </a:spcAft>
              <a:buNone/>
            </a:pPr>
            <a:r>
              <a:rPr lang="en" sz="1800"/>
              <a:t>(c) The model is right exactly when H = 0:</a:t>
            </a:r>
            <a:endParaRPr sz="1800"/>
          </a:p>
          <a:p>
            <a:pPr indent="0" lvl="0" marL="0" rtl="0" algn="l">
              <a:spcBef>
                <a:spcPts val="750"/>
              </a:spcBef>
              <a:spcAft>
                <a:spcPts val="0"/>
              </a:spcAft>
              <a:buNone/>
            </a:pPr>
            <a:r>
              <a:rPr lang="en" sz="1800"/>
              <a:t>      P(H = 0) = 1 − 0.014 = 0.986 → 98.6% accurate</a:t>
            </a:r>
            <a:endParaRPr sz="1800"/>
          </a:p>
          <a:p>
            <a:pPr indent="0" lvl="0" marL="0" rtl="0" algn="l">
              <a:spcBef>
                <a:spcPts val="750"/>
              </a:spcBef>
              <a:spcAft>
                <a:spcPts val="0"/>
              </a:spcAft>
              <a:buNone/>
            </a:pPr>
            <a:r>
              <a:rPr lang="en" sz="1800"/>
              <a:t>      …but it never helps a single person with the condition!</a:t>
            </a:r>
            <a:endParaRPr sz="1800"/>
          </a:p>
          <a:p>
            <a:pPr indent="0" lvl="0" marL="0" rtl="0" algn="l">
              <a:spcBef>
                <a:spcPts val="750"/>
              </a:spcBef>
              <a:spcAft>
                <a:spcPts val="0"/>
              </a:spcAft>
              <a:buNone/>
            </a:pPr>
            <a:r>
              <a:rPr lang="en" sz="1800"/>
              <a:t>Takeaway: accuracy alone can hide serious problems</a:t>
            </a:r>
            <a:endParaRPr sz="1800"/>
          </a:p>
          <a:p>
            <a:pPr indent="0" lvl="0" marL="0" rtl="0" algn="l">
              <a:spcBef>
                <a:spcPts val="750"/>
              </a:spcBef>
              <a:spcAft>
                <a:spcPts val="0"/>
              </a:spcAft>
              <a:buNone/>
            </a:pPr>
            <a:r>
              <a:rPr lang="en" sz="1800"/>
              <a:t>Note: P(H | D) = 0.05 but P(D | H) ≈ 0.36, so P(A | B) ≠ P(B | A)</a:t>
            </a:r>
            <a:endParaRPr sz="1800"/>
          </a:p>
        </p:txBody>
      </p:sp>
      <p:sp>
        <p:nvSpPr>
          <p:cNvPr id="1022" name="Google Shape;1022;p149"/>
          <p:cNvSpPr/>
          <p:nvPr/>
        </p:nvSpPr>
        <p:spPr>
          <a:xfrm>
            <a:off x="7696200" y="101600"/>
            <a:ext cx="1219200" cy="279300"/>
          </a:xfrm>
          <a:prstGeom prst="roundRect">
            <a:avLst>
              <a:gd fmla="val 16667" name="adj"/>
            </a:avLst>
          </a:prstGeom>
          <a:solidFill>
            <a:srgbClr val="175E54"/>
          </a:solidFill>
          <a:ln cap="flat" cmpd="sng" w="9525">
            <a:solidFill>
              <a:srgbClr val="175E5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SOLUTION</a:t>
            </a:r>
            <a:endParaRPr b="1" sz="1100">
              <a:solidFill>
                <a:srgbClr val="FFFFFF"/>
              </a:solidFill>
              <a:latin typeface="Calibri"/>
              <a:ea typeface="Calibri"/>
              <a:cs typeface="Calibri"/>
              <a:sym typeface="Calibri"/>
            </a:endParaRPr>
          </a:p>
        </p:txBody>
      </p:sp>
      <p:sp>
        <p:nvSpPr>
          <p:cNvPr id="1023" name="Google Shape;1023;p149"/>
          <p:cNvSpPr/>
          <p:nvPr/>
        </p:nvSpPr>
        <p:spPr>
          <a:xfrm>
            <a:off x="508000" y="4089400"/>
            <a:ext cx="8127900" cy="482700"/>
          </a:xfrm>
          <a:prstGeom prst="roundRect">
            <a:avLst>
              <a:gd fmla="val 16667" name="adj"/>
            </a:avLst>
          </a:prstGeom>
          <a:solidFill>
            <a:srgbClr val="FFFFFF"/>
          </a:solidFill>
          <a:ln cap="flat" cmpd="sng" w="9525">
            <a:solidFill>
              <a:srgbClr val="8C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8C1515"/>
                </a:solidFill>
                <a:latin typeface="Calibri"/>
                <a:ea typeface="Calibri"/>
                <a:cs typeface="Calibri"/>
                <a:sym typeface="Calibri"/>
              </a:rPr>
              <a:t>Answers:  (a) 0.05     (b) 5/14 ≈ 0.357     (c) 98.6% accurate</a:t>
            </a:r>
            <a:endParaRPr b="1" sz="1600">
              <a:solidFill>
                <a:srgbClr val="8C1515"/>
              </a:solidFill>
              <a:latin typeface="Calibri"/>
              <a:ea typeface="Calibri"/>
              <a:cs typeface="Calibri"/>
              <a:sym typeface="Calibri"/>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p150"/>
          <p:cNvSpPr txBox="1"/>
          <p:nvPr>
            <p:ph type="title"/>
          </p:nvPr>
        </p:nvSpPr>
        <p:spPr>
          <a:xfrm>
            <a:off x="320040" y="273844"/>
            <a:ext cx="8503800" cy="8235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
              <a:t>For Next Time</a:t>
            </a:r>
            <a:endParaRPr/>
          </a:p>
        </p:txBody>
      </p:sp>
      <p:sp>
        <p:nvSpPr>
          <p:cNvPr id="1029" name="Google Shape;1029;p150"/>
          <p:cNvSpPr txBox="1"/>
          <p:nvPr>
            <p:ph idx="1" type="body"/>
          </p:nvPr>
        </p:nvSpPr>
        <p:spPr>
          <a:xfrm>
            <a:off x="407965" y="1334745"/>
            <a:ext cx="8503800" cy="3432600"/>
          </a:xfrm>
          <a:prstGeom prst="rect">
            <a:avLst/>
          </a:prstGeom>
        </p:spPr>
        <p:txBody>
          <a:bodyPr anchorCtr="0" anchor="t" bIns="45700" lIns="0" spcFirstLastPara="1" rIns="0" wrap="square" tIns="45700">
            <a:normAutofit lnSpcReduction="10000"/>
          </a:bodyPr>
          <a:lstStyle/>
          <a:p>
            <a:pPr indent="0" lvl="0" marL="0" rtl="0" algn="l">
              <a:spcBef>
                <a:spcPts val="750"/>
              </a:spcBef>
              <a:spcAft>
                <a:spcPts val="0"/>
              </a:spcAft>
              <a:buNone/>
            </a:pPr>
            <a:r>
              <a:rPr b="1" lang="en"/>
              <a:t>FILL OUT FORM</a:t>
            </a:r>
            <a:endParaRPr b="1"/>
          </a:p>
          <a:p>
            <a:pPr indent="0" lvl="0" marL="0" rtl="0" algn="l">
              <a:spcBef>
                <a:spcPts val="750"/>
              </a:spcBef>
              <a:spcAft>
                <a:spcPts val="0"/>
              </a:spcAft>
              <a:buNone/>
            </a:pPr>
            <a:r>
              <a:t/>
            </a:r>
            <a:endParaRPr/>
          </a:p>
          <a:p>
            <a:pPr indent="0" lvl="0" marL="0" rtl="0" algn="l">
              <a:spcBef>
                <a:spcPts val="750"/>
              </a:spcBef>
              <a:spcAft>
                <a:spcPts val="0"/>
              </a:spcAft>
              <a:buNone/>
            </a:pPr>
            <a:r>
              <a:rPr lang="en"/>
              <a:t>Will post notes!</a:t>
            </a:r>
            <a:br>
              <a:rPr lang="en"/>
            </a:br>
            <a:endParaRPr/>
          </a:p>
          <a:p>
            <a:pPr indent="0" lvl="0" marL="0" rtl="0" algn="l">
              <a:spcBef>
                <a:spcPts val="750"/>
              </a:spcBef>
              <a:spcAft>
                <a:spcPts val="0"/>
              </a:spcAft>
              <a:buNone/>
            </a:pPr>
            <a:r>
              <a:rPr lang="en"/>
              <a:t>Can also </a:t>
            </a:r>
            <a:r>
              <a:rPr lang="en"/>
              <a:t>make summary notes from class if useful…</a:t>
            </a:r>
            <a:endParaRPr/>
          </a:p>
          <a:p>
            <a:pPr indent="0" lvl="0" marL="0" rtl="0" algn="l">
              <a:spcBef>
                <a:spcPts val="750"/>
              </a:spcBef>
              <a:spcAft>
                <a:spcPts val="0"/>
              </a:spcAft>
              <a:buNone/>
            </a:pPr>
            <a:r>
              <a:t/>
            </a:r>
            <a:endParaRPr/>
          </a:p>
          <a:p>
            <a:pPr indent="0" lvl="0" marL="0" rtl="0" algn="l">
              <a:spcBef>
                <a:spcPts val="750"/>
              </a:spcBef>
              <a:spcAft>
                <a:spcPts val="0"/>
              </a:spcAft>
              <a:buNone/>
            </a:pPr>
            <a:r>
              <a:rPr lang="en">
                <a:solidFill>
                  <a:schemeClr val="dk1"/>
                </a:solidFill>
              </a:rPr>
              <a:t>PSET 1 due Oct 5</a:t>
            </a:r>
            <a:endParaRPr>
              <a:solidFill>
                <a:schemeClr val="dk1"/>
              </a:solidFill>
            </a:endParaRPr>
          </a:p>
          <a:p>
            <a:pPr indent="0" lvl="0" marL="0" rtl="0" algn="l">
              <a:spcBef>
                <a:spcPts val="750"/>
              </a:spcBef>
              <a:spcAft>
                <a:spcPts val="0"/>
              </a:spcAft>
              <a:buNone/>
            </a:pPr>
            <a:r>
              <a:t/>
            </a:r>
            <a:endParaRPr>
              <a:solidFill>
                <a:schemeClr val="dk1"/>
              </a:solidFill>
            </a:endParaRPr>
          </a:p>
          <a:p>
            <a:pPr indent="0" lvl="0" marL="0" rtl="0" algn="l">
              <a:spcBef>
                <a:spcPts val="750"/>
              </a:spcBef>
              <a:spcAft>
                <a:spcPts val="0"/>
              </a:spcAft>
              <a:buNone/>
            </a:pPr>
            <a:r>
              <a:rPr b="1" lang="en">
                <a:solidFill>
                  <a:schemeClr val="dk1"/>
                </a:solidFill>
              </a:rPr>
              <a:t>Midterm review:</a:t>
            </a:r>
            <a:r>
              <a:rPr lang="en">
                <a:solidFill>
                  <a:schemeClr val="dk1"/>
                </a:solidFill>
              </a:rPr>
              <a:t> during class? Or additional time?</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tanford University">
  <a:themeElements>
    <a:clrScheme name="Stanford University">
      <a:dk1>
        <a:srgbClr val="8C1515"/>
      </a:dk1>
      <a:lt1>
        <a:srgbClr val="FFFFFF"/>
      </a:lt1>
      <a:dk2>
        <a:srgbClr val="2E2C28"/>
      </a:dk2>
      <a:lt2>
        <a:srgbClr val="E7E6E6"/>
      </a:lt2>
      <a:accent1>
        <a:srgbClr val="4198B5"/>
      </a:accent1>
      <a:accent2>
        <a:srgbClr val="FEC51D"/>
      </a:accent2>
      <a:accent3>
        <a:srgbClr val="610059"/>
      </a:accent3>
      <a:accent4>
        <a:srgbClr val="279989"/>
      </a:accent4>
      <a:accent5>
        <a:srgbClr val="E98300"/>
      </a:accent5>
      <a:accent6>
        <a:srgbClr val="175E54"/>
      </a:accent6>
      <a:hlink>
        <a:srgbClr val="007C92"/>
      </a:hlink>
      <a:folHlink>
        <a:srgbClr val="9696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